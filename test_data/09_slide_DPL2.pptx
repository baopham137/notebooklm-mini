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65"/>
  </p:notesMasterIdLst>
  <p:sldIdLst>
    <p:sldId id="256" r:id="rId2"/>
    <p:sldId id="324" r:id="rId3"/>
    <p:sldId id="257" r:id="rId4"/>
    <p:sldId id="258" r:id="rId5"/>
    <p:sldId id="299" r:id="rId6"/>
    <p:sldId id="259" r:id="rId7"/>
    <p:sldId id="260" r:id="rId8"/>
    <p:sldId id="261" r:id="rId9"/>
    <p:sldId id="262" r:id="rId10"/>
    <p:sldId id="263" r:id="rId11"/>
    <p:sldId id="264" r:id="rId12"/>
    <p:sldId id="301" r:id="rId13"/>
    <p:sldId id="320" r:id="rId14"/>
    <p:sldId id="266" r:id="rId15"/>
    <p:sldId id="265" r:id="rId16"/>
    <p:sldId id="267" r:id="rId17"/>
    <p:sldId id="300" r:id="rId18"/>
    <p:sldId id="322" r:id="rId19"/>
    <p:sldId id="268" r:id="rId20"/>
    <p:sldId id="269" r:id="rId21"/>
    <p:sldId id="302" r:id="rId22"/>
    <p:sldId id="270" r:id="rId23"/>
    <p:sldId id="323" r:id="rId24"/>
    <p:sldId id="271" r:id="rId25"/>
    <p:sldId id="272" r:id="rId26"/>
    <p:sldId id="303" r:id="rId27"/>
    <p:sldId id="273" r:id="rId28"/>
    <p:sldId id="304" r:id="rId29"/>
    <p:sldId id="274" r:id="rId30"/>
    <p:sldId id="305" r:id="rId31"/>
    <p:sldId id="275" r:id="rId32"/>
    <p:sldId id="276" r:id="rId33"/>
    <p:sldId id="277" r:id="rId34"/>
    <p:sldId id="278" r:id="rId35"/>
    <p:sldId id="279" r:id="rId36"/>
    <p:sldId id="306" r:id="rId37"/>
    <p:sldId id="327" r:id="rId38"/>
    <p:sldId id="281" r:id="rId39"/>
    <p:sldId id="307" r:id="rId40"/>
    <p:sldId id="308" r:id="rId41"/>
    <p:sldId id="283" r:id="rId42"/>
    <p:sldId id="284" r:id="rId43"/>
    <p:sldId id="285" r:id="rId44"/>
    <p:sldId id="287" r:id="rId45"/>
    <p:sldId id="309" r:id="rId46"/>
    <p:sldId id="310" r:id="rId47"/>
    <p:sldId id="289" r:id="rId48"/>
    <p:sldId id="328" r:id="rId49"/>
    <p:sldId id="312" r:id="rId50"/>
    <p:sldId id="311" r:id="rId51"/>
    <p:sldId id="313" r:id="rId52"/>
    <p:sldId id="314" r:id="rId53"/>
    <p:sldId id="292" r:id="rId54"/>
    <p:sldId id="316" r:id="rId55"/>
    <p:sldId id="293" r:id="rId56"/>
    <p:sldId id="317" r:id="rId57"/>
    <p:sldId id="294" r:id="rId58"/>
    <p:sldId id="315" r:id="rId59"/>
    <p:sldId id="295" r:id="rId60"/>
    <p:sldId id="296" r:id="rId61"/>
    <p:sldId id="297" r:id="rId62"/>
    <p:sldId id="298" r:id="rId63"/>
    <p:sldId id="325" r:id="rId64"/>
  </p:sldIdLst>
  <p:sldSz cx="12192000" cy="6858000"/>
  <p:notesSz cx="12192000" cy="6858000"/>
  <p:embeddedFontLst>
    <p:embeddedFont>
      <p:font typeface="Calibri" panose="020F0502020204030204" pitchFamily="34" charset="0"/>
      <p:regular r:id="rId66"/>
      <p:bold r:id="rId67"/>
      <p:italic r:id="rId68"/>
      <p:boldItalic r:id="rId69"/>
    </p:embeddedFont>
    <p:embeddedFont>
      <p:font typeface="Cambria Math" panose="02040503050406030204" pitchFamily="18" charset="0"/>
      <p:regular r:id="rId70"/>
    </p:embeddedFont>
    <p:embeddedFont>
      <p:font typeface="Century Schoolbook" panose="02040604050505020304" pitchFamily="18"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CE29B7-F3D0-6B66-CC4B-D622397628E9}" v="1" dt="2023-05-07T10:24:18.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446" autoAdjust="0"/>
  </p:normalViewPr>
  <p:slideViewPr>
    <p:cSldViewPr snapToGrid="0">
      <p:cViewPr varScale="1">
        <p:scale>
          <a:sx n="66" d="100"/>
          <a:sy n="66" d="100"/>
        </p:scale>
        <p:origin x="1224" y="4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1.fntdata"/><Relationship Id="rId74" Type="http://schemas.openxmlformats.org/officeDocument/2006/relationships/font" Target="fonts/font9.fntdata"/><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7.fntdata"/><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 Thi Thu Hong (FE FPTU DN)" userId="S::hongptt11@fe.edu.vn::4d36b424-e1a9-4834-b8a6-b266a7cdd1c0" providerId="AD" clId="Web-{CBCE29B7-F3D0-6B66-CC4B-D622397628E9}"/>
    <pc:docChg chg="modSld">
      <pc:chgData name="Phan Thi Thu Hong (FE FPTU DN)" userId="S::hongptt11@fe.edu.vn::4d36b424-e1a9-4834-b8a6-b266a7cdd1c0" providerId="AD" clId="Web-{CBCE29B7-F3D0-6B66-CC4B-D622397628E9}" dt="2023-05-07T10:24:18.244" v="0" actId="14100"/>
      <pc:docMkLst>
        <pc:docMk/>
      </pc:docMkLst>
      <pc:sldChg chg="modSp">
        <pc:chgData name="Phan Thi Thu Hong (FE FPTU DN)" userId="S::hongptt11@fe.edu.vn::4d36b424-e1a9-4834-b8a6-b266a7cdd1c0" providerId="AD" clId="Web-{CBCE29B7-F3D0-6B66-CC4B-D622397628E9}" dt="2023-05-07T10:24:18.244" v="0" actId="14100"/>
        <pc:sldMkLst>
          <pc:docMk/>
          <pc:sldMk cId="0" sldId="298"/>
        </pc:sldMkLst>
        <pc:picChg chg="mod">
          <ac:chgData name="Phan Thi Thu Hong (FE FPTU DN)" userId="S::hongptt11@fe.edu.vn::4d36b424-e1a9-4834-b8a6-b266a7cdd1c0" providerId="AD" clId="Web-{CBCE29B7-F3D0-6B66-CC4B-D622397628E9}" dt="2023-05-07T10:24:18.244" v="0" actId="14100"/>
          <ac:picMkLst>
            <pc:docMk/>
            <pc:sldMk cId="0" sldId="298"/>
            <ac:picMk id="44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1: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 name="Google Shape;46;p1:notes"/>
          <p:cNvSpPr txBox="1">
            <a:spLocks noGrp="1"/>
          </p:cNvSpPr>
          <p:nvPr>
            <p:ph type="sldNum" idx="12"/>
          </p:nvPr>
        </p:nvSpPr>
        <p:spPr>
          <a:xfrm>
            <a:off x="6905625" y="6513513"/>
            <a:ext cx="5283300" cy="344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1: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 name="Google Shape;46;p1:notes"/>
          <p:cNvSpPr txBox="1">
            <a:spLocks noGrp="1"/>
          </p:cNvSpPr>
          <p:nvPr>
            <p:ph type="sldNum" idx="12"/>
          </p:nvPr>
        </p:nvSpPr>
        <p:spPr>
          <a:xfrm>
            <a:off x="6905625" y="6513513"/>
            <a:ext cx="5283300" cy="344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extLst>
      <p:ext uri="{BB962C8B-B14F-4D97-AF65-F5344CB8AC3E}">
        <p14:creationId xmlns:p14="http://schemas.microsoft.com/office/powerpoint/2010/main" val="1433000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 name="Google Shape;53;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Binary classification is a type of machine learning problem where the goal is to classify input data into one of two categories or classes. In other words, the output of the algorithm is a binary decision, such as "yes" or "no", "true" or "false", or 1 or 0. The goal is to learn a model that can correctly classify new input data based on patterns or features extracted from the input data. An example of binary classification is to predict whether an email is spam or not spam, or to recognize whether an image contains a cat or not.</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Logistic regression is an algorithm used to solve </a:t>
            </a:r>
            <a:r>
              <a:rPr lang="en-US" sz="1200" dirty="0">
                <a:solidFill>
                  <a:schemeClr val="dk1"/>
                </a:solidFill>
                <a:ea typeface="Century Schoolbook"/>
                <a:cs typeface="Century Schoolbook"/>
                <a:sym typeface="Century Schoolbook"/>
              </a:rPr>
              <a:t>the binary classification problems</a:t>
            </a:r>
            <a:r>
              <a:rPr lang="en-US" sz="1200" b="0" i="0" u="none" strike="noStrike" cap="none" dirty="0">
                <a:solidFill>
                  <a:schemeClr val="dk1"/>
                </a:solidFill>
                <a:latin typeface="Calibri"/>
                <a:ea typeface="Century Schoolbook"/>
                <a:cs typeface="Century Schoolbook"/>
                <a:sym typeface="Century Schoolbook"/>
              </a:rPr>
              <a:t>. </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Consider example in the next slide.</a:t>
            </a:r>
          </a:p>
          <a:p>
            <a:pPr marL="0" lvl="0" indent="0" algn="l" rtl="0">
              <a:lnSpc>
                <a:spcPct val="100000"/>
              </a:lnSpc>
              <a:spcBef>
                <a:spcPts val="0"/>
              </a:spcBef>
              <a:spcAft>
                <a:spcPts val="0"/>
              </a:spcAft>
              <a:buSzPts val="1400"/>
              <a:buNone/>
            </a:pPr>
            <a:endParaRPr dirty="0"/>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7928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 name="Google Shape;75;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 name="Google Shape;83;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Gradient descent is an optimization algorithm used to minimize a cost function by iteratively adjusting the values of the parameters of a model. It is commonly used in machine learning to update the weights and biases of a neural network during training. </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 idea behind gradient descent is to calculate the gradient of the cost function with respect to each parameter, which gives us the direction and magnitude of the steepest ascent. We then take small steps in the opposite direction of the gradient to descend the cost function, towards a local minimum. The size of each step is determined by the learning rate, which is a </a:t>
            </a:r>
            <a:r>
              <a:rPr lang="en-US" sz="1200" b="0" i="0" u="none" strike="noStrike" cap="none" dirty="0" err="1">
                <a:solidFill>
                  <a:schemeClr val="dk1"/>
                </a:solidFill>
                <a:latin typeface="Calibri"/>
                <a:ea typeface="Century Schoolbook"/>
                <a:cs typeface="Century Schoolbook"/>
                <a:sym typeface="Century Schoolbook"/>
              </a:rPr>
              <a:t>hyperparameter</a:t>
            </a:r>
            <a:r>
              <a:rPr lang="en-US" sz="1200" b="0" i="0" u="none" strike="noStrike" cap="none" dirty="0">
                <a:solidFill>
                  <a:schemeClr val="dk1"/>
                </a:solidFill>
                <a:latin typeface="Calibri"/>
                <a:ea typeface="Century Schoolbook"/>
                <a:cs typeface="Century Schoolbook"/>
                <a:sym typeface="Century Schoolbook"/>
              </a:rPr>
              <a:t> of the algorithm. If the learning rate is too small, the algorithm may take a long time to converge to the minimum, while if it is too large, it may overshoot the minimum and fail to converge. </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There are different variations of gradient descent, such as batch gradient descent, stochastic gradient descent, and mini-batch gradient descent, which differ in how the gradients are calculated and how the steps are updated.</a:t>
            </a:r>
          </a:p>
          <a:p>
            <a:pPr marL="0" lvl="0" indent="0" algn="l" rtl="0">
              <a:lnSpc>
                <a:spcPct val="100000"/>
              </a:lnSpc>
              <a:spcBef>
                <a:spcPts val="0"/>
              </a:spcBef>
              <a:spcAft>
                <a:spcPts val="0"/>
              </a:spcAft>
              <a:buSzPts val="1400"/>
              <a:buNone/>
            </a:pPr>
            <a:endParaRPr dirty="0"/>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71883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Gradient descent is an optimization algorithm used to minimize a cost function by iteratively adjusting the values of the parameters of a model. It is commonly used in machine learning to update the weights and biases of a neural network during training. </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 idea behind gradient descent is to calculate the gradient of the cost function with respect to each parameter, which gives us the direction and magnitude of the steepest ascent. We then take small steps in the opposite direction of the gradient to descend the cost function, towards a local minimum. The size of each step is determined by the learning rate, which is a </a:t>
            </a:r>
            <a:r>
              <a:rPr lang="en-US" sz="1200" b="0" i="0" u="none" strike="noStrike" cap="none" dirty="0" err="1">
                <a:solidFill>
                  <a:schemeClr val="dk1"/>
                </a:solidFill>
                <a:latin typeface="Calibri"/>
                <a:ea typeface="Century Schoolbook"/>
                <a:cs typeface="Century Schoolbook"/>
                <a:sym typeface="Century Schoolbook"/>
              </a:rPr>
              <a:t>hyperparameter</a:t>
            </a:r>
            <a:r>
              <a:rPr lang="en-US" sz="1200" b="0" i="0" u="none" strike="noStrike" cap="none" dirty="0">
                <a:solidFill>
                  <a:schemeClr val="dk1"/>
                </a:solidFill>
                <a:latin typeface="Calibri"/>
                <a:ea typeface="Century Schoolbook"/>
                <a:cs typeface="Century Schoolbook"/>
                <a:sym typeface="Century Schoolbook"/>
              </a:rPr>
              <a:t> of the algorithm. If the learning rate is too small, the algorithm may take a long time to converge to the minimum, while if it is too large, it may overshoot the minimum and fail to converge. </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There are different variations of gradient descent, such as batch gradient descent, stochastic gradient descent, and mini-batch gradient descent, which differ in how the gradients are calculated and how the steps are updated.</a:t>
            </a:r>
          </a:p>
          <a:p>
            <a:pPr marL="0" lvl="0" indent="0" algn="l" rtl="0">
              <a:lnSpc>
                <a:spcPct val="100000"/>
              </a:lnSpc>
              <a:spcBef>
                <a:spcPts val="0"/>
              </a:spcBef>
              <a:spcAft>
                <a:spcPts val="0"/>
              </a:spcAft>
              <a:buSzPts val="1400"/>
              <a:buNone/>
            </a:pPr>
            <a:endParaRPr dirty="0"/>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1296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1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1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Derivatives are a fundamental concept in calculus, and they represent the rate at which one quantity changes with respect to another.</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Consider the example in the next slide is a simple linear function f(a) = 3a. To understand derivatives, look at a few points on the function and then nudging the value of a slightly to the right to see how the value of f(a) changes. When a = 2, f(a) = 6. If a is nudged to 2.001, then f(a) = 6.003. The slope of the function at a = 2 is the ratio of the change in f(a) to the change in a, which is (6.003 - 6)/(2.001 - 2) = 3. This is the same slope as the function everywhere else.</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 formal definition of the derivative involves taking the limit as the change in a goes to zero. The slope or derivative of a function represents how much the output changes for a given change in the input. The slope can be different at different points on the function, and this will be explored in more detail in the next section.</a:t>
            </a:r>
          </a:p>
          <a:p>
            <a:pPr marL="0" lvl="0" indent="0" algn="l" rtl="0">
              <a:lnSpc>
                <a:spcPct val="100000"/>
              </a:lnSpc>
              <a:spcBef>
                <a:spcPts val="0"/>
              </a:spcBef>
              <a:spcAft>
                <a:spcPts val="0"/>
              </a:spcAft>
              <a:buSzPts val="1400"/>
              <a:buNone/>
            </a:pPr>
            <a:endParaRPr dirty="0"/>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1490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Derivatives are a fundamental concept in calculus, and they represent the rate at which one quantity changes with respect to another.</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Consider the example in the next slide is a simple linear function f(a) = 3a. To understand derivatives, look at a few points on the function and then nudging the value of a slightly to the right to see how the value of f(a) changes. When a = 2, f(a) = 6. If a is nudged to 2.001, then f(a) = 6.003. The slope of the function at a = 2 is the ratio of the change in f(a) to the change in a, which is (6.003 - 6)/(2.001 - 2) = 3. This is the same slope as the function everywhere else.</a:t>
            </a: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 formal definition of the derivative involves taking the limit as the change in a goes to zero. The slope or derivative of a function represents how much the output changes for a given change in the input. The slope can be different at different points on the function, and this will be explored in more detail in the next section.</a:t>
            </a:r>
          </a:p>
          <a:p>
            <a:pPr marL="0" lvl="0" indent="0" algn="l" rtl="0">
              <a:lnSpc>
                <a:spcPct val="100000"/>
              </a:lnSpc>
              <a:spcBef>
                <a:spcPts val="0"/>
              </a:spcBef>
              <a:spcAft>
                <a:spcPts val="0"/>
              </a:spcAft>
              <a:buSzPts val="1400"/>
              <a:buNone/>
            </a:pPr>
            <a:endParaRPr dirty="0"/>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92003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latin typeface="Calibri"/>
                <a:ea typeface="Century Schoolbook"/>
                <a:cs typeface="Century Schoolbook"/>
                <a:sym typeface="Century Schoolbook"/>
              </a:rPr>
              <a:t>To understand derivatives, look at a few points on the function and then nudging the value of a slightly to the right to see how the value of f(a) changes. When a = 2, f(a) = 6. If a is nudged to 2.001, then f(a) = 6.003. The slope of the function at a = 2 is the ratio of the change in f(a) to the change in a, which is (6.003 - 6)/(2.001 - 2) = 3. This is the same slope as the function everywhere else.</a:t>
            </a:r>
          </a:p>
          <a:p>
            <a:pPr marL="0" lvl="0" indent="0" algn="l" rtl="0">
              <a:lnSpc>
                <a:spcPct val="100000"/>
              </a:lnSpc>
              <a:spcBef>
                <a:spcPts val="0"/>
              </a:spcBef>
              <a:spcAft>
                <a:spcPts val="0"/>
              </a:spcAft>
              <a:buSzPts val="1400"/>
              <a:buNone/>
            </a:pPr>
            <a:endParaRPr dirty="0"/>
          </a:p>
        </p:txBody>
      </p:sp>
      <p:sp>
        <p:nvSpPr>
          <p:cNvPr id="145" name="Google Shape;145;p1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69049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1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95296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7829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latin typeface="Calibri"/>
                <a:ea typeface="Century Schoolbook"/>
                <a:cs typeface="Century Schoolbook"/>
                <a:sym typeface="Century Schoolbook"/>
              </a:rPr>
              <a:t>To illustrate the computation graph, a simple function J of three variables a, b, and c is considered, which is J = 3(a + </a:t>
            </a:r>
            <a:r>
              <a:rPr lang="en-US" sz="1200" b="0" i="0" u="none" strike="noStrike" cap="none" dirty="0" err="1">
                <a:solidFill>
                  <a:schemeClr val="dk1"/>
                </a:solidFill>
                <a:latin typeface="Calibri"/>
                <a:ea typeface="Century Schoolbook"/>
                <a:cs typeface="Century Schoolbook"/>
                <a:sym typeface="Century Schoolbook"/>
              </a:rPr>
              <a:t>bc</a:t>
            </a:r>
            <a:r>
              <a:rPr lang="en-US" sz="1200" b="0" i="0" u="none" strike="noStrike" cap="none" dirty="0">
                <a:solidFill>
                  <a:schemeClr val="dk1"/>
                </a:solidFill>
                <a:latin typeface="Calibri"/>
                <a:ea typeface="Century Schoolbook"/>
                <a:cs typeface="Century Schoolbook"/>
                <a:sym typeface="Century Schoolbook"/>
              </a:rPr>
              <a:t>). The computation of this function involves three steps, which are computing </a:t>
            </a:r>
            <a:r>
              <a:rPr lang="en-US" sz="1200" b="0" i="0" u="none" strike="noStrike" cap="none" dirty="0" err="1">
                <a:solidFill>
                  <a:schemeClr val="dk1"/>
                </a:solidFill>
                <a:latin typeface="Calibri"/>
                <a:ea typeface="Century Schoolbook"/>
                <a:cs typeface="Century Schoolbook"/>
                <a:sym typeface="Century Schoolbook"/>
              </a:rPr>
              <a:t>bc</a:t>
            </a:r>
            <a:r>
              <a:rPr lang="en-US" sz="1200" b="0" i="0" u="none" strike="noStrike" cap="none" dirty="0">
                <a:solidFill>
                  <a:schemeClr val="dk1"/>
                </a:solidFill>
                <a:latin typeface="Calibri"/>
                <a:ea typeface="Century Schoolbook"/>
                <a:cs typeface="Century Schoolbook"/>
                <a:sym typeface="Century Schoolbook"/>
              </a:rPr>
              <a:t>, computing a times </a:t>
            </a:r>
            <a:r>
              <a:rPr lang="en-US" sz="1200" b="0" i="0" u="none" strike="noStrike" cap="none" dirty="0" err="1">
                <a:solidFill>
                  <a:schemeClr val="dk1"/>
                </a:solidFill>
                <a:latin typeface="Calibri"/>
                <a:ea typeface="Century Schoolbook"/>
                <a:cs typeface="Century Schoolbook"/>
                <a:sym typeface="Century Schoolbook"/>
              </a:rPr>
              <a:t>bc</a:t>
            </a:r>
            <a:r>
              <a:rPr lang="en-US" sz="1200" b="0" i="0" u="none" strike="noStrike" cap="none" dirty="0">
                <a:solidFill>
                  <a:schemeClr val="dk1"/>
                </a:solidFill>
                <a:latin typeface="Calibri"/>
                <a:ea typeface="Century Schoolbook"/>
                <a:cs typeface="Century Schoolbook"/>
                <a:sym typeface="Century Schoolbook"/>
              </a:rPr>
              <a:t>, and finally, computing 3 times a times </a:t>
            </a:r>
            <a:r>
              <a:rPr lang="en-US" sz="1200" b="0" i="0" u="none" strike="noStrike" cap="none" dirty="0" err="1">
                <a:solidFill>
                  <a:schemeClr val="dk1"/>
                </a:solidFill>
                <a:latin typeface="Calibri"/>
                <a:ea typeface="Century Schoolbook"/>
                <a:cs typeface="Century Schoolbook"/>
                <a:sym typeface="Century Schoolbook"/>
              </a:rPr>
              <a:t>bc</a:t>
            </a:r>
            <a:r>
              <a:rPr lang="en-US" sz="1200" b="0" i="0" u="none" strike="noStrike" cap="none" dirty="0">
                <a:solidFill>
                  <a:schemeClr val="dk1"/>
                </a:solidFill>
                <a:latin typeface="Calibri"/>
                <a:ea typeface="Century Schoolbook"/>
                <a:cs typeface="Century Schoolbook"/>
                <a:sym typeface="Century Schoolbook"/>
              </a:rPr>
              <a:t>. These three steps can be visualized as a computation graph with three nodes: one for computing </a:t>
            </a:r>
            <a:r>
              <a:rPr lang="en-US" sz="1200" b="0" i="0" u="none" strike="noStrike" cap="none" dirty="0" err="1">
                <a:solidFill>
                  <a:schemeClr val="dk1"/>
                </a:solidFill>
                <a:latin typeface="Calibri"/>
                <a:ea typeface="Century Schoolbook"/>
                <a:cs typeface="Century Schoolbook"/>
                <a:sym typeface="Century Schoolbook"/>
              </a:rPr>
              <a:t>bc</a:t>
            </a:r>
            <a:r>
              <a:rPr lang="en-US" sz="1200" b="0" i="0" u="none" strike="noStrike" cap="none" dirty="0">
                <a:solidFill>
                  <a:schemeClr val="dk1"/>
                </a:solidFill>
                <a:latin typeface="Calibri"/>
                <a:ea typeface="Century Schoolbook"/>
                <a:cs typeface="Century Schoolbook"/>
                <a:sym typeface="Century Schoolbook"/>
              </a:rPr>
              <a:t>, one for computing a times </a:t>
            </a:r>
            <a:r>
              <a:rPr lang="en-US" sz="1200" b="0" i="0" u="none" strike="noStrike" cap="none" dirty="0" err="1">
                <a:solidFill>
                  <a:schemeClr val="dk1"/>
                </a:solidFill>
                <a:latin typeface="Calibri"/>
                <a:ea typeface="Century Schoolbook"/>
                <a:cs typeface="Century Schoolbook"/>
                <a:sym typeface="Century Schoolbook"/>
              </a:rPr>
              <a:t>bc</a:t>
            </a:r>
            <a:r>
              <a:rPr lang="en-US" sz="1200" b="0" i="0" u="none" strike="noStrike" cap="none" dirty="0">
                <a:solidFill>
                  <a:schemeClr val="dk1"/>
                </a:solidFill>
                <a:latin typeface="Calibri"/>
                <a:ea typeface="Century Schoolbook"/>
                <a:cs typeface="Century Schoolbook"/>
                <a:sym typeface="Century Schoolbook"/>
              </a:rPr>
              <a:t>, and one for computing 3 times a times </a:t>
            </a:r>
            <a:r>
              <a:rPr lang="en-US" sz="1200" b="0" i="0" u="none" strike="noStrike" cap="none" dirty="0" err="1">
                <a:solidFill>
                  <a:schemeClr val="dk1"/>
                </a:solidFill>
                <a:latin typeface="Calibri"/>
                <a:ea typeface="Century Schoolbook"/>
                <a:cs typeface="Century Schoolbook"/>
                <a:sym typeface="Century Schoolbook"/>
              </a:rPr>
              <a:t>bc</a:t>
            </a:r>
            <a:r>
              <a:rPr lang="en-US" sz="1200" b="0" i="0" u="none" strike="noStrike" cap="none" dirty="0">
                <a:solidFill>
                  <a:schemeClr val="dk1"/>
                </a:solidFill>
                <a:latin typeface="Calibri"/>
                <a:ea typeface="Century Schoolbook"/>
                <a:cs typeface="Century Schoolbook"/>
                <a:sym typeface="Century Schoolbook"/>
              </a:rPr>
              <a:t>.</a:t>
            </a:r>
          </a:p>
          <a:p>
            <a:pPr marL="0" lvl="0" indent="0" algn="l" rtl="0">
              <a:lnSpc>
                <a:spcPct val="100000"/>
              </a:lnSpc>
              <a:spcBef>
                <a:spcPts val="0"/>
              </a:spcBef>
              <a:spcAft>
                <a:spcPts val="0"/>
              </a:spcAft>
              <a:buSzPts val="1400"/>
              <a:buNone/>
            </a:pPr>
            <a:endParaRPr dirty="0"/>
          </a:p>
        </p:txBody>
      </p:sp>
      <p:sp>
        <p:nvSpPr>
          <p:cNvPr id="223" name="Google Shape;223;p1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32300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1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5878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p2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2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2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2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To compute the derivatives of the cost function J with respect to each parameter w1, w2, and b, use a for loop over the m training examples. For each training example </a:t>
            </a:r>
            <a:r>
              <a:rPr lang="en-US" sz="1200" b="0" i="0" u="none" strike="noStrike" cap="none" dirty="0" err="1">
                <a:solidFill>
                  <a:schemeClr val="dk1"/>
                </a:solidFill>
                <a:latin typeface="Calibri"/>
                <a:ea typeface="Century Schoolbook"/>
                <a:cs typeface="Century Schoolbook"/>
                <a:sym typeface="Century Schoolbook"/>
              </a:rPr>
              <a:t>i</a:t>
            </a:r>
            <a:r>
              <a:rPr lang="en-US" sz="1200" b="0" i="0" u="none" strike="noStrike" cap="none" dirty="0">
                <a:solidFill>
                  <a:schemeClr val="dk1"/>
                </a:solidFill>
                <a:latin typeface="Calibri"/>
                <a:ea typeface="Century Schoolbook"/>
                <a:cs typeface="Century Schoolbook"/>
                <a:sym typeface="Century Schoolbook"/>
              </a:rPr>
              <a:t>, computes </a:t>
            </a:r>
            <a:r>
              <a:rPr lang="en-US" sz="1200" b="0" i="0" u="none" strike="noStrike" cap="none" dirty="0" err="1">
                <a:solidFill>
                  <a:schemeClr val="dk1"/>
                </a:solidFill>
                <a:latin typeface="Calibri"/>
                <a:ea typeface="Century Schoolbook"/>
                <a:cs typeface="Century Schoolbook"/>
                <a:sym typeface="Century Schoolbook"/>
              </a:rPr>
              <a:t>z</a:t>
            </a:r>
            <a:r>
              <a:rPr lang="en-US" sz="1200" b="0" i="0" u="none" strike="noStrike" cap="none" baseline="30000" dirty="0" err="1">
                <a:solidFill>
                  <a:schemeClr val="dk1"/>
                </a:solidFill>
                <a:latin typeface="Calibri"/>
                <a:ea typeface="Century Schoolbook"/>
                <a:cs typeface="Century Schoolbook"/>
                <a:sym typeface="Century Schoolbook"/>
              </a:rPr>
              <a:t>i</a:t>
            </a:r>
            <a:r>
              <a:rPr lang="en-US" sz="1200" b="0" i="0" u="none" strike="noStrike" cap="none" dirty="0">
                <a:solidFill>
                  <a:schemeClr val="dk1"/>
                </a:solidFill>
                <a:latin typeface="Calibri"/>
                <a:ea typeface="Century Schoolbook"/>
                <a:cs typeface="Century Schoolbook"/>
                <a:sym typeface="Century Schoolbook"/>
              </a:rPr>
              <a:t>, the prediction </a:t>
            </a:r>
            <a:r>
              <a:rPr lang="en-US" sz="1200" b="0" i="0" u="none" strike="noStrike" cap="none" dirty="0" err="1">
                <a:solidFill>
                  <a:schemeClr val="dk1"/>
                </a:solidFill>
                <a:latin typeface="Calibri"/>
                <a:ea typeface="Century Schoolbook"/>
                <a:cs typeface="Century Schoolbook"/>
                <a:sym typeface="Century Schoolbook"/>
              </a:rPr>
              <a:t>a</a:t>
            </a:r>
            <a:r>
              <a:rPr lang="en-US" sz="1200" b="0" i="0" u="none" strike="noStrike" cap="none" baseline="30000" dirty="0" err="1">
                <a:solidFill>
                  <a:schemeClr val="dk1"/>
                </a:solidFill>
                <a:latin typeface="Calibri"/>
                <a:ea typeface="Century Schoolbook"/>
                <a:cs typeface="Century Schoolbook"/>
                <a:sym typeface="Century Schoolbook"/>
              </a:rPr>
              <a:t>i</a:t>
            </a:r>
            <a:r>
              <a:rPr lang="en-US" sz="1200" b="0" i="0" u="none" strike="noStrike" cap="none" dirty="0">
                <a:solidFill>
                  <a:schemeClr val="dk1"/>
                </a:solidFill>
                <a:latin typeface="Calibri"/>
                <a:ea typeface="Century Schoolbook"/>
                <a:cs typeface="Century Schoolbook"/>
                <a:sym typeface="Century Schoolbook"/>
              </a:rPr>
              <a:t>, and the derivatives </a:t>
            </a:r>
            <a:r>
              <a:rPr lang="en-US" sz="1200" b="0" i="0" u="none" strike="noStrike" cap="none" dirty="0" err="1">
                <a:solidFill>
                  <a:schemeClr val="dk1"/>
                </a:solidFill>
                <a:latin typeface="Calibri"/>
                <a:ea typeface="Century Schoolbook"/>
                <a:cs typeface="Century Schoolbook"/>
                <a:sym typeface="Century Schoolbook"/>
              </a:rPr>
              <a:t>dz</a:t>
            </a:r>
            <a:r>
              <a:rPr lang="en-US" sz="1200" b="0" i="0" u="none" strike="noStrike" cap="none" dirty="0">
                <a:solidFill>
                  <a:schemeClr val="dk1"/>
                </a:solidFill>
                <a:latin typeface="Calibri"/>
                <a:ea typeface="Century Schoolbook"/>
                <a:cs typeface="Century Schoolbook"/>
                <a:sym typeface="Century Schoolbook"/>
              </a:rPr>
              <a:t> with respect to each parameter. The derivatives are accumulated in dw1, dw2, and </a:t>
            </a:r>
            <a:r>
              <a:rPr lang="en-US" sz="1200" b="0" i="0" u="none" strike="noStrike" cap="none" dirty="0" err="1">
                <a:solidFill>
                  <a:schemeClr val="dk1"/>
                </a:solidFill>
                <a:latin typeface="Calibri"/>
                <a:ea typeface="Century Schoolbook"/>
                <a:cs typeface="Century Schoolbook"/>
                <a:sym typeface="Century Schoolbook"/>
              </a:rPr>
              <a:t>db</a:t>
            </a:r>
            <a:r>
              <a:rPr lang="en-US" sz="1200" b="0" i="0" u="none" strike="noStrike" cap="none" dirty="0">
                <a:solidFill>
                  <a:schemeClr val="dk1"/>
                </a:solidFill>
                <a:latin typeface="Calibri"/>
                <a:ea typeface="Century Schoolbook"/>
                <a:cs typeface="Century Schoolbook"/>
                <a:sym typeface="Century Schoolbook"/>
              </a:rPr>
              <a:t>, which are then divided by m to compute the average derivatives. Finally, the parameters w1, w2, and b are updated using the average derivatives and the learning rate.</a:t>
            </a:r>
          </a:p>
          <a:p>
            <a:pPr marL="355600" lvl="0" indent="-342900">
              <a:buSzPts val="2800"/>
              <a:buFont typeface="Arial" panose="020B0604020202020204" pitchFamily="34" charset="0"/>
              <a:buChar char="•"/>
            </a:pPr>
            <a:endParaRPr lang="en-US" sz="1200" b="0" i="0" u="none" strike="noStrike" cap="none" dirty="0">
              <a:solidFill>
                <a:schemeClr val="dk1"/>
              </a:solidFill>
              <a:latin typeface="Calibri"/>
              <a:ea typeface="Century Schoolbook"/>
              <a:cs typeface="Century Schoolbook"/>
              <a:sym typeface="Century Schoolbook"/>
            </a:endParaRP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There are two weaknesses with the above calculation. Firstly, two for loops are required, one over the m training examples and another over the n features. Secondly, explicit for loops make the algorithm run less efficiently, which is problematic when working with larger datasets. Use </a:t>
            </a:r>
            <a:r>
              <a:rPr lang="en-US" sz="1200" dirty="0">
                <a:solidFill>
                  <a:schemeClr val="dk1"/>
                </a:solidFill>
                <a:ea typeface="Century Schoolbook"/>
                <a:cs typeface="Century Schoolbook"/>
                <a:sym typeface="Century Schoolbook"/>
              </a:rPr>
              <a:t>the concept of vectorization, which will be discussed in the next section, to</a:t>
            </a:r>
            <a:r>
              <a:rPr lang="en-US" sz="1200" b="0" i="0" u="none" strike="noStrike" cap="none" dirty="0">
                <a:solidFill>
                  <a:schemeClr val="dk1"/>
                </a:solidFill>
                <a:latin typeface="Calibri"/>
                <a:ea typeface="Century Schoolbook"/>
                <a:cs typeface="Century Schoolbook"/>
                <a:sym typeface="Century Schoolbook"/>
              </a:rPr>
              <a:t> address these issues.</a:t>
            </a: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46826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2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01785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2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Vectorization is the process of getting rid of explicit for loops in code to make it run faster, especially in the era of deep learning where large datasets are common. The goal is to perform operations on vectors and matrices directly instead of using loops. </a:t>
            </a:r>
          </a:p>
          <a:p>
            <a:pPr marL="12700" lvl="0">
              <a:buSzPts val="2800"/>
            </a:pPr>
            <a:r>
              <a:rPr lang="en-US" sz="1200" b="0" i="0" u="none" strike="noStrike" cap="none" dirty="0">
                <a:solidFill>
                  <a:schemeClr val="dk1"/>
                </a:solidFill>
                <a:latin typeface="Calibri"/>
                <a:ea typeface="Century Schoolbook"/>
                <a:cs typeface="Century Schoolbook"/>
                <a:sym typeface="Century Schoolbook"/>
              </a:rPr>
              <a:t>	</a:t>
            </a:r>
            <a:r>
              <a:rPr lang="en-US" sz="1100" b="0" i="0" u="none" strike="noStrike" cap="none" dirty="0">
                <a:solidFill>
                  <a:schemeClr val="dk1"/>
                </a:solidFill>
                <a:latin typeface="Calibri"/>
                <a:ea typeface="Century Schoolbook"/>
                <a:cs typeface="Century Schoolbook"/>
                <a:sym typeface="Century Schoolbook"/>
              </a:rPr>
              <a:t>For example, in logistic regression, the equation </a:t>
            </a:r>
          </a:p>
          <a:p>
            <a:pPr marL="12700" lvl="0">
              <a:buSzPts val="2800"/>
            </a:pPr>
            <a:r>
              <a:rPr lang="en-US" sz="1100" b="0" i="0" u="none" strike="noStrike" cap="none" dirty="0">
                <a:solidFill>
                  <a:schemeClr val="dk1"/>
                </a:solidFill>
                <a:latin typeface="Calibri"/>
                <a:ea typeface="Century Schoolbook"/>
                <a:cs typeface="Century Schoolbook"/>
                <a:sym typeface="Century Schoolbook"/>
              </a:rPr>
              <a:t>	Z = W^TX + b can be </a:t>
            </a:r>
            <a:r>
              <a:rPr lang="en-US" sz="1100" b="0" i="0" u="none" strike="noStrike" cap="none" dirty="0" err="1">
                <a:solidFill>
                  <a:schemeClr val="dk1"/>
                </a:solidFill>
                <a:latin typeface="Calibri"/>
                <a:ea typeface="Century Schoolbook"/>
                <a:cs typeface="Century Schoolbook"/>
                <a:sym typeface="Century Schoolbook"/>
              </a:rPr>
              <a:t>vectorized</a:t>
            </a:r>
            <a:r>
              <a:rPr lang="en-US" sz="1100" b="0" i="0" u="none" strike="noStrike" cap="none" dirty="0">
                <a:solidFill>
                  <a:schemeClr val="dk1"/>
                </a:solidFill>
                <a:latin typeface="Calibri"/>
                <a:ea typeface="Century Schoolbook"/>
                <a:cs typeface="Century Schoolbook"/>
                <a:sym typeface="Century Schoolbook"/>
              </a:rPr>
              <a:t> by computing np.dot(W, X) + b. This  eliminates the 	need for loops and runs much faster.</a:t>
            </a:r>
          </a:p>
          <a:p>
            <a:pPr marL="355600" lvl="0" indent="-342900">
              <a:buSzPts val="2800"/>
              <a:buFont typeface="Arial" panose="020B0604020202020204" pitchFamily="34" charset="0"/>
              <a:buChar char="•"/>
            </a:pPr>
            <a:endParaRPr lang="en-US" sz="1200" b="0" i="0" u="none" strike="noStrike" cap="none" dirty="0">
              <a:solidFill>
                <a:schemeClr val="dk1"/>
              </a:solidFill>
              <a:latin typeface="Calibri"/>
              <a:ea typeface="Century Schoolbook"/>
              <a:cs typeface="Century Schoolbook"/>
              <a:sym typeface="Century Schoolbook"/>
            </a:endParaRPr>
          </a:p>
          <a:p>
            <a:pPr marL="355600" lvl="0" indent="-342900">
              <a:buSzPts val="28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In a </a:t>
            </a:r>
            <a:r>
              <a:rPr lang="en-US" sz="1200" b="0" i="0" u="none" strike="noStrike" cap="none" dirty="0" err="1">
                <a:solidFill>
                  <a:schemeClr val="dk1"/>
                </a:solidFill>
                <a:latin typeface="Calibri"/>
                <a:ea typeface="Century Schoolbook"/>
                <a:cs typeface="Century Schoolbook"/>
                <a:sym typeface="Century Schoolbook"/>
              </a:rPr>
              <a:t>Jupyter</a:t>
            </a:r>
            <a:r>
              <a:rPr lang="en-US" sz="1200" b="0" i="0" u="none" strike="noStrike" cap="none" dirty="0">
                <a:solidFill>
                  <a:schemeClr val="dk1"/>
                </a:solidFill>
                <a:latin typeface="Calibri"/>
                <a:ea typeface="Century Schoolbook"/>
                <a:cs typeface="Century Schoolbook"/>
                <a:sym typeface="Century Schoolbook"/>
              </a:rPr>
              <a:t> notebook, the np library can be used to create and manipulate arrays. A vectorization demo was performed by creating two million-dimensional arrays and using np.dot() to calculate the dot product. The time it took to complete was measured using the time library. A non-</a:t>
            </a:r>
            <a:r>
              <a:rPr lang="en-US" sz="1200" b="0" i="0" u="none" strike="noStrike" cap="none" dirty="0" err="1">
                <a:solidFill>
                  <a:schemeClr val="dk1"/>
                </a:solidFill>
                <a:latin typeface="Calibri"/>
                <a:ea typeface="Century Schoolbook"/>
                <a:cs typeface="Century Schoolbook"/>
                <a:sym typeface="Century Schoolbook"/>
              </a:rPr>
              <a:t>vectorized</a:t>
            </a:r>
            <a:r>
              <a:rPr lang="en-US" sz="1200" b="0" i="0" u="none" strike="noStrike" cap="none" dirty="0">
                <a:solidFill>
                  <a:schemeClr val="dk1"/>
                </a:solidFill>
                <a:latin typeface="Calibri"/>
                <a:ea typeface="Century Schoolbook"/>
                <a:cs typeface="Century Schoolbook"/>
                <a:sym typeface="Century Schoolbook"/>
              </a:rPr>
              <a:t> version was then implemented using a for loop to compute the dot product. It was found that the </a:t>
            </a:r>
            <a:r>
              <a:rPr lang="en-US" sz="1200" b="0" i="0" u="none" strike="noStrike" cap="none" dirty="0" err="1">
                <a:solidFill>
                  <a:schemeClr val="dk1"/>
                </a:solidFill>
                <a:latin typeface="Calibri"/>
                <a:ea typeface="Century Schoolbook"/>
                <a:cs typeface="Century Schoolbook"/>
                <a:sym typeface="Century Schoolbook"/>
              </a:rPr>
              <a:t>vectorized</a:t>
            </a:r>
            <a:r>
              <a:rPr lang="en-US" sz="1200" b="0" i="0" u="none" strike="noStrike" cap="none" dirty="0">
                <a:solidFill>
                  <a:schemeClr val="dk1"/>
                </a:solidFill>
                <a:latin typeface="Calibri"/>
                <a:ea typeface="Century Schoolbook"/>
                <a:cs typeface="Century Schoolbook"/>
                <a:sym typeface="Century Schoolbook"/>
              </a:rPr>
              <a:t> version took around 1.5 milliseconds to run, while the non-</a:t>
            </a:r>
            <a:r>
              <a:rPr lang="en-US" sz="1200" b="0" i="0" u="none" strike="noStrike" cap="none" dirty="0" err="1">
                <a:solidFill>
                  <a:schemeClr val="dk1"/>
                </a:solidFill>
                <a:latin typeface="Calibri"/>
                <a:ea typeface="Century Schoolbook"/>
                <a:cs typeface="Century Schoolbook"/>
                <a:sym typeface="Century Schoolbook"/>
              </a:rPr>
              <a:t>vectorized</a:t>
            </a:r>
            <a:r>
              <a:rPr lang="en-US" sz="1200" b="0" i="0" u="none" strike="noStrike" cap="none" dirty="0">
                <a:solidFill>
                  <a:schemeClr val="dk1"/>
                </a:solidFill>
                <a:latin typeface="Calibri"/>
                <a:ea typeface="Century Schoolbook"/>
                <a:cs typeface="Century Schoolbook"/>
                <a:sym typeface="Century Schoolbook"/>
              </a:rPr>
              <a:t> version took about 500 milliseconds, or 300 times longer.</a:t>
            </a: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19847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77003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2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2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3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193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524549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3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2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368295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754690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01257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9204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49132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4" name="Google Shape;364;p3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1800"/>
              </a:lnSpc>
              <a:buSzPts val="24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Broadcasting in Python is a technique that allows you to perform mathematical operations between arrays or matrices of different sizes without explicitly iterating over them using a for-loop. </a:t>
            </a:r>
          </a:p>
          <a:p>
            <a:pPr marL="355600" marR="5080" lvl="0" indent="-342900">
              <a:lnSpc>
                <a:spcPct val="101800"/>
              </a:lnSpc>
              <a:buSzPts val="24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 principle of broadcasting is that when you perform an operation between arrays or matrices of different sizes, </a:t>
            </a:r>
            <a:r>
              <a:rPr lang="en-US" sz="1200" b="0" i="0" u="none" strike="noStrike" cap="none" dirty="0" err="1">
                <a:solidFill>
                  <a:schemeClr val="dk1"/>
                </a:solidFill>
                <a:latin typeface="Calibri"/>
                <a:ea typeface="Century Schoolbook"/>
                <a:cs typeface="Century Schoolbook"/>
                <a:sym typeface="Century Schoolbook"/>
              </a:rPr>
              <a:t>NumPy</a:t>
            </a:r>
            <a:r>
              <a:rPr lang="en-US" sz="1200" b="0" i="0" u="none" strike="noStrike" cap="none" dirty="0">
                <a:solidFill>
                  <a:schemeClr val="dk1"/>
                </a:solidFill>
                <a:latin typeface="Calibri"/>
                <a:ea typeface="Century Schoolbook"/>
                <a:cs typeface="Century Schoolbook"/>
                <a:sym typeface="Century Schoolbook"/>
              </a:rPr>
              <a:t> will automatically copy the smaller array or matrix to match the size of the larger one, and then perform the operation element-wise.</a:t>
            </a:r>
          </a:p>
          <a:p>
            <a:pPr marL="355600" marR="5080" lvl="0" indent="-342900">
              <a:lnSpc>
                <a:spcPct val="101800"/>
              </a:lnSpc>
              <a:buSzPts val="24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In the example in the next slide, a three by four matrix representing the number of calories from carbohydrates, proteins, and fats in 100 grams of four different foods was used. The goal was to calculate the percentage of calories from carbs, proteins, and fats for each of the four foods. This was achieved by summing down the columns of the matrix to get the total number of calories in 100 grams of each food, and then dividing each element of the matrix by its corresponding sum to get the percentage of calories from each nutrient.</a:t>
            </a:r>
          </a:p>
          <a:p>
            <a:pPr marL="0" lvl="0" indent="0" algn="l" rtl="0">
              <a:lnSpc>
                <a:spcPct val="100000"/>
              </a:lnSpc>
              <a:spcBef>
                <a:spcPts val="0"/>
              </a:spcBef>
              <a:spcAft>
                <a:spcPts val="0"/>
              </a:spcAft>
              <a:buSzPts val="1400"/>
              <a:buNone/>
            </a:pPr>
            <a:endParaRPr dirty="0"/>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214180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3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30893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3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30487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p4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0" name="Google Shape;430;p4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4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7" name="Google Shape;437;p4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1800"/>
              </a:lnSpc>
              <a:buSzPts val="2400"/>
              <a:buFont typeface="Arial" panose="020B0604020202020204" pitchFamily="34" charset="0"/>
              <a:buChar char="•"/>
            </a:pPr>
            <a:r>
              <a:rPr lang="en-US" sz="1400" b="0" i="0" u="none" strike="noStrike" cap="none" dirty="0">
                <a:solidFill>
                  <a:schemeClr val="dk1"/>
                </a:solidFill>
                <a:latin typeface="Calibri"/>
                <a:ea typeface="Century Schoolbook"/>
                <a:cs typeface="Century Schoolbook"/>
                <a:sym typeface="Century Schoolbook"/>
              </a:rPr>
              <a:t>Logistic Regression Model Structured as a Shallow Neural Network:</a:t>
            </a:r>
          </a:p>
          <a:p>
            <a:pPr marL="12700" marR="5080" lvl="0">
              <a:lnSpc>
                <a:spcPct val="101800"/>
              </a:lnSpc>
              <a:buSzPts val="2400"/>
            </a:pPr>
            <a:r>
              <a:rPr lang="en-US" sz="1400" b="0" i="0" u="none" strike="noStrike" cap="none" dirty="0">
                <a:solidFill>
                  <a:schemeClr val="dk1"/>
                </a:solidFill>
                <a:latin typeface="Calibri"/>
                <a:ea typeface="Century Schoolbook"/>
                <a:cs typeface="Century Schoolbook"/>
                <a:sym typeface="Century Schoolbook"/>
              </a:rPr>
              <a:t>	</a:t>
            </a:r>
            <a:r>
              <a:rPr lang="en-US" sz="1200" b="0" i="0" u="none" strike="noStrike" cap="none" dirty="0">
                <a:solidFill>
                  <a:schemeClr val="dk1"/>
                </a:solidFill>
                <a:latin typeface="Calibri"/>
                <a:ea typeface="Century Schoolbook"/>
                <a:cs typeface="Century Schoolbook"/>
                <a:sym typeface="Century Schoolbook"/>
              </a:rPr>
              <a:t>- Logistic regression, a binary classification algorithm, can be conceptualized as a single-	layer neural network.</a:t>
            </a:r>
          </a:p>
          <a:p>
            <a:pPr marL="12700" marR="5080" lvl="0">
              <a:lnSpc>
                <a:spcPct val="101800"/>
              </a:lnSpc>
              <a:buSzPts val="2400"/>
            </a:pPr>
            <a:r>
              <a:rPr lang="en-US" sz="1200" b="0" i="0" u="none" strike="noStrike" cap="none" dirty="0">
                <a:solidFill>
                  <a:schemeClr val="dk1"/>
                </a:solidFill>
                <a:latin typeface="Calibri"/>
                <a:ea typeface="Century Schoolbook"/>
                <a:cs typeface="Century Schoolbook"/>
                <a:sym typeface="Century Schoolbook"/>
              </a:rPr>
              <a:t>	- The input features are multiplied by weights, summed with a bias term, and passed 	through a sigmoid activation function to predict binary outcomes.</a:t>
            </a:r>
          </a:p>
          <a:p>
            <a:pPr marL="355600" marR="5080" lvl="0" indent="-342900">
              <a:lnSpc>
                <a:spcPct val="101800"/>
              </a:lnSpc>
              <a:buSzPts val="2400"/>
              <a:buFont typeface="Arial" panose="020B0604020202020204" pitchFamily="34" charset="0"/>
              <a:buChar char="•"/>
            </a:pPr>
            <a:r>
              <a:rPr lang="en-US" sz="1400" b="0" i="0" u="none" strike="noStrike" cap="none" dirty="0">
                <a:solidFill>
                  <a:schemeClr val="dk1"/>
                </a:solidFill>
                <a:latin typeface="Calibri"/>
                <a:ea typeface="Century Schoolbook"/>
                <a:cs typeface="Century Schoolbook"/>
                <a:sym typeface="Century Schoolbook"/>
              </a:rPr>
              <a:t>Implementing Computationally Efficient and Highly </a:t>
            </a:r>
            <a:r>
              <a:rPr lang="en-US" sz="1400" b="0" i="0" u="none" strike="noStrike" cap="none" dirty="0" err="1">
                <a:solidFill>
                  <a:schemeClr val="dk1"/>
                </a:solidFill>
                <a:latin typeface="Calibri"/>
                <a:ea typeface="Century Schoolbook"/>
                <a:cs typeface="Century Schoolbook"/>
                <a:sym typeface="Century Schoolbook"/>
              </a:rPr>
              <a:t>Vectorized</a:t>
            </a:r>
            <a:r>
              <a:rPr lang="en-US" sz="1400" b="0" i="0" u="none" strike="noStrike" cap="none" dirty="0">
                <a:solidFill>
                  <a:schemeClr val="dk1"/>
                </a:solidFill>
                <a:latin typeface="Calibri"/>
                <a:ea typeface="Century Schoolbook"/>
                <a:cs typeface="Century Schoolbook"/>
                <a:sym typeface="Century Schoolbook"/>
              </a:rPr>
              <a:t> Models:</a:t>
            </a:r>
          </a:p>
          <a:p>
            <a:pPr marL="12700" marR="5080" lvl="0">
              <a:lnSpc>
                <a:spcPct val="101800"/>
              </a:lnSpc>
              <a:buSzPts val="2400"/>
            </a:pPr>
            <a:r>
              <a:rPr lang="en-US" sz="1400" b="0" i="0" u="none" strike="noStrike" cap="none" dirty="0">
                <a:solidFill>
                  <a:schemeClr val="dk1"/>
                </a:solidFill>
                <a:latin typeface="Calibri"/>
                <a:ea typeface="Century Schoolbook"/>
                <a:cs typeface="Century Schoolbook"/>
                <a:sym typeface="Century Schoolbook"/>
              </a:rPr>
              <a:t>	</a:t>
            </a:r>
            <a:r>
              <a:rPr lang="en-US" sz="1200" b="0" i="0" u="none" strike="noStrike" cap="none" dirty="0">
                <a:solidFill>
                  <a:schemeClr val="dk1"/>
                </a:solidFill>
                <a:latin typeface="Calibri"/>
                <a:ea typeface="Century Schoolbook"/>
                <a:cs typeface="Century Schoolbook"/>
                <a:sym typeface="Century Schoolbook"/>
              </a:rPr>
              <a:t>- Utilize matrix operations and </a:t>
            </a:r>
            <a:r>
              <a:rPr lang="en-US" sz="1200" b="0" i="0" u="none" strike="noStrike" cap="none" dirty="0" err="1">
                <a:solidFill>
                  <a:schemeClr val="dk1"/>
                </a:solidFill>
                <a:latin typeface="Calibri"/>
                <a:ea typeface="Century Schoolbook"/>
                <a:cs typeface="Century Schoolbook"/>
                <a:sym typeface="Century Schoolbook"/>
              </a:rPr>
              <a:t>vectorized</a:t>
            </a:r>
            <a:r>
              <a:rPr lang="en-US" sz="1200" b="0" i="0" u="none" strike="noStrike" cap="none" dirty="0">
                <a:solidFill>
                  <a:schemeClr val="dk1"/>
                </a:solidFill>
                <a:latin typeface="Calibri"/>
                <a:ea typeface="Century Schoolbook"/>
                <a:cs typeface="Century Schoolbook"/>
                <a:sym typeface="Century Schoolbook"/>
              </a:rPr>
              <a:t> computations for efficient training.</a:t>
            </a:r>
          </a:p>
          <a:p>
            <a:pPr marL="12700" marR="5080" lvl="0">
              <a:lnSpc>
                <a:spcPct val="101800"/>
              </a:lnSpc>
              <a:buSzPts val="2400"/>
            </a:pPr>
            <a:r>
              <a:rPr lang="en-US" sz="1200" b="0" i="0" u="none" strike="noStrike" cap="none" dirty="0">
                <a:solidFill>
                  <a:schemeClr val="dk1"/>
                </a:solidFill>
                <a:latin typeface="Calibri"/>
                <a:ea typeface="Century Schoolbook"/>
                <a:cs typeface="Century Schoolbook"/>
                <a:sym typeface="Century Schoolbook"/>
              </a:rPr>
              <a:t>	Minimize explicit loops and leverage library functions to perform operations on entire 	datasets.</a:t>
            </a:r>
          </a:p>
          <a:p>
            <a:pPr marL="355600" marR="5080" lvl="0" indent="-342900">
              <a:lnSpc>
                <a:spcPct val="101800"/>
              </a:lnSpc>
              <a:buSzPts val="24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Derivatives for Logistic Regression:</a:t>
            </a:r>
          </a:p>
          <a:p>
            <a:pPr marL="12700" marR="5080" lvl="0">
              <a:lnSpc>
                <a:spcPct val="101800"/>
              </a:lnSpc>
              <a:buSzPts val="2400"/>
            </a:pPr>
            <a:r>
              <a:rPr lang="en-US" sz="1200" b="0" i="0" u="none" strike="noStrike" cap="none" dirty="0">
                <a:solidFill>
                  <a:schemeClr val="dk1"/>
                </a:solidFill>
                <a:latin typeface="Calibri"/>
                <a:ea typeface="Century Schoolbook"/>
                <a:cs typeface="Century Schoolbook"/>
                <a:sym typeface="Century Schoolbook"/>
              </a:rPr>
              <a:t>	- Calculate the derivative of the cost function with respect to model parameters 	(weights and bias) to determine the direction of gradient descent.</a:t>
            </a:r>
          </a:p>
          <a:p>
            <a:pPr marL="355600" marR="5080" lvl="0" indent="-342900">
              <a:lnSpc>
                <a:spcPct val="101800"/>
              </a:lnSpc>
              <a:buSzPts val="24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Vectorization Across Multiple Training Examples:</a:t>
            </a:r>
          </a:p>
          <a:p>
            <a:pPr marL="12700" marR="5080" lvl="0">
              <a:lnSpc>
                <a:spcPct val="101800"/>
              </a:lnSpc>
              <a:buSzPts val="2400"/>
            </a:pPr>
            <a:r>
              <a:rPr lang="en-US" sz="1200" b="0" i="0" u="none" strike="noStrike" cap="none" dirty="0">
                <a:solidFill>
                  <a:schemeClr val="dk1"/>
                </a:solidFill>
                <a:latin typeface="Calibri"/>
                <a:ea typeface="Century Schoolbook"/>
                <a:cs typeface="Century Schoolbook"/>
                <a:sym typeface="Century Schoolbook"/>
              </a:rPr>
              <a:t>	- </a:t>
            </a:r>
            <a:r>
              <a:rPr lang="en-US" sz="1200" b="0" i="0" u="none" strike="noStrike" cap="none" dirty="0" err="1">
                <a:solidFill>
                  <a:schemeClr val="dk1"/>
                </a:solidFill>
                <a:latin typeface="Calibri"/>
                <a:ea typeface="Century Schoolbook"/>
                <a:cs typeface="Century Schoolbook"/>
                <a:sym typeface="Century Schoolbook"/>
              </a:rPr>
              <a:t>Vectorize</a:t>
            </a:r>
            <a:r>
              <a:rPr lang="en-US" sz="1200" b="0" i="0" u="none" strike="noStrike" cap="none" dirty="0">
                <a:solidFill>
                  <a:schemeClr val="dk1"/>
                </a:solidFill>
                <a:latin typeface="Calibri"/>
                <a:ea typeface="Century Schoolbook"/>
                <a:cs typeface="Century Schoolbook"/>
                <a:sym typeface="Century Schoolbook"/>
              </a:rPr>
              <a:t> calculations to process multiple training examples simultaneously.</a:t>
            </a:r>
          </a:p>
          <a:p>
            <a:pPr marL="12700" marR="5080" lvl="0">
              <a:lnSpc>
                <a:spcPct val="101800"/>
              </a:lnSpc>
              <a:buSzPts val="2400"/>
            </a:pPr>
            <a:r>
              <a:rPr lang="en-US" sz="1200" b="0" i="0" u="none" strike="noStrike" cap="none" dirty="0">
                <a:solidFill>
                  <a:schemeClr val="dk1"/>
                </a:solidFill>
                <a:latin typeface="Calibri"/>
                <a:ea typeface="Century Schoolbook"/>
                <a:cs typeface="Century Schoolbook"/>
                <a:sym typeface="Century Schoolbook"/>
              </a:rPr>
              <a:t>	- Utilize matrices to represent multiple examples and perform operations in 	parallel.</a:t>
            </a:r>
          </a:p>
          <a:p>
            <a:pPr marL="355600" marR="5080" lvl="0" indent="-342900">
              <a:lnSpc>
                <a:spcPct val="101800"/>
              </a:lnSpc>
              <a:buSzPts val="2400"/>
              <a:buFont typeface="Arial" panose="020B0604020202020204" pitchFamily="34" charset="0"/>
              <a:buChar char="•"/>
            </a:pPr>
            <a:r>
              <a:rPr lang="en-US" sz="1200" b="0" i="0" u="none" strike="noStrike" cap="none" dirty="0">
                <a:solidFill>
                  <a:schemeClr val="dk1"/>
                </a:solidFill>
                <a:latin typeface="Calibri"/>
                <a:ea typeface="Century Schoolbook"/>
                <a:cs typeface="Century Schoolbook"/>
                <a:sym typeface="Century Schoolbook"/>
              </a:rPr>
              <a:t>The Concept of Broadcasting:</a:t>
            </a:r>
          </a:p>
          <a:p>
            <a:pPr marL="12700" marR="5080" lvl="0">
              <a:lnSpc>
                <a:spcPct val="101800"/>
              </a:lnSpc>
              <a:buSzPts val="2400"/>
            </a:pPr>
            <a:r>
              <a:rPr lang="en-US" sz="1200" b="0" i="0" u="none" strike="noStrike" cap="none" dirty="0">
                <a:solidFill>
                  <a:schemeClr val="dk1"/>
                </a:solidFill>
                <a:latin typeface="Calibri"/>
                <a:ea typeface="Century Schoolbook"/>
                <a:cs typeface="Century Schoolbook"/>
                <a:sym typeface="Century Schoolbook"/>
              </a:rPr>
              <a:t>	- Broadcasting allows element-wise operations between arrays of different 	shapes.</a:t>
            </a:r>
          </a:p>
          <a:p>
            <a:pPr marL="12700" marR="5080" lvl="0">
              <a:lnSpc>
                <a:spcPct val="101800"/>
              </a:lnSpc>
              <a:buSzPts val="2400"/>
            </a:pPr>
            <a:r>
              <a:rPr lang="en-US" sz="1200" b="0" i="0" u="none" strike="noStrike" cap="none" dirty="0">
                <a:solidFill>
                  <a:schemeClr val="dk1"/>
                </a:solidFill>
                <a:latin typeface="Calibri"/>
                <a:ea typeface="Century Schoolbook"/>
                <a:cs typeface="Century Schoolbook"/>
                <a:sym typeface="Century Schoolbook"/>
              </a:rPr>
              <a:t>	- In </a:t>
            </a:r>
            <a:r>
              <a:rPr lang="en-US" sz="1200" b="0" i="0" u="none" strike="noStrike" cap="none" dirty="0" err="1">
                <a:solidFill>
                  <a:schemeClr val="dk1"/>
                </a:solidFill>
                <a:latin typeface="Calibri"/>
                <a:ea typeface="Century Schoolbook"/>
                <a:cs typeface="Century Schoolbook"/>
                <a:sym typeface="Century Schoolbook"/>
              </a:rPr>
              <a:t>NumPy</a:t>
            </a:r>
            <a:r>
              <a:rPr lang="en-US" sz="1200" b="0" i="0" u="none" strike="noStrike" cap="none" dirty="0">
                <a:solidFill>
                  <a:schemeClr val="dk1"/>
                </a:solidFill>
                <a:latin typeface="Calibri"/>
                <a:ea typeface="Century Schoolbook"/>
                <a:cs typeface="Century Schoolbook"/>
                <a:sym typeface="Century Schoolbook"/>
              </a:rPr>
              <a:t> or similar libraries, smaller arrays are "broadcasted" to match the 	shape of larger arrays, facilitating efficient computations.</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63</a:t>
            </a:fld>
            <a:endParaRPr/>
          </a:p>
        </p:txBody>
      </p:sp>
    </p:spTree>
    <p:extLst>
      <p:ext uri="{BB962C8B-B14F-4D97-AF65-F5344CB8AC3E}">
        <p14:creationId xmlns:p14="http://schemas.microsoft.com/office/powerpoint/2010/main" val="1985413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458279" y="1121825"/>
            <a:ext cx="11275441"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458279" y="1121825"/>
            <a:ext cx="11275441" cy="18542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261620" y="452963"/>
            <a:ext cx="11668759" cy="6959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58279" y="1121825"/>
            <a:ext cx="11275441"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458279" y="1121825"/>
            <a:ext cx="11275441"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9"/>
        <p:cNvGrpSpPr/>
        <p:nvPr/>
      </p:nvGrpSpPr>
      <p:grpSpPr>
        <a:xfrm>
          <a:off x="0" y="0"/>
          <a:ext cx="0" cy="0"/>
          <a:chOff x="0" y="0"/>
          <a:chExt cx="0" cy="0"/>
        </a:xfrm>
      </p:grpSpPr>
      <p:sp>
        <p:nvSpPr>
          <p:cNvPr id="40" name="Google Shape;40;p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8279" y="1121825"/>
            <a:ext cx="11275441" cy="18542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8279" y="1121825"/>
            <a:ext cx="11275441" cy="18542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12.jp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3.xml"/><Relationship Id="rId5"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1999713" y="61376"/>
            <a:ext cx="8279100" cy="92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dirty="0">
                <a:latin typeface="+mj-lt"/>
              </a:rPr>
              <a:t>Basic Neural Network</a:t>
            </a:r>
            <a:endParaRPr dirty="0">
              <a:latin typeface="+mj-lt"/>
            </a:endParaRPr>
          </a:p>
        </p:txBody>
      </p:sp>
      <p:sp>
        <p:nvSpPr>
          <p:cNvPr id="49" name="Google Shape;49;p7"/>
          <p:cNvSpPr txBox="1">
            <a:spLocks noGrp="1"/>
          </p:cNvSpPr>
          <p:nvPr>
            <p:ph type="body" idx="1"/>
          </p:nvPr>
        </p:nvSpPr>
        <p:spPr>
          <a:xfrm>
            <a:off x="4582758" y="1337835"/>
            <a:ext cx="7454097" cy="517064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b="1" dirty="0">
                <a:latin typeface="+mn-lt"/>
              </a:rPr>
              <a:t>Learning Objectives:</a:t>
            </a:r>
          </a:p>
          <a:p>
            <a:pPr marL="342900" lvl="0" indent="-342900">
              <a:buSzPct val="100000"/>
              <a:buFont typeface="Arial" panose="020B0604020202020204" pitchFamily="34" charset="0"/>
              <a:buChar char="•"/>
            </a:pPr>
            <a:r>
              <a:rPr lang="en-US" sz="2400" dirty="0">
                <a:latin typeface="+mn-lt"/>
              </a:rPr>
              <a:t>Build a logistic regression model structured as a shallow neural network</a:t>
            </a:r>
          </a:p>
          <a:p>
            <a:pPr marL="342900" lvl="0" indent="-342900">
              <a:buSzPct val="100000"/>
              <a:buFont typeface="Arial" panose="020B0604020202020204" pitchFamily="34" charset="0"/>
              <a:buChar char="•"/>
            </a:pPr>
            <a:r>
              <a:rPr lang="en-US" sz="2400" dirty="0">
                <a:latin typeface="+mn-lt"/>
              </a:rPr>
              <a:t>Gradient calculation, and optimization implementation (gradient descent)</a:t>
            </a:r>
          </a:p>
          <a:p>
            <a:pPr marL="342900" lvl="0" indent="-342900">
              <a:buSzPct val="100000"/>
              <a:buFont typeface="Arial" panose="020B0604020202020204" pitchFamily="34" charset="0"/>
              <a:buChar char="•"/>
            </a:pPr>
            <a:r>
              <a:rPr lang="en-US" sz="2400" dirty="0">
                <a:latin typeface="+mn-lt"/>
              </a:rPr>
              <a:t>Implement computationally efficient and highly </a:t>
            </a:r>
            <a:r>
              <a:rPr lang="en-US" sz="2400" dirty="0" err="1">
                <a:latin typeface="+mn-lt"/>
              </a:rPr>
              <a:t>vectorized</a:t>
            </a:r>
            <a:r>
              <a:rPr lang="en-US" sz="2400" dirty="0">
                <a:latin typeface="+mn-lt"/>
              </a:rPr>
              <a:t> versions of models</a:t>
            </a:r>
          </a:p>
          <a:p>
            <a:pPr marL="342900" lvl="0" indent="-342900">
              <a:buSzPct val="100000"/>
              <a:buFont typeface="Arial" panose="020B0604020202020204" pitchFamily="34" charset="0"/>
              <a:buChar char="•"/>
            </a:pPr>
            <a:r>
              <a:rPr lang="en-US" sz="2400" dirty="0">
                <a:latin typeface="+mn-lt"/>
              </a:rPr>
              <a:t>Compute derivatives for logistic regression, using a backpropagation mindset</a:t>
            </a:r>
          </a:p>
          <a:p>
            <a:pPr marL="342900" lvl="0" indent="-342900">
              <a:buSzPct val="100000"/>
              <a:buFont typeface="Arial" panose="020B0604020202020204" pitchFamily="34" charset="0"/>
              <a:buChar char="•"/>
            </a:pPr>
            <a:r>
              <a:rPr lang="en-US" sz="2400" dirty="0">
                <a:latin typeface="+mn-lt"/>
              </a:rPr>
              <a:t>Use </a:t>
            </a:r>
            <a:r>
              <a:rPr lang="en-US" sz="2400" dirty="0" err="1">
                <a:latin typeface="+mn-lt"/>
              </a:rPr>
              <a:t>Numpy</a:t>
            </a:r>
            <a:r>
              <a:rPr lang="en-US" sz="2400" dirty="0">
                <a:latin typeface="+mn-lt"/>
              </a:rPr>
              <a:t> functions and </a:t>
            </a:r>
            <a:r>
              <a:rPr lang="en-US" sz="2400" dirty="0" err="1">
                <a:latin typeface="+mn-lt"/>
              </a:rPr>
              <a:t>Numpy</a:t>
            </a:r>
            <a:r>
              <a:rPr lang="en-US" sz="2400" dirty="0">
                <a:latin typeface="+mn-lt"/>
              </a:rPr>
              <a:t> matrix/vector operations</a:t>
            </a:r>
          </a:p>
          <a:p>
            <a:pPr marL="342900" lvl="0" indent="-342900">
              <a:buSzPct val="100000"/>
              <a:buFont typeface="Arial" panose="020B0604020202020204" pitchFamily="34" charset="0"/>
              <a:buChar char="•"/>
            </a:pPr>
            <a:r>
              <a:rPr lang="en-US" sz="2400" dirty="0">
                <a:latin typeface="+mn-lt"/>
              </a:rPr>
              <a:t>Implement vectorization across multiple training examples</a:t>
            </a:r>
          </a:p>
          <a:p>
            <a:pPr marL="342900" lvl="0" indent="-342900">
              <a:buSzPct val="100000"/>
              <a:buFont typeface="Arial" panose="020B0604020202020204" pitchFamily="34" charset="0"/>
              <a:buChar char="•"/>
            </a:pPr>
            <a:r>
              <a:rPr lang="en-US" sz="2400" dirty="0">
                <a:latin typeface="+mn-lt"/>
              </a:rPr>
              <a:t>Explain the concept of broadcasting</a:t>
            </a:r>
            <a:endParaRPr sz="2400" dirty="0">
              <a:latin typeface="+mn-lt"/>
            </a:endParaRPr>
          </a:p>
        </p:txBody>
      </p:sp>
      <p:pic>
        <p:nvPicPr>
          <p:cNvPr id="50" name="Google Shape;50;p7"/>
          <p:cNvPicPr preferRelativeResize="0"/>
          <p:nvPr/>
        </p:nvPicPr>
        <p:blipFill rotWithShape="1">
          <a:blip r:embed="rId3">
            <a:alphaModFix/>
          </a:blip>
          <a:srcRect/>
          <a:stretch/>
        </p:blipFill>
        <p:spPr>
          <a:xfrm>
            <a:off x="63900" y="26297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1999713" y="61376"/>
            <a:ext cx="8279100" cy="92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dirty="0">
                <a:latin typeface="+mj-lt"/>
              </a:rPr>
              <a:t>Basic Neural Network</a:t>
            </a:r>
            <a:endParaRPr dirty="0">
              <a:latin typeface="+mj-lt"/>
            </a:endParaRPr>
          </a:p>
        </p:txBody>
      </p:sp>
      <p:sp>
        <p:nvSpPr>
          <p:cNvPr id="49" name="Google Shape;49;p7"/>
          <p:cNvSpPr txBox="1">
            <a:spLocks noGrp="1"/>
          </p:cNvSpPr>
          <p:nvPr>
            <p:ph type="body" idx="1"/>
          </p:nvPr>
        </p:nvSpPr>
        <p:spPr>
          <a:xfrm>
            <a:off x="4128725" y="1266958"/>
            <a:ext cx="7865100" cy="51717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dirty="0"/>
              <a:t>1   Binary Classification</a:t>
            </a:r>
            <a:endParaRPr sz="2400" dirty="0"/>
          </a:p>
          <a:p>
            <a:pPr marL="0" lvl="0" indent="0" algn="l" rtl="0">
              <a:lnSpc>
                <a:spcPct val="100000"/>
              </a:lnSpc>
              <a:spcBef>
                <a:spcPts val="0"/>
              </a:spcBef>
              <a:spcAft>
                <a:spcPts val="0"/>
              </a:spcAft>
              <a:buSzPts val="1400"/>
              <a:buNone/>
            </a:pPr>
            <a:r>
              <a:rPr lang="en-US" sz="2400" dirty="0"/>
              <a:t>2   Logistic Regression</a:t>
            </a:r>
            <a:endParaRPr sz="2400" dirty="0"/>
          </a:p>
          <a:p>
            <a:pPr marL="0" lvl="0" indent="0" algn="l" rtl="0">
              <a:lnSpc>
                <a:spcPct val="100000"/>
              </a:lnSpc>
              <a:spcBef>
                <a:spcPts val="0"/>
              </a:spcBef>
              <a:spcAft>
                <a:spcPts val="0"/>
              </a:spcAft>
              <a:buSzPts val="1400"/>
              <a:buNone/>
            </a:pPr>
            <a:r>
              <a:rPr lang="en-US" sz="2400" dirty="0"/>
              <a:t>3   Logistic Regression  cost function</a:t>
            </a:r>
            <a:endParaRPr sz="2400" dirty="0"/>
          </a:p>
          <a:p>
            <a:pPr marL="0" lvl="0" indent="0" algn="l" rtl="0">
              <a:lnSpc>
                <a:spcPct val="100000"/>
              </a:lnSpc>
              <a:spcBef>
                <a:spcPts val="0"/>
              </a:spcBef>
              <a:spcAft>
                <a:spcPts val="0"/>
              </a:spcAft>
              <a:buSzPts val="1400"/>
              <a:buNone/>
            </a:pPr>
            <a:r>
              <a:rPr lang="en-US" sz="2400" dirty="0"/>
              <a:t>4   Gradient Descent</a:t>
            </a:r>
            <a:endParaRPr sz="2400" dirty="0"/>
          </a:p>
          <a:p>
            <a:pPr marL="0" lvl="0" indent="0" algn="l" rtl="0">
              <a:lnSpc>
                <a:spcPct val="100000"/>
              </a:lnSpc>
              <a:spcBef>
                <a:spcPts val="0"/>
              </a:spcBef>
              <a:spcAft>
                <a:spcPts val="0"/>
              </a:spcAft>
              <a:buSzPts val="1400"/>
              <a:buNone/>
            </a:pPr>
            <a:r>
              <a:rPr lang="en-US" sz="2400" dirty="0"/>
              <a:t>5   Derivatives</a:t>
            </a:r>
            <a:endParaRPr sz="2400" dirty="0"/>
          </a:p>
          <a:p>
            <a:pPr marL="0" lvl="0" indent="0" algn="l" rtl="0">
              <a:lnSpc>
                <a:spcPct val="100000"/>
              </a:lnSpc>
              <a:spcBef>
                <a:spcPts val="0"/>
              </a:spcBef>
              <a:spcAft>
                <a:spcPts val="0"/>
              </a:spcAft>
              <a:buSzPts val="1400"/>
              <a:buNone/>
            </a:pPr>
            <a:r>
              <a:rPr lang="en-US" sz="2400" dirty="0"/>
              <a:t>6   Computation Graph</a:t>
            </a:r>
            <a:endParaRPr sz="2400" dirty="0"/>
          </a:p>
          <a:p>
            <a:pPr marL="0" lvl="0" indent="0" algn="l" rtl="0">
              <a:lnSpc>
                <a:spcPct val="100000"/>
              </a:lnSpc>
              <a:spcBef>
                <a:spcPts val="0"/>
              </a:spcBef>
              <a:spcAft>
                <a:spcPts val="0"/>
              </a:spcAft>
              <a:buSzPts val="1400"/>
              <a:buNone/>
            </a:pPr>
            <a:r>
              <a:rPr lang="en-US" sz="2400" dirty="0"/>
              <a:t>7   Derivatives with a  Computation Graph</a:t>
            </a:r>
            <a:endParaRPr sz="2400" dirty="0"/>
          </a:p>
          <a:p>
            <a:pPr marL="0" lvl="0" indent="0" algn="l" rtl="0">
              <a:lnSpc>
                <a:spcPct val="100000"/>
              </a:lnSpc>
              <a:spcBef>
                <a:spcPts val="0"/>
              </a:spcBef>
              <a:spcAft>
                <a:spcPts val="0"/>
              </a:spcAft>
              <a:buSzPts val="1400"/>
              <a:buNone/>
            </a:pPr>
            <a:r>
              <a:rPr lang="en-US" sz="2400" dirty="0"/>
              <a:t>8   Logistic Regression  Gradient descent</a:t>
            </a:r>
            <a:endParaRPr sz="2400" dirty="0"/>
          </a:p>
          <a:p>
            <a:pPr marL="0" lvl="0" indent="0" algn="l" rtl="0">
              <a:lnSpc>
                <a:spcPct val="100000"/>
              </a:lnSpc>
              <a:spcBef>
                <a:spcPts val="0"/>
              </a:spcBef>
              <a:spcAft>
                <a:spcPts val="0"/>
              </a:spcAft>
              <a:buSzPts val="1400"/>
              <a:buNone/>
            </a:pPr>
            <a:r>
              <a:rPr lang="en-US" sz="2400" dirty="0"/>
              <a:t>9   Gradient descent  on </a:t>
            </a:r>
            <a:r>
              <a:rPr lang="en-US" sz="2400" i="1" dirty="0">
                <a:latin typeface="Century Schoolbook"/>
                <a:ea typeface="Century Schoolbook"/>
                <a:cs typeface="Century Schoolbook"/>
                <a:sym typeface="Century Schoolbook"/>
              </a:rPr>
              <a:t>m </a:t>
            </a:r>
            <a:r>
              <a:rPr lang="en-US" sz="2400" dirty="0"/>
              <a:t>examples</a:t>
            </a:r>
            <a:endParaRPr sz="2400" dirty="0"/>
          </a:p>
          <a:p>
            <a:pPr marL="0" lvl="0" indent="0" algn="l" rtl="0">
              <a:lnSpc>
                <a:spcPct val="100000"/>
              </a:lnSpc>
              <a:spcBef>
                <a:spcPts val="0"/>
              </a:spcBef>
              <a:spcAft>
                <a:spcPts val="0"/>
              </a:spcAft>
              <a:buSzPts val="1400"/>
              <a:buNone/>
            </a:pPr>
            <a:r>
              <a:rPr lang="en-US" sz="2400" dirty="0"/>
              <a:t>10 Vectorization</a:t>
            </a:r>
            <a:endParaRPr sz="2400" dirty="0"/>
          </a:p>
          <a:p>
            <a:pPr marL="0" lvl="0" indent="0" algn="l" rtl="0">
              <a:lnSpc>
                <a:spcPct val="100000"/>
              </a:lnSpc>
              <a:spcBef>
                <a:spcPts val="0"/>
              </a:spcBef>
              <a:spcAft>
                <a:spcPts val="0"/>
              </a:spcAft>
              <a:buSzPts val="1400"/>
              <a:buNone/>
            </a:pPr>
            <a:r>
              <a:rPr lang="en-US" sz="2400" dirty="0"/>
              <a:t>11 </a:t>
            </a:r>
            <a:r>
              <a:rPr lang="en-US" sz="2400" dirty="0" err="1"/>
              <a:t>Vectorizing</a:t>
            </a:r>
            <a:r>
              <a:rPr lang="en-US" sz="2400" dirty="0"/>
              <a:t> Logistic  Regression</a:t>
            </a:r>
            <a:endParaRPr sz="2400" dirty="0"/>
          </a:p>
          <a:p>
            <a:pPr marL="0" lvl="0" indent="0" algn="l" rtl="0">
              <a:lnSpc>
                <a:spcPct val="100000"/>
              </a:lnSpc>
              <a:spcBef>
                <a:spcPts val="0"/>
              </a:spcBef>
              <a:spcAft>
                <a:spcPts val="0"/>
              </a:spcAft>
              <a:buSzPts val="1400"/>
              <a:buNone/>
            </a:pPr>
            <a:r>
              <a:rPr lang="en-US" sz="2400" dirty="0"/>
              <a:t>12 </a:t>
            </a:r>
            <a:r>
              <a:rPr lang="en-US" sz="2400" dirty="0" err="1"/>
              <a:t>Vectorizing</a:t>
            </a:r>
            <a:r>
              <a:rPr lang="en-US" sz="2400" dirty="0"/>
              <a:t> Logistic  Regression’s Gradient  Output</a:t>
            </a:r>
            <a:endParaRPr sz="2400" dirty="0"/>
          </a:p>
          <a:p>
            <a:pPr marL="0" lvl="0" indent="0" algn="l" rtl="0">
              <a:lnSpc>
                <a:spcPct val="100000"/>
              </a:lnSpc>
              <a:spcBef>
                <a:spcPts val="0"/>
              </a:spcBef>
              <a:spcAft>
                <a:spcPts val="0"/>
              </a:spcAft>
              <a:buSzPts val="1400"/>
              <a:buNone/>
            </a:pPr>
            <a:r>
              <a:rPr lang="en-US" sz="2400" dirty="0"/>
              <a:t>13 Broadcasting in Python</a:t>
            </a:r>
            <a:endParaRPr sz="2400" dirty="0"/>
          </a:p>
          <a:p>
            <a:pPr marL="0" lvl="0" indent="0" algn="l" rtl="0">
              <a:lnSpc>
                <a:spcPct val="100000"/>
              </a:lnSpc>
              <a:spcBef>
                <a:spcPts val="0"/>
              </a:spcBef>
              <a:spcAft>
                <a:spcPts val="0"/>
              </a:spcAft>
              <a:buSzPts val="1400"/>
              <a:buNone/>
            </a:pPr>
            <a:r>
              <a:rPr lang="en-US" sz="2400" dirty="0"/>
              <a:t>14 Explanation of logistic  regression cost function  (Optional)</a:t>
            </a:r>
            <a:endParaRPr sz="2400" dirty="0"/>
          </a:p>
        </p:txBody>
      </p:sp>
      <p:pic>
        <p:nvPicPr>
          <p:cNvPr id="50" name="Google Shape;50;p7"/>
          <p:cNvPicPr preferRelativeResize="0"/>
          <p:nvPr/>
        </p:nvPicPr>
        <p:blipFill rotWithShape="1">
          <a:blip r:embed="rId3">
            <a:alphaModFix/>
          </a:blip>
          <a:srcRect/>
          <a:stretch/>
        </p:blipFill>
        <p:spPr>
          <a:xfrm>
            <a:off x="63900" y="26297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825876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4"/>
        <p:cNvGrpSpPr/>
        <p:nvPr/>
      </p:nvGrpSpPr>
      <p:grpSpPr>
        <a:xfrm>
          <a:off x="0" y="0"/>
          <a:ext cx="0" cy="0"/>
          <a:chOff x="0" y="0"/>
          <a:chExt cx="0" cy="0"/>
        </a:xfrm>
      </p:grpSpPr>
      <p:sp>
        <p:nvSpPr>
          <p:cNvPr id="55" name="Google Shape;55;p8"/>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6" name="Google Shape;56;p8"/>
          <p:cNvSpPr txBox="1">
            <a:spLocks noGrp="1"/>
          </p:cNvSpPr>
          <p:nvPr>
            <p:ph type="body" idx="1"/>
          </p:nvPr>
        </p:nvSpPr>
        <p:spPr>
          <a:xfrm>
            <a:off x="607953" y="1135450"/>
            <a:ext cx="11733600" cy="1860000"/>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57" name="Google Shape;57;p8"/>
          <p:cNvSpPr txBox="1"/>
          <p:nvPr/>
        </p:nvSpPr>
        <p:spPr>
          <a:xfrm>
            <a:off x="5136197" y="3831167"/>
            <a:ext cx="6196330" cy="185948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Binary Classification</a:t>
            </a:r>
            <a:endParaRPr sz="6000" b="0" i="0" u="none" strike="noStrike" cap="none" dirty="0">
              <a:solidFill>
                <a:schemeClr val="dk1"/>
              </a:solidFill>
              <a:latin typeface="+mj-lt"/>
              <a:ea typeface="Calibri"/>
              <a:cs typeface="Calibri"/>
              <a:sym typeface="Calibri"/>
            </a:endParaRPr>
          </a:p>
        </p:txBody>
      </p:sp>
      <p:pic>
        <p:nvPicPr>
          <p:cNvPr id="58" name="Google Shape;58;p8"/>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395654" y="1245806"/>
            <a:ext cx="11306908" cy="3706143"/>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Binary classification is a supervised learning algorithm that classify input data into one of two categories or classes. The output of the algorithm is a binary decision, such as "yes" or "no", "true" or "false", or 1 or 0. </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The goal is to learn a model that can correctly classify new input data based on patterns or features extracted from the input data. </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Examples: predict whether an email is spam or not spam, or to recognize whether an image contains a cat or not.</a:t>
            </a:r>
          </a:p>
          <a:p>
            <a:pPr marL="355600" lvl="0" indent="-342900">
              <a:buSzPts val="2800"/>
              <a:buFont typeface="Arial" panose="020B0604020202020204" pitchFamily="34" charset="0"/>
              <a:buChar char="•"/>
            </a:pPr>
            <a:r>
              <a:rPr lang="en-US" sz="2400" b="1" dirty="0">
                <a:solidFill>
                  <a:schemeClr val="dk1"/>
                </a:solidFill>
                <a:latin typeface="+mj-lt"/>
                <a:ea typeface="Century Schoolbook"/>
                <a:cs typeface="Century Schoolbook"/>
                <a:sym typeface="Century Schoolbook"/>
              </a:rPr>
              <a:t>Logistic regression</a:t>
            </a:r>
            <a:r>
              <a:rPr lang="en-US" sz="2400" dirty="0">
                <a:solidFill>
                  <a:schemeClr val="dk1"/>
                </a:solidFill>
                <a:latin typeface="+mj-lt"/>
                <a:ea typeface="Century Schoolbook"/>
                <a:cs typeface="Century Schoolbook"/>
                <a:sym typeface="Century Schoolbook"/>
              </a:rPr>
              <a:t> is an algorithm used to solve </a:t>
            </a:r>
            <a:r>
              <a:rPr lang="en-US" sz="2400" dirty="0">
                <a:solidFill>
                  <a:schemeClr val="dk1"/>
                </a:solidFill>
                <a:ea typeface="Century Schoolbook"/>
                <a:cs typeface="Century Schoolbook"/>
                <a:sym typeface="Century Schoolbook"/>
              </a:rPr>
              <a:t>the binary classification problems</a:t>
            </a:r>
            <a:r>
              <a:rPr lang="en-US" sz="2400" dirty="0">
                <a:solidFill>
                  <a:schemeClr val="dk1"/>
                </a:solidFill>
                <a:latin typeface="+mj-lt"/>
                <a:ea typeface="Century Schoolbook"/>
                <a:cs typeface="Century Schoolbook"/>
                <a:sym typeface="Century Schoolbook"/>
              </a:rPr>
              <a:t>. </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Consider example in the next slide.</a:t>
            </a:r>
            <a:endParaRPr sz="2400" b="0" i="0" u="none" strike="noStrike" cap="none" dirty="0">
              <a:solidFill>
                <a:schemeClr val="dk1"/>
              </a:solidFill>
              <a:latin typeface="+mj-lt"/>
              <a:ea typeface="Century Schoolbook"/>
              <a:cs typeface="Century Schoolbook"/>
              <a:sym typeface="Century Schoolbook"/>
            </a:endParaRPr>
          </a:p>
        </p:txBody>
      </p:sp>
      <p:sp>
        <p:nvSpPr>
          <p:cNvPr id="66" name="Google Shape;66;p9"/>
          <p:cNvSpPr txBox="1"/>
          <p:nvPr/>
        </p:nvSpPr>
        <p:spPr>
          <a:xfrm>
            <a:off x="138374" y="156629"/>
            <a:ext cx="5478780"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mn-lt"/>
                <a:ea typeface="Century Schoolbook"/>
                <a:cs typeface="Century Schoolbook"/>
                <a:sym typeface="Century Schoolbook"/>
              </a:rPr>
              <a:t>Binary Classification</a:t>
            </a:r>
            <a:endParaRPr sz="4400" b="0" i="0" u="none" strike="noStrike" cap="none" dirty="0">
              <a:solidFill>
                <a:schemeClr val="dk1"/>
              </a:solidFill>
              <a:latin typeface="+mn-lt"/>
              <a:ea typeface="Century Schoolbook"/>
              <a:cs typeface="Century Schoolbook"/>
              <a:sym typeface="Century Schoolbook"/>
            </a:endParaRP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pic>
        <p:nvPicPr>
          <p:cNvPr id="63" name="Google Shape;63;p9"/>
          <p:cNvPicPr preferRelativeResize="0"/>
          <p:nvPr/>
        </p:nvPicPr>
        <p:blipFill rotWithShape="1">
          <a:blip r:embed="rId3">
            <a:alphaModFix/>
          </a:blip>
          <a:srcRect/>
          <a:stretch/>
        </p:blipFill>
        <p:spPr>
          <a:xfrm>
            <a:off x="1159932" y="1261529"/>
            <a:ext cx="3403600" cy="2269070"/>
          </a:xfrm>
          <a:prstGeom prst="rect">
            <a:avLst/>
          </a:prstGeom>
          <a:noFill/>
          <a:ln>
            <a:noFill/>
          </a:ln>
        </p:spPr>
      </p:pic>
      <p:sp>
        <p:nvSpPr>
          <p:cNvPr id="64" name="Google Shape;64;p9"/>
          <p:cNvSpPr/>
          <p:nvPr/>
        </p:nvSpPr>
        <p:spPr>
          <a:xfrm>
            <a:off x="5059210" y="2332989"/>
            <a:ext cx="2148840" cy="127000"/>
          </a:xfrm>
          <a:custGeom>
            <a:avLst/>
            <a:gdLst/>
            <a:ahLst/>
            <a:cxnLst/>
            <a:rect l="l" t="t" r="r" b="b"/>
            <a:pathLst>
              <a:path w="2148840" h="127000" extrusionOk="0">
                <a:moveTo>
                  <a:pt x="2072639" y="63499"/>
                </a:moveTo>
                <a:lnTo>
                  <a:pt x="2021839" y="126999"/>
                </a:lnTo>
                <a:lnTo>
                  <a:pt x="2131923" y="71958"/>
                </a:lnTo>
                <a:lnTo>
                  <a:pt x="2072639" y="71958"/>
                </a:lnTo>
                <a:lnTo>
                  <a:pt x="2072639" y="63499"/>
                </a:lnTo>
                <a:close/>
              </a:path>
              <a:path w="2148840" h="127000" extrusionOk="0">
                <a:moveTo>
                  <a:pt x="2065863" y="55029"/>
                </a:moveTo>
                <a:lnTo>
                  <a:pt x="0" y="55029"/>
                </a:lnTo>
                <a:lnTo>
                  <a:pt x="0" y="71958"/>
                </a:lnTo>
                <a:lnTo>
                  <a:pt x="2065873" y="71958"/>
                </a:lnTo>
                <a:lnTo>
                  <a:pt x="2072639" y="63499"/>
                </a:lnTo>
                <a:lnTo>
                  <a:pt x="2065863" y="55029"/>
                </a:lnTo>
                <a:close/>
              </a:path>
              <a:path w="2148840" h="127000" extrusionOk="0">
                <a:moveTo>
                  <a:pt x="2131898" y="55029"/>
                </a:moveTo>
                <a:lnTo>
                  <a:pt x="2072639" y="55029"/>
                </a:lnTo>
                <a:lnTo>
                  <a:pt x="2072639" y="71958"/>
                </a:lnTo>
                <a:lnTo>
                  <a:pt x="2131923" y="71958"/>
                </a:lnTo>
                <a:lnTo>
                  <a:pt x="2148840" y="63499"/>
                </a:lnTo>
                <a:lnTo>
                  <a:pt x="2131898" y="55029"/>
                </a:lnTo>
                <a:close/>
              </a:path>
              <a:path w="2148840" h="127000" extrusionOk="0">
                <a:moveTo>
                  <a:pt x="2021839" y="0"/>
                </a:moveTo>
                <a:lnTo>
                  <a:pt x="2072639" y="63499"/>
                </a:lnTo>
                <a:lnTo>
                  <a:pt x="2072639" y="55029"/>
                </a:lnTo>
                <a:lnTo>
                  <a:pt x="2131898" y="55029"/>
                </a:lnTo>
                <a:lnTo>
                  <a:pt x="202183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65;p9"/>
          <p:cNvSpPr txBox="1"/>
          <p:nvPr/>
        </p:nvSpPr>
        <p:spPr>
          <a:xfrm>
            <a:off x="7490557" y="2073827"/>
            <a:ext cx="3967928" cy="44371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dirty="0">
                <a:solidFill>
                  <a:schemeClr val="dk1"/>
                </a:solidFill>
                <a:latin typeface="Century Schoolbook"/>
                <a:ea typeface="Century Schoolbook"/>
                <a:cs typeface="Century Schoolbook"/>
                <a:sym typeface="Century Schoolbook"/>
              </a:rPr>
              <a:t>y</a:t>
            </a:r>
            <a:r>
              <a:rPr lang="en-US" sz="2800" b="0" i="0" u="none" strike="noStrike" cap="none" dirty="0">
                <a:solidFill>
                  <a:schemeClr val="dk1"/>
                </a:solidFill>
                <a:latin typeface="Century Schoolbook"/>
                <a:ea typeface="Century Schoolbook"/>
                <a:cs typeface="Century Schoolbook"/>
                <a:sym typeface="Century Schoolbook"/>
              </a:rPr>
              <a:t> = 1 (cat) vs 0 (non cat)</a:t>
            </a:r>
            <a:endParaRPr sz="2800" b="0" i="0" u="none" strike="noStrike" cap="none" dirty="0">
              <a:solidFill>
                <a:schemeClr val="dk1"/>
              </a:solidFill>
              <a:latin typeface="Century Schoolbook"/>
              <a:ea typeface="Century Schoolbook"/>
              <a:cs typeface="Century Schoolbook"/>
              <a:sym typeface="Century Schoolbook"/>
            </a:endParaRPr>
          </a:p>
        </p:txBody>
      </p:sp>
      <p:sp>
        <p:nvSpPr>
          <p:cNvPr id="66" name="Google Shape;66;p9"/>
          <p:cNvSpPr txBox="1"/>
          <p:nvPr/>
        </p:nvSpPr>
        <p:spPr>
          <a:xfrm>
            <a:off x="138374" y="156629"/>
            <a:ext cx="5478780"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mj-lt"/>
                <a:ea typeface="Century Schoolbook"/>
                <a:cs typeface="Century Schoolbook"/>
                <a:sym typeface="Century Schoolbook"/>
              </a:rPr>
              <a:t>Binary Classification</a:t>
            </a:r>
            <a:endParaRPr sz="4400" b="0" i="0" u="none" strike="noStrike" cap="none" dirty="0">
              <a:solidFill>
                <a:schemeClr val="dk1"/>
              </a:solidFill>
              <a:latin typeface="+mj-lt"/>
              <a:ea typeface="Century Schoolbook"/>
              <a:cs typeface="Century Schoolbook"/>
              <a:sym typeface="Century Schoolbook"/>
            </a:endParaRPr>
          </a:p>
        </p:txBody>
      </p:sp>
      <p:pic>
        <p:nvPicPr>
          <p:cNvPr id="67" name="Google Shape;67;p9"/>
          <p:cNvPicPr preferRelativeResize="0"/>
          <p:nvPr/>
        </p:nvPicPr>
        <p:blipFill rotWithShape="1">
          <a:blip r:embed="rId4">
            <a:alphaModFix/>
          </a:blip>
          <a:srcRect/>
          <a:stretch/>
        </p:blipFill>
        <p:spPr>
          <a:xfrm>
            <a:off x="4818076" y="2658814"/>
            <a:ext cx="7364433" cy="682919"/>
          </a:xfrm>
          <a:prstGeom prst="rect">
            <a:avLst/>
          </a:prstGeom>
          <a:noFill/>
          <a:ln>
            <a:noFill/>
          </a:ln>
        </p:spPr>
      </p:pic>
      <p:pic>
        <p:nvPicPr>
          <p:cNvPr id="68" name="Google Shape;68;p9"/>
          <p:cNvPicPr preferRelativeResize="0"/>
          <p:nvPr/>
        </p:nvPicPr>
        <p:blipFill rotWithShape="1">
          <a:blip r:embed="rId5">
            <a:alphaModFix/>
          </a:blip>
          <a:srcRect/>
          <a:stretch/>
        </p:blipFill>
        <p:spPr>
          <a:xfrm>
            <a:off x="4821404" y="3469193"/>
            <a:ext cx="7370595" cy="457306"/>
          </a:xfrm>
          <a:prstGeom prst="rect">
            <a:avLst/>
          </a:prstGeom>
          <a:noFill/>
          <a:ln>
            <a:noFill/>
          </a:ln>
        </p:spPr>
      </p:pic>
      <p:pic>
        <p:nvPicPr>
          <p:cNvPr id="69" name="Google Shape;69;p9"/>
          <p:cNvPicPr preferRelativeResize="0"/>
          <p:nvPr/>
        </p:nvPicPr>
        <p:blipFill rotWithShape="1">
          <a:blip r:embed="rId6">
            <a:alphaModFix/>
          </a:blip>
          <a:srcRect/>
          <a:stretch/>
        </p:blipFill>
        <p:spPr>
          <a:xfrm>
            <a:off x="6305242" y="4209050"/>
            <a:ext cx="1448038" cy="2362536"/>
          </a:xfrm>
          <a:prstGeom prst="rect">
            <a:avLst/>
          </a:prstGeom>
          <a:noFill/>
          <a:ln>
            <a:noFill/>
          </a:ln>
        </p:spPr>
      </p:pic>
      <p:pic>
        <p:nvPicPr>
          <p:cNvPr id="70" name="Google Shape;70;p9"/>
          <p:cNvPicPr preferRelativeResize="0"/>
          <p:nvPr/>
        </p:nvPicPr>
        <p:blipFill rotWithShape="1">
          <a:blip r:embed="rId7">
            <a:alphaModFix/>
          </a:blip>
          <a:srcRect/>
          <a:stretch/>
        </p:blipFill>
        <p:spPr>
          <a:xfrm>
            <a:off x="1330242" y="3926499"/>
            <a:ext cx="3095043" cy="1989688"/>
          </a:xfrm>
          <a:prstGeom prst="rect">
            <a:avLst/>
          </a:prstGeom>
          <a:noFill/>
          <a:ln>
            <a:noFill/>
          </a:ln>
        </p:spPr>
      </p:pic>
      <p:pic>
        <p:nvPicPr>
          <p:cNvPr id="71" name="Google Shape;71;p9"/>
          <p:cNvPicPr preferRelativeResize="0"/>
          <p:nvPr/>
        </p:nvPicPr>
        <p:blipFill rotWithShape="1">
          <a:blip r:embed="rId8">
            <a:alphaModFix/>
          </a:blip>
          <a:srcRect/>
          <a:stretch/>
        </p:blipFill>
        <p:spPr>
          <a:xfrm>
            <a:off x="906611" y="3663339"/>
            <a:ext cx="3892774" cy="2649249"/>
          </a:xfrm>
          <a:prstGeom prst="rect">
            <a:avLst/>
          </a:prstGeom>
          <a:noFill/>
          <a:ln>
            <a:noFill/>
          </a:ln>
        </p:spPr>
      </p:pic>
      <p:pic>
        <p:nvPicPr>
          <p:cNvPr id="72" name="Google Shape;72;p9"/>
          <p:cNvPicPr preferRelativeResize="0"/>
          <p:nvPr/>
        </p:nvPicPr>
        <p:blipFill rotWithShape="1">
          <a:blip r:embed="rId9">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2921235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138374" y="156629"/>
            <a:ext cx="23031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Notation</a:t>
            </a:r>
            <a:endParaRPr sz="4400" dirty="0">
              <a:latin typeface="+mj-lt"/>
              <a:ea typeface="Century Schoolbook"/>
              <a:cs typeface="Century Schoolbook"/>
              <a:sym typeface="Century Schoolbook"/>
            </a:endParaRPr>
          </a:p>
        </p:txBody>
      </p:sp>
      <p:pic>
        <p:nvPicPr>
          <p:cNvPr id="78" name="Google Shape;78;p10"/>
          <p:cNvPicPr preferRelativeResize="0"/>
          <p:nvPr/>
        </p:nvPicPr>
        <p:blipFill rotWithShape="1">
          <a:blip r:embed="rId3">
            <a:alphaModFix/>
          </a:blip>
          <a:srcRect/>
          <a:stretch/>
        </p:blipFill>
        <p:spPr>
          <a:xfrm>
            <a:off x="88575" y="1148725"/>
            <a:ext cx="5906975" cy="4897125"/>
          </a:xfrm>
          <a:prstGeom prst="rect">
            <a:avLst/>
          </a:prstGeom>
          <a:noFill/>
          <a:ln>
            <a:noFill/>
          </a:ln>
        </p:spPr>
      </p:pic>
      <p:pic>
        <p:nvPicPr>
          <p:cNvPr id="79" name="Google Shape;79;p10"/>
          <p:cNvPicPr preferRelativeResize="0"/>
          <p:nvPr/>
        </p:nvPicPr>
        <p:blipFill rotWithShape="1">
          <a:blip r:embed="rId4">
            <a:alphaModFix/>
          </a:blip>
          <a:srcRect/>
          <a:stretch/>
        </p:blipFill>
        <p:spPr>
          <a:xfrm>
            <a:off x="6318400" y="1848575"/>
            <a:ext cx="5873599" cy="2336608"/>
          </a:xfrm>
          <a:prstGeom prst="rect">
            <a:avLst/>
          </a:prstGeom>
          <a:noFill/>
          <a:ln>
            <a:noFill/>
          </a:ln>
        </p:spPr>
      </p:pic>
      <p:pic>
        <p:nvPicPr>
          <p:cNvPr id="80" name="Google Shape;80;p10"/>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84"/>
        <p:cNvGrpSpPr/>
        <p:nvPr/>
      </p:nvGrpSpPr>
      <p:grpSpPr>
        <a:xfrm>
          <a:off x="0" y="0"/>
          <a:ext cx="0" cy="0"/>
          <a:chOff x="0" y="0"/>
          <a:chExt cx="0" cy="0"/>
        </a:xfrm>
      </p:grpSpPr>
      <p:sp>
        <p:nvSpPr>
          <p:cNvPr id="85" name="Google Shape;85;p11"/>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86;p11"/>
          <p:cNvSpPr txBox="1">
            <a:spLocks noGrp="1"/>
          </p:cNvSpPr>
          <p:nvPr>
            <p:ph type="body" idx="1"/>
          </p:nvPr>
        </p:nvSpPr>
        <p:spPr>
          <a:xfrm>
            <a:off x="458279" y="1121824"/>
            <a:ext cx="11527930" cy="1859483"/>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87" name="Google Shape;87;p11"/>
          <p:cNvSpPr txBox="1"/>
          <p:nvPr/>
        </p:nvSpPr>
        <p:spPr>
          <a:xfrm>
            <a:off x="4544009" y="3814225"/>
            <a:ext cx="7442200" cy="936154"/>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Logistic Regression</a:t>
            </a:r>
            <a:endParaRPr sz="6000" b="0" i="0" u="none" strike="noStrike" cap="none" dirty="0">
              <a:solidFill>
                <a:schemeClr val="dk1"/>
              </a:solidFill>
              <a:latin typeface="+mj-lt"/>
              <a:ea typeface="Calibri"/>
              <a:cs typeface="Calibri"/>
              <a:sym typeface="Calibri"/>
            </a:endParaRPr>
          </a:p>
        </p:txBody>
      </p:sp>
      <p:pic>
        <p:nvPicPr>
          <p:cNvPr id="88" name="Google Shape;88;p11"/>
          <p:cNvPicPr preferRelativeResize="0"/>
          <p:nvPr/>
        </p:nvPicPr>
        <p:blipFill rotWithShape="1">
          <a:blip r:embed="rId3">
            <a:alphaModFix/>
          </a:blip>
          <a:srcRect/>
          <a:stretch/>
        </p:blipFill>
        <p:spPr>
          <a:xfrm>
            <a:off x="458275" y="226570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92"/>
        <p:cNvGrpSpPr/>
        <p:nvPr/>
      </p:nvGrpSpPr>
      <p:grpSpPr>
        <a:xfrm>
          <a:off x="0" y="0"/>
          <a:ext cx="0" cy="0"/>
          <a:chOff x="0" y="0"/>
          <a:chExt cx="0" cy="0"/>
        </a:xfrm>
      </p:grpSpPr>
      <p:sp>
        <p:nvSpPr>
          <p:cNvPr id="93" name="Google Shape;93;p12"/>
          <p:cNvSpPr txBox="1">
            <a:spLocks noGrp="1"/>
          </p:cNvSpPr>
          <p:nvPr>
            <p:ph type="title"/>
          </p:nvPr>
        </p:nvSpPr>
        <p:spPr>
          <a:xfrm>
            <a:off x="234383" y="131229"/>
            <a:ext cx="6026568"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Logistic Regression</a:t>
            </a:r>
            <a:endParaRPr sz="4400" dirty="0">
              <a:latin typeface="+mj-lt"/>
              <a:ea typeface="Century Schoolbook"/>
              <a:cs typeface="Century Schoolbook"/>
              <a:sym typeface="Century Schoolbook"/>
            </a:endParaRPr>
          </a:p>
        </p:txBody>
      </p:sp>
      <p:pic>
        <p:nvPicPr>
          <p:cNvPr id="94" name="Google Shape;94;p12"/>
          <p:cNvPicPr preferRelativeResize="0"/>
          <p:nvPr/>
        </p:nvPicPr>
        <p:blipFill rotWithShape="1">
          <a:blip r:embed="rId3">
            <a:alphaModFix/>
          </a:blip>
          <a:srcRect/>
          <a:stretch/>
        </p:blipFill>
        <p:spPr>
          <a:xfrm>
            <a:off x="32385" y="786948"/>
            <a:ext cx="6319251" cy="2593564"/>
          </a:xfrm>
          <a:prstGeom prst="rect">
            <a:avLst/>
          </a:prstGeom>
          <a:noFill/>
          <a:ln>
            <a:noFill/>
          </a:ln>
        </p:spPr>
      </p:pic>
      <p:pic>
        <p:nvPicPr>
          <p:cNvPr id="95" name="Google Shape;95;p12"/>
          <p:cNvPicPr preferRelativeResize="0"/>
          <p:nvPr/>
        </p:nvPicPr>
        <p:blipFill rotWithShape="1">
          <a:blip r:embed="rId4">
            <a:alphaModFix/>
          </a:blip>
          <a:srcRect/>
          <a:stretch/>
        </p:blipFill>
        <p:spPr>
          <a:xfrm>
            <a:off x="6740545" y="794218"/>
            <a:ext cx="3898833" cy="2429882"/>
          </a:xfrm>
          <a:prstGeom prst="rect">
            <a:avLst/>
          </a:prstGeom>
          <a:noFill/>
          <a:ln>
            <a:noFill/>
          </a:ln>
        </p:spPr>
      </p:pic>
      <p:pic>
        <p:nvPicPr>
          <p:cNvPr id="96" name="Google Shape;96;p12"/>
          <p:cNvPicPr preferRelativeResize="0"/>
          <p:nvPr/>
        </p:nvPicPr>
        <p:blipFill rotWithShape="1">
          <a:blip r:embed="rId5">
            <a:alphaModFix/>
          </a:blip>
          <a:srcRect/>
          <a:stretch/>
        </p:blipFill>
        <p:spPr>
          <a:xfrm>
            <a:off x="174355" y="3909767"/>
            <a:ext cx="7621837" cy="1679153"/>
          </a:xfrm>
          <a:prstGeom prst="rect">
            <a:avLst/>
          </a:prstGeom>
          <a:noFill/>
          <a:ln>
            <a:noFill/>
          </a:ln>
        </p:spPr>
      </p:pic>
      <p:pic>
        <p:nvPicPr>
          <p:cNvPr id="97" name="Google Shape;97;p12"/>
          <p:cNvPicPr preferRelativeResize="0"/>
          <p:nvPr/>
        </p:nvPicPr>
        <p:blipFill rotWithShape="1">
          <a:blip r:embed="rId6">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01"/>
        <p:cNvGrpSpPr/>
        <p:nvPr/>
      </p:nvGrpSpPr>
      <p:grpSpPr>
        <a:xfrm>
          <a:off x="0" y="0"/>
          <a:ext cx="0" cy="0"/>
          <a:chOff x="0" y="0"/>
          <a:chExt cx="0" cy="0"/>
        </a:xfrm>
      </p:grpSpPr>
      <p:sp>
        <p:nvSpPr>
          <p:cNvPr id="102" name="Google Shape;102;p13"/>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3" name="Google Shape;103;p13"/>
          <p:cNvSpPr txBox="1">
            <a:spLocks noGrp="1"/>
          </p:cNvSpPr>
          <p:nvPr>
            <p:ph type="body" idx="1"/>
          </p:nvPr>
        </p:nvSpPr>
        <p:spPr>
          <a:xfrm>
            <a:off x="458279" y="1121824"/>
            <a:ext cx="11527930" cy="1887643"/>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104" name="Google Shape;104;p13"/>
          <p:cNvSpPr txBox="1"/>
          <p:nvPr/>
        </p:nvSpPr>
        <p:spPr>
          <a:xfrm>
            <a:off x="5343371" y="3814224"/>
            <a:ext cx="6099945" cy="1921949"/>
          </a:xfrm>
          <a:prstGeom prst="rect">
            <a:avLst/>
          </a:prstGeom>
          <a:noFill/>
          <a:ln>
            <a:noFill/>
          </a:ln>
        </p:spPr>
        <p:txBody>
          <a:bodyPr spcFirstLastPara="1" wrap="square" lIns="0" tIns="12700" rIns="0" bIns="0" anchor="t" anchorCtr="0">
            <a:spAutoFit/>
          </a:bodyPr>
          <a:lstStyle/>
          <a:p>
            <a:pPr marL="909955" marR="5080" lvl="0" indent="-897890" algn="l" rtl="0">
              <a:lnSpc>
                <a:spcPct val="100000"/>
              </a:lnSpc>
              <a:spcBef>
                <a:spcPts val="0"/>
              </a:spcBef>
              <a:spcAft>
                <a:spcPts val="0"/>
              </a:spcAft>
              <a:buClr>
                <a:srgbClr val="000000"/>
              </a:buClr>
              <a:buSzPts val="6000"/>
              <a:buFont typeface="Arial"/>
              <a:buNone/>
            </a:pPr>
            <a:r>
              <a:rPr lang="en-US" sz="6000" b="0" i="0" u="none" strike="noStrike" cap="none">
                <a:solidFill>
                  <a:schemeClr val="dk1"/>
                </a:solidFill>
                <a:latin typeface="Calibri"/>
                <a:ea typeface="Calibri"/>
                <a:cs typeface="Calibri"/>
                <a:sym typeface="Calibri"/>
              </a:rPr>
              <a:t>Logistic Regression  cost function</a:t>
            </a:r>
            <a:endParaRPr sz="6000" b="0" i="0" u="none" strike="noStrike" cap="none">
              <a:solidFill>
                <a:schemeClr val="dk1"/>
              </a:solidFill>
              <a:latin typeface="Calibri"/>
              <a:ea typeface="Calibri"/>
              <a:cs typeface="Calibri"/>
              <a:sym typeface="Calibri"/>
            </a:endParaRPr>
          </a:p>
        </p:txBody>
      </p:sp>
      <p:pic>
        <p:nvPicPr>
          <p:cNvPr id="105" name="Google Shape;105;p13"/>
          <p:cNvPicPr preferRelativeResize="0"/>
          <p:nvPr/>
        </p:nvPicPr>
        <p:blipFill rotWithShape="1">
          <a:blip r:embed="rId3">
            <a:alphaModFix/>
          </a:blip>
          <a:srcRect/>
          <a:stretch/>
        </p:blipFill>
        <p:spPr>
          <a:xfrm>
            <a:off x="322050"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a:off x="212215" y="142312"/>
            <a:ext cx="84772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Logistic Regression cost function</a:t>
            </a:r>
            <a:endParaRPr sz="4400" dirty="0">
              <a:latin typeface="+mj-lt"/>
              <a:ea typeface="Century Schoolbook"/>
              <a:cs typeface="Century Schoolbook"/>
              <a:sym typeface="Century Schoolbook"/>
            </a:endParaRPr>
          </a:p>
        </p:txBody>
      </p:sp>
      <p:pic>
        <p:nvPicPr>
          <p:cNvPr id="111" name="Google Shape;111;p14"/>
          <p:cNvPicPr preferRelativeResize="0"/>
          <p:nvPr/>
        </p:nvPicPr>
        <p:blipFill rotWithShape="1">
          <a:blip r:embed="rId3">
            <a:alphaModFix/>
          </a:blip>
          <a:srcRect/>
          <a:stretch/>
        </p:blipFill>
        <p:spPr>
          <a:xfrm>
            <a:off x="296383" y="1078449"/>
            <a:ext cx="8001227" cy="5426984"/>
          </a:xfrm>
          <a:prstGeom prst="rect">
            <a:avLst/>
          </a:prstGeom>
          <a:noFill/>
          <a:ln>
            <a:noFill/>
          </a:ln>
        </p:spPr>
      </p:pic>
      <p:pic>
        <p:nvPicPr>
          <p:cNvPr id="112" name="Google Shape;112;p1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16"/>
        <p:cNvGrpSpPr/>
        <p:nvPr/>
      </p:nvGrpSpPr>
      <p:grpSpPr>
        <a:xfrm>
          <a:off x="0" y="0"/>
          <a:ext cx="0" cy="0"/>
          <a:chOff x="0" y="0"/>
          <a:chExt cx="0" cy="0"/>
        </a:xfrm>
      </p:grpSpPr>
      <p:sp>
        <p:nvSpPr>
          <p:cNvPr id="117" name="Google Shape;117;p15"/>
          <p:cNvSpPr/>
          <p:nvPr/>
        </p:nvSpPr>
        <p:spPr>
          <a:xfrm>
            <a:off x="4544009" y="3459886"/>
            <a:ext cx="7438390" cy="0"/>
          </a:xfrm>
          <a:custGeom>
            <a:avLst/>
            <a:gdLst/>
            <a:ahLst/>
            <a:cxnLst/>
            <a:rect l="l" t="t" r="r" b="b"/>
            <a:pathLst>
              <a:path w="7438390" h="120000" extrusionOk="0">
                <a:moveTo>
                  <a:pt x="0" y="0"/>
                </a:moveTo>
                <a:lnTo>
                  <a:pt x="7438244" y="0"/>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8" name="Google Shape;118;p15"/>
          <p:cNvSpPr txBox="1">
            <a:spLocks noGrp="1"/>
          </p:cNvSpPr>
          <p:nvPr>
            <p:ph type="body" idx="1"/>
          </p:nvPr>
        </p:nvSpPr>
        <p:spPr>
          <a:xfrm>
            <a:off x="458279" y="1121824"/>
            <a:ext cx="11455554" cy="1887643"/>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119" name="Google Shape;119;p15"/>
          <p:cNvSpPr txBox="1"/>
          <p:nvPr/>
        </p:nvSpPr>
        <p:spPr>
          <a:xfrm>
            <a:off x="4544010" y="3588420"/>
            <a:ext cx="7438389" cy="936154"/>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Gradient Descent</a:t>
            </a:r>
            <a:endParaRPr sz="6000" b="0" i="0" u="none" strike="noStrike" cap="none" dirty="0">
              <a:solidFill>
                <a:schemeClr val="dk1"/>
              </a:solidFill>
              <a:latin typeface="+mj-lt"/>
              <a:ea typeface="Calibri"/>
              <a:cs typeface="Calibri"/>
              <a:sym typeface="Calibri"/>
            </a:endParaRPr>
          </a:p>
        </p:txBody>
      </p:sp>
      <p:pic>
        <p:nvPicPr>
          <p:cNvPr id="120" name="Google Shape;120;p15"/>
          <p:cNvPicPr preferRelativeResize="0"/>
          <p:nvPr/>
        </p:nvPicPr>
        <p:blipFill rotWithShape="1">
          <a:blip r:embed="rId3">
            <a:alphaModFix/>
          </a:blip>
          <a:srcRect/>
          <a:stretch/>
        </p:blipFill>
        <p:spPr>
          <a:xfrm>
            <a:off x="33567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395654" y="1245806"/>
            <a:ext cx="11306908" cy="3336811"/>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Gradient descent is an optimization algorithm commonly used in machine learning and deep learning to minimize the error or loss function of a model.</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The goal is to find the optimal set of parameters (weights and biases) for a given model that minimizes the difference between the predicted output and the actual target values.</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The ideal is to iteratively update the model's parameters in the direction of the steepest descent of the loss function. </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Some variations of gradient descent: </a:t>
            </a:r>
            <a:r>
              <a:rPr lang="en-US" sz="2400" b="1" dirty="0">
                <a:solidFill>
                  <a:schemeClr val="dk1"/>
                </a:solidFill>
                <a:latin typeface="+mj-lt"/>
                <a:ea typeface="Century Schoolbook"/>
                <a:cs typeface="Century Schoolbook"/>
                <a:sym typeface="Century Schoolbook"/>
              </a:rPr>
              <a:t>batch gradient descent</a:t>
            </a:r>
            <a:r>
              <a:rPr lang="en-US" sz="2400" dirty="0">
                <a:solidFill>
                  <a:schemeClr val="dk1"/>
                </a:solidFill>
                <a:latin typeface="+mj-lt"/>
                <a:ea typeface="Century Schoolbook"/>
                <a:cs typeface="Century Schoolbook"/>
                <a:sym typeface="Century Schoolbook"/>
              </a:rPr>
              <a:t>, </a:t>
            </a:r>
            <a:r>
              <a:rPr lang="en-US" sz="2400" b="1" dirty="0">
                <a:solidFill>
                  <a:schemeClr val="dk1"/>
                </a:solidFill>
                <a:latin typeface="+mj-lt"/>
                <a:ea typeface="Century Schoolbook"/>
                <a:cs typeface="Century Schoolbook"/>
                <a:sym typeface="Century Schoolbook"/>
              </a:rPr>
              <a:t>stochastic gradient descent</a:t>
            </a:r>
            <a:r>
              <a:rPr lang="en-US" sz="2400" dirty="0">
                <a:solidFill>
                  <a:schemeClr val="dk1"/>
                </a:solidFill>
                <a:latin typeface="+mj-lt"/>
                <a:ea typeface="Century Schoolbook"/>
                <a:cs typeface="Century Schoolbook"/>
                <a:sym typeface="Century Schoolbook"/>
              </a:rPr>
              <a:t>, and </a:t>
            </a:r>
            <a:r>
              <a:rPr lang="en-US" sz="2400" b="1" dirty="0">
                <a:solidFill>
                  <a:schemeClr val="dk1"/>
                </a:solidFill>
                <a:latin typeface="+mj-lt"/>
                <a:ea typeface="Century Schoolbook"/>
                <a:cs typeface="Century Schoolbook"/>
                <a:sym typeface="Century Schoolbook"/>
              </a:rPr>
              <a:t>mini-batch gradient descent</a:t>
            </a:r>
            <a:r>
              <a:rPr lang="en-US" sz="2400" dirty="0">
                <a:solidFill>
                  <a:schemeClr val="dk1"/>
                </a:solidFill>
                <a:latin typeface="+mj-lt"/>
                <a:ea typeface="Century Schoolbook"/>
                <a:cs typeface="Century Schoolbook"/>
                <a:sym typeface="Century Schoolbook"/>
              </a:rPr>
              <a:t>.</a:t>
            </a:r>
          </a:p>
        </p:txBody>
      </p:sp>
      <p:sp>
        <p:nvSpPr>
          <p:cNvPr id="66" name="Google Shape;66;p9"/>
          <p:cNvSpPr txBox="1"/>
          <p:nvPr/>
        </p:nvSpPr>
        <p:spPr>
          <a:xfrm>
            <a:off x="138374" y="156629"/>
            <a:ext cx="5478780"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n-lt"/>
                <a:ea typeface="Century Schoolbook"/>
                <a:cs typeface="Century Schoolbook"/>
                <a:sym typeface="Century Schoolbook"/>
              </a:rPr>
              <a:t>Gradient Descent</a:t>
            </a: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599974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384896" y="1235055"/>
            <a:ext cx="11502304" cy="5552802"/>
          </a:xfrm>
          <a:prstGeom prst="rect">
            <a:avLst/>
          </a:prstGeom>
          <a:noFill/>
          <a:ln>
            <a:noFill/>
          </a:ln>
        </p:spPr>
        <p:txBody>
          <a:bodyPr spcFirstLastPara="1" wrap="square" lIns="0" tIns="12700" rIns="0" bIns="0" anchor="t" anchorCtr="0">
            <a:spAutoFit/>
          </a:bodyPr>
          <a:lstStyle/>
          <a:p>
            <a:pPr marL="12700" lvl="0">
              <a:buSzPts val="2800"/>
            </a:pPr>
            <a:r>
              <a:rPr lang="en-US" sz="2400" b="1" dirty="0">
                <a:solidFill>
                  <a:schemeClr val="dk1"/>
                </a:solidFill>
                <a:latin typeface="+mj-lt"/>
                <a:ea typeface="Century Schoolbook"/>
                <a:cs typeface="Century Schoolbook"/>
                <a:sym typeface="Century Schoolbook"/>
              </a:rPr>
              <a:t>How the gradient descent algorithm works:</a:t>
            </a:r>
          </a:p>
          <a:p>
            <a:pPr marL="469900" lvl="0" indent="-457200">
              <a:buSzPts val="2800"/>
              <a:buFont typeface="+mj-lt"/>
              <a:buAutoNum type="arabicPeriod"/>
            </a:pPr>
            <a:r>
              <a:rPr lang="en-US" sz="2400" b="1" dirty="0">
                <a:solidFill>
                  <a:schemeClr val="dk1"/>
                </a:solidFill>
                <a:latin typeface="+mj-lt"/>
                <a:ea typeface="Century Schoolbook"/>
                <a:cs typeface="Century Schoolbook"/>
                <a:sym typeface="Century Schoolbook"/>
              </a:rPr>
              <a:t>Initialization</a:t>
            </a:r>
            <a:r>
              <a:rPr lang="en-US" sz="2400" dirty="0">
                <a:solidFill>
                  <a:schemeClr val="dk1"/>
                </a:solidFill>
                <a:latin typeface="+mj-lt"/>
                <a:ea typeface="Century Schoolbook"/>
                <a:cs typeface="Century Schoolbook"/>
                <a:sym typeface="Century Schoolbook"/>
              </a:rPr>
              <a:t>: Start with an initial set of parameter values randomly or using some predefined values.</a:t>
            </a:r>
          </a:p>
          <a:p>
            <a:pPr marL="469900" lvl="0" indent="-457200">
              <a:buSzPts val="2800"/>
              <a:buFont typeface="+mj-lt"/>
              <a:buAutoNum type="arabicPeriod"/>
            </a:pPr>
            <a:r>
              <a:rPr lang="en-US" sz="2400" b="1" dirty="0">
                <a:solidFill>
                  <a:schemeClr val="dk1"/>
                </a:solidFill>
                <a:latin typeface="+mj-lt"/>
                <a:ea typeface="Century Schoolbook"/>
                <a:cs typeface="Century Schoolbook"/>
                <a:sym typeface="Century Schoolbook"/>
              </a:rPr>
              <a:t>Forward Pass</a:t>
            </a:r>
            <a:r>
              <a:rPr lang="en-US" sz="2400" dirty="0">
                <a:solidFill>
                  <a:schemeClr val="dk1"/>
                </a:solidFill>
                <a:latin typeface="+mj-lt"/>
                <a:ea typeface="Century Schoolbook"/>
                <a:cs typeface="Century Schoolbook"/>
                <a:sym typeface="Century Schoolbook"/>
              </a:rPr>
              <a:t>: Feed the input data into the model to obtain the predicted output.</a:t>
            </a:r>
          </a:p>
          <a:p>
            <a:pPr marL="469900" lvl="0" indent="-457200">
              <a:buSzPts val="2800"/>
              <a:buFont typeface="+mj-lt"/>
              <a:buAutoNum type="arabicPeriod"/>
            </a:pPr>
            <a:r>
              <a:rPr lang="en-US" sz="2400" b="1" dirty="0">
                <a:solidFill>
                  <a:schemeClr val="dk1"/>
                </a:solidFill>
                <a:latin typeface="+mj-lt"/>
                <a:ea typeface="Century Schoolbook"/>
                <a:cs typeface="Century Schoolbook"/>
                <a:sym typeface="Century Schoolbook"/>
              </a:rPr>
              <a:t>Loss Calculation</a:t>
            </a:r>
            <a:r>
              <a:rPr lang="en-US" sz="2400" dirty="0">
                <a:solidFill>
                  <a:schemeClr val="dk1"/>
                </a:solidFill>
                <a:latin typeface="+mj-lt"/>
                <a:ea typeface="Century Schoolbook"/>
                <a:cs typeface="Century Schoolbook"/>
                <a:sym typeface="Century Schoolbook"/>
              </a:rPr>
              <a:t>: Calculate the difference (error) between the predicted output and the actual target values using the chosen loss function.</a:t>
            </a:r>
          </a:p>
          <a:p>
            <a:pPr marL="469900" lvl="0" indent="-457200">
              <a:buSzPts val="2800"/>
              <a:buFont typeface="+mj-lt"/>
              <a:buAutoNum type="arabicPeriod"/>
            </a:pPr>
            <a:r>
              <a:rPr lang="en-US" sz="2400" b="1" dirty="0">
                <a:solidFill>
                  <a:schemeClr val="dk1"/>
                </a:solidFill>
                <a:latin typeface="+mj-lt"/>
                <a:ea typeface="Century Schoolbook"/>
                <a:cs typeface="Century Schoolbook"/>
                <a:sym typeface="Century Schoolbook"/>
              </a:rPr>
              <a:t>Gradient Calculation</a:t>
            </a:r>
            <a:r>
              <a:rPr lang="en-US" sz="2400" dirty="0">
                <a:solidFill>
                  <a:schemeClr val="dk1"/>
                </a:solidFill>
                <a:latin typeface="+mj-lt"/>
                <a:ea typeface="Century Schoolbook"/>
                <a:cs typeface="Century Schoolbook"/>
                <a:sym typeface="Century Schoolbook"/>
              </a:rPr>
              <a:t>: Compute the gradient (partial derivatives) of the loss function with respect to each model parameter. This step tells us the direction and magnitude in which the parameters should be adjusted to reduce the loss.</a:t>
            </a:r>
          </a:p>
          <a:p>
            <a:pPr marL="469900" lvl="0" indent="-457200">
              <a:buSzPts val="2800"/>
              <a:buFont typeface="+mj-lt"/>
              <a:buAutoNum type="arabicPeriod"/>
            </a:pPr>
            <a:r>
              <a:rPr lang="en-US" sz="2400" b="1" dirty="0">
                <a:solidFill>
                  <a:schemeClr val="dk1"/>
                </a:solidFill>
                <a:latin typeface="+mj-lt"/>
                <a:ea typeface="Century Schoolbook"/>
                <a:cs typeface="Century Schoolbook"/>
                <a:sym typeface="Century Schoolbook"/>
              </a:rPr>
              <a:t>Parameter Update</a:t>
            </a:r>
            <a:r>
              <a:rPr lang="en-US" sz="2400" dirty="0">
                <a:solidFill>
                  <a:schemeClr val="dk1"/>
                </a:solidFill>
                <a:latin typeface="+mj-lt"/>
                <a:ea typeface="Century Schoolbook"/>
                <a:cs typeface="Century Schoolbook"/>
                <a:sym typeface="Century Schoolbook"/>
              </a:rPr>
              <a:t>: Update the model parameters by moving them in the opposite direction of the gradient (descending the loss function). The size of the update is controlled by a learning rate, which determines the step size in the parameter space.</a:t>
            </a:r>
          </a:p>
          <a:p>
            <a:pPr marL="469900" lvl="0" indent="-457200">
              <a:buSzPts val="2800"/>
              <a:buFont typeface="+mj-lt"/>
              <a:buAutoNum type="arabicPeriod"/>
            </a:pPr>
            <a:r>
              <a:rPr lang="en-US" sz="2400" b="1" dirty="0">
                <a:solidFill>
                  <a:schemeClr val="dk1"/>
                </a:solidFill>
                <a:latin typeface="+mj-lt"/>
                <a:ea typeface="Century Schoolbook"/>
                <a:cs typeface="Century Schoolbook"/>
                <a:sym typeface="Century Schoolbook"/>
              </a:rPr>
              <a:t>Repeat</a:t>
            </a:r>
            <a:r>
              <a:rPr lang="en-US" sz="2400" dirty="0">
                <a:solidFill>
                  <a:schemeClr val="dk1"/>
                </a:solidFill>
                <a:latin typeface="+mj-lt"/>
                <a:ea typeface="Century Schoolbook"/>
                <a:cs typeface="Century Schoolbook"/>
                <a:sym typeface="Century Schoolbook"/>
              </a:rPr>
              <a:t>: Repeat steps 2-5 for a predefined number of iterations or until the loss reaches an acceptable level.</a:t>
            </a:r>
            <a:endParaRPr sz="2400" b="0" i="0" u="none" strike="noStrike" cap="none" dirty="0">
              <a:solidFill>
                <a:schemeClr val="dk1"/>
              </a:solidFill>
              <a:latin typeface="+mj-lt"/>
              <a:ea typeface="Century Schoolbook"/>
              <a:cs typeface="Century Schoolbook"/>
              <a:sym typeface="Century Schoolbook"/>
            </a:endParaRPr>
          </a:p>
        </p:txBody>
      </p:sp>
      <p:sp>
        <p:nvSpPr>
          <p:cNvPr id="66" name="Google Shape;66;p9"/>
          <p:cNvSpPr txBox="1"/>
          <p:nvPr/>
        </p:nvSpPr>
        <p:spPr>
          <a:xfrm>
            <a:off x="138374" y="156629"/>
            <a:ext cx="5478780"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n-lt"/>
                <a:ea typeface="Century Schoolbook"/>
                <a:cs typeface="Century Schoolbook"/>
                <a:sym typeface="Century Schoolbook"/>
              </a:rPr>
              <a:t>Gradient Descent</a:t>
            </a: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19900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30"/>
        <p:cNvGrpSpPr/>
        <p:nvPr/>
      </p:nvGrpSpPr>
      <p:grpSpPr>
        <a:xfrm>
          <a:off x="0" y="0"/>
          <a:ext cx="0" cy="0"/>
          <a:chOff x="0" y="0"/>
          <a:chExt cx="0" cy="0"/>
        </a:xfrm>
      </p:grpSpPr>
      <p:sp>
        <p:nvSpPr>
          <p:cNvPr id="131" name="Google Shape;131;p17"/>
          <p:cNvSpPr txBox="1">
            <a:spLocks noGrp="1"/>
          </p:cNvSpPr>
          <p:nvPr>
            <p:ph type="title"/>
          </p:nvPr>
        </p:nvSpPr>
        <p:spPr>
          <a:xfrm>
            <a:off x="417001" y="427563"/>
            <a:ext cx="45675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Gradient Descent</a:t>
            </a:r>
            <a:endParaRPr sz="4400" dirty="0">
              <a:latin typeface="+mj-lt"/>
              <a:ea typeface="Century Schoolbook"/>
              <a:cs typeface="Century Schoolbook"/>
              <a:sym typeface="Century Schoolbook"/>
            </a:endParaRPr>
          </a:p>
        </p:txBody>
      </p:sp>
      <p:pic>
        <p:nvPicPr>
          <p:cNvPr id="134" name="Google Shape;134;p1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mc:AlternateContent xmlns:mc="http://schemas.openxmlformats.org/markup-compatibility/2006" xmlns:a14="http://schemas.microsoft.com/office/drawing/2010/main">
        <mc:Choice Requires="a14">
          <p:sp>
            <p:nvSpPr>
              <p:cNvPr id="4" name="TextBox 3"/>
              <p:cNvSpPr txBox="1"/>
              <p:nvPr/>
            </p:nvSpPr>
            <p:spPr>
              <a:xfrm>
                <a:off x="5550214" y="1732877"/>
                <a:ext cx="3895000" cy="1689822"/>
              </a:xfrm>
              <a:prstGeom prst="rect">
                <a:avLst/>
              </a:prstGeom>
              <a:noFill/>
            </p:spPr>
            <p:txBody>
              <a:bodyPr wrap="square" lIns="0" tIns="0" rIns="0" bIns="0" rtlCol="0">
                <a:spAutoFit/>
              </a:bodyPr>
              <a:lstStyle/>
              <a:p>
                <a:r>
                  <a:rPr lang="en-US" sz="2000" dirty="0"/>
                  <a:t> </a:t>
                </a:r>
                <a14:m>
                  <m:oMath xmlns:m="http://schemas.openxmlformats.org/officeDocument/2006/math">
                    <m:r>
                      <a:rPr lang="en-US" sz="2000" b="0" i="1" smtClean="0">
                        <a:latin typeface="Cambria Math" panose="02040503050406030204" pitchFamily="18" charset="0"/>
                      </a:rPr>
                      <m:t>𝑋</m:t>
                    </m:r>
                    <m:r>
                      <a:rPr lang="en-US" sz="200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 −</m:t>
                    </m:r>
                    <m:r>
                      <a:rPr lang="en-US" sz="2000" b="0" i="1" smtClean="0">
                        <a:latin typeface="Cambria Math" panose="02040503050406030204" pitchFamily="18" charset="0"/>
                      </a:rPr>
                      <m:t>𝑙𝑟</m:t>
                    </m:r>
                    <m:r>
                      <a:rPr lang="en-US" sz="2000" b="0" i="1" smtClean="0">
                        <a:latin typeface="Cambria Math" panose="02040503050406030204" pitchFamily="18" charset="0"/>
                      </a:rPr>
                      <m:t> ∗</m:t>
                    </m:r>
                    <m:f>
                      <m:fPr>
                        <m:ctrlPr>
                          <a:rPr lang="en-US" sz="2000" i="1" smtClean="0">
                            <a:latin typeface="Cambria Math" panose="02040503050406030204" pitchFamily="18" charset="0"/>
                          </a:rPr>
                        </m:ctrlPr>
                      </m:fPr>
                      <m:num>
                        <m:r>
                          <a:rPr lang="en-US" sz="2000" i="1" smtClean="0">
                            <a:latin typeface="Cambria Math" panose="02040503050406030204" pitchFamily="18" charset="0"/>
                          </a:rPr>
                          <m:t>𝑑</m:t>
                        </m:r>
                        <m:r>
                          <a:rPr lang="en-US" sz="2000" b="0" i="1" smtClean="0">
                            <a:latin typeface="Cambria Math" panose="02040503050406030204" pitchFamily="18" charset="0"/>
                          </a:rPr>
                          <m:t>𝐽</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num>
                      <m:den>
                        <m:r>
                          <a:rPr lang="en-US" sz="2000" i="1" smtClean="0">
                            <a:latin typeface="Cambria Math" panose="02040503050406030204" pitchFamily="18" charset="0"/>
                          </a:rPr>
                          <m:t>𝑑</m:t>
                        </m:r>
                        <m:r>
                          <a:rPr lang="en-US" sz="2000" b="0" i="1" smtClean="0">
                            <a:latin typeface="Cambria Math" panose="02040503050406030204" pitchFamily="18" charset="0"/>
                          </a:rPr>
                          <m:t>𝑋</m:t>
                        </m:r>
                      </m:den>
                    </m:f>
                  </m:oMath>
                </a14:m>
                <a:endParaRPr lang="en-US" sz="2000" dirty="0"/>
              </a:p>
              <a:p>
                <a:r>
                  <a:rPr lang="en-US" sz="2000" dirty="0"/>
                  <a:t>Where</a:t>
                </a:r>
              </a:p>
              <a:p>
                <a:r>
                  <a:rPr lang="en-US" sz="2000" i="1" dirty="0">
                    <a:latin typeface="Cambria Math" panose="02040503050406030204" pitchFamily="18" charset="0"/>
                    <a:ea typeface="Cambria Math" panose="02040503050406030204" pitchFamily="18" charset="0"/>
                  </a:rPr>
                  <a:t>X  is input</a:t>
                </a:r>
              </a:p>
              <a:p>
                <a:r>
                  <a:rPr lang="en-US" sz="2000" i="1" dirty="0">
                    <a:latin typeface="Cambria Math" panose="02040503050406030204" pitchFamily="18" charset="0"/>
                    <a:ea typeface="Cambria Math" panose="02040503050406030204" pitchFamily="18" charset="0"/>
                  </a:rPr>
                  <a:t>J(X) is  cost function (loss function)</a:t>
                </a:r>
              </a:p>
              <a:p>
                <a:r>
                  <a:rPr lang="en-US" sz="2000" i="1" dirty="0" err="1">
                    <a:latin typeface="Cambria Math" panose="02040503050406030204" pitchFamily="18" charset="0"/>
                    <a:ea typeface="Cambria Math" panose="02040503050406030204" pitchFamily="18" charset="0"/>
                  </a:rPr>
                  <a:t>lr</a:t>
                </a:r>
                <a:r>
                  <a:rPr lang="en-US" sz="2000" i="1" dirty="0">
                    <a:latin typeface="Cambria Math" panose="02040503050406030204" pitchFamily="18" charset="0"/>
                    <a:ea typeface="Cambria Math" panose="02040503050406030204" pitchFamily="18" charset="0"/>
                  </a:rPr>
                  <a:t>  is learning rate</a:t>
                </a:r>
              </a:p>
            </p:txBody>
          </p:sp>
        </mc:Choice>
        <mc:Fallback xmlns="">
          <p:sp>
            <p:nvSpPr>
              <p:cNvPr id="4" name="TextBox 3"/>
              <p:cNvSpPr txBox="1">
                <a:spLocks noRot="1" noChangeAspect="1" noMove="1" noResize="1" noEditPoints="1" noAdjustHandles="1" noChangeArrowheads="1" noChangeShapeType="1" noTextEdit="1"/>
              </p:cNvSpPr>
              <p:nvPr/>
            </p:nvSpPr>
            <p:spPr>
              <a:xfrm>
                <a:off x="5550214" y="1732877"/>
                <a:ext cx="3895000" cy="1689822"/>
              </a:xfrm>
              <a:prstGeom prst="rect">
                <a:avLst/>
              </a:prstGeom>
              <a:blipFill>
                <a:blip r:embed="rId4"/>
                <a:stretch>
                  <a:fillRect l="-3912" r="-2347" b="-8303"/>
                </a:stretch>
              </a:blipFill>
            </p:spPr>
            <p:txBody>
              <a:bodyPr/>
              <a:lstStyle/>
              <a:p>
                <a:r>
                  <a:rPr lang="en-US">
                    <a:noFill/>
                  </a:rPr>
                  <a:t> </a:t>
                </a:r>
              </a:p>
            </p:txBody>
          </p:sp>
        </mc:Fallback>
      </mc:AlternateContent>
      <p:pic>
        <p:nvPicPr>
          <p:cNvPr id="1026" name="Picture 2" descr="Gradient Descent in Machine Learn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064" y="1517699"/>
            <a:ext cx="4438650"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pic>
        <p:nvPicPr>
          <p:cNvPr id="125" name="Google Shape;125;p16"/>
          <p:cNvPicPr preferRelativeResize="0"/>
          <p:nvPr/>
        </p:nvPicPr>
        <p:blipFill rotWithShape="1">
          <a:blip r:embed="rId3">
            <a:alphaModFix/>
          </a:blip>
          <a:srcRect/>
          <a:stretch/>
        </p:blipFill>
        <p:spPr>
          <a:xfrm>
            <a:off x="0" y="0"/>
            <a:ext cx="11230252" cy="6090081"/>
          </a:xfrm>
          <a:prstGeom prst="rect">
            <a:avLst/>
          </a:prstGeom>
          <a:noFill/>
          <a:ln>
            <a:noFill/>
          </a:ln>
        </p:spPr>
      </p:pic>
      <p:pic>
        <p:nvPicPr>
          <p:cNvPr id="126" name="Google Shape;126;p16"/>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18"/>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0" name="Google Shape;140;p18"/>
          <p:cNvSpPr txBox="1">
            <a:spLocks noGrp="1"/>
          </p:cNvSpPr>
          <p:nvPr>
            <p:ph type="body" idx="1"/>
          </p:nvPr>
        </p:nvSpPr>
        <p:spPr>
          <a:xfrm>
            <a:off x="458279" y="1121824"/>
            <a:ext cx="11527930" cy="1887639"/>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dirty="0"/>
              <a:t>Basics of Neural  Network Programming</a:t>
            </a:r>
            <a:endParaRPr dirty="0"/>
          </a:p>
        </p:txBody>
      </p:sp>
      <p:sp>
        <p:nvSpPr>
          <p:cNvPr id="141" name="Google Shape;141;p18"/>
          <p:cNvSpPr txBox="1"/>
          <p:nvPr/>
        </p:nvSpPr>
        <p:spPr>
          <a:xfrm>
            <a:off x="4544009" y="3459886"/>
            <a:ext cx="7442199" cy="936154"/>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Derivatives</a:t>
            </a:r>
            <a:endParaRPr sz="6000" b="0" i="0" u="none" strike="noStrike" cap="none" dirty="0">
              <a:solidFill>
                <a:schemeClr val="dk1"/>
              </a:solidFill>
              <a:latin typeface="+mj-lt"/>
              <a:ea typeface="Calibri"/>
              <a:cs typeface="Calibri"/>
              <a:sym typeface="Calibri"/>
            </a:endParaRPr>
          </a:p>
        </p:txBody>
      </p:sp>
      <p:pic>
        <p:nvPicPr>
          <p:cNvPr id="142" name="Google Shape;142;p18"/>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5" name="Google Shape;65;p9"/>
              <p:cNvSpPr txBox="1"/>
              <p:nvPr/>
            </p:nvSpPr>
            <p:spPr>
              <a:xfrm>
                <a:off x="439615" y="1245806"/>
                <a:ext cx="11306908" cy="4057073"/>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In mathematics, the derivative is a fundamental concept in calculus that measures how a function changes as its input changes.</a:t>
                </a:r>
              </a:p>
              <a:p>
                <a:pPr marL="355600" lvl="0" indent="-342900">
                  <a:buSzPts val="2800"/>
                  <a:buFont typeface="Arial" panose="020B0604020202020204" pitchFamily="34" charset="0"/>
                  <a:buChar char="•"/>
                </a:pPr>
                <a:r>
                  <a:rPr lang="en-US" sz="2400" dirty="0">
                    <a:solidFill>
                      <a:schemeClr val="tx1"/>
                    </a:solidFill>
                    <a:latin typeface="+mj-lt"/>
                  </a:rPr>
                  <a:t>It provides the rate of change or the slope of a function at any specific point. Given a function </a:t>
                </a:r>
                <a:r>
                  <a:rPr lang="en-US" sz="2400" i="1" dirty="0">
                    <a:solidFill>
                      <a:schemeClr val="tx1"/>
                    </a:solidFill>
                    <a:latin typeface="+mj-lt"/>
                  </a:rPr>
                  <a:t>f</a:t>
                </a:r>
                <a:r>
                  <a:rPr lang="en-US" sz="2400" dirty="0">
                    <a:solidFill>
                      <a:schemeClr val="tx1"/>
                    </a:solidFill>
                    <a:latin typeface="+mj-lt"/>
                  </a:rPr>
                  <a:t>(</a:t>
                </a:r>
                <a:r>
                  <a:rPr lang="en-US" sz="2400" i="1" dirty="0">
                    <a:solidFill>
                      <a:schemeClr val="tx1"/>
                    </a:solidFill>
                    <a:latin typeface="+mj-lt"/>
                  </a:rPr>
                  <a:t>x</a:t>
                </a:r>
                <a:r>
                  <a:rPr lang="en-US" sz="2400" dirty="0">
                    <a:solidFill>
                      <a:schemeClr val="tx1"/>
                    </a:solidFill>
                    <a:latin typeface="+mj-lt"/>
                  </a:rPr>
                  <a:t>), the derivative of </a:t>
                </a:r>
                <a:r>
                  <a:rPr lang="en-US" sz="2400" i="1" dirty="0">
                    <a:solidFill>
                      <a:schemeClr val="tx1"/>
                    </a:solidFill>
                    <a:latin typeface="+mj-lt"/>
                  </a:rPr>
                  <a:t>f</a:t>
                </a:r>
                <a:r>
                  <a:rPr lang="en-US" sz="2400" dirty="0">
                    <a:solidFill>
                      <a:schemeClr val="tx1"/>
                    </a:solidFill>
                    <a:latin typeface="+mj-lt"/>
                  </a:rPr>
                  <a:t> with respect to </a:t>
                </a:r>
                <a:r>
                  <a:rPr lang="en-US" sz="2400" i="1" dirty="0">
                    <a:solidFill>
                      <a:schemeClr val="tx1"/>
                    </a:solidFill>
                    <a:latin typeface="+mj-lt"/>
                  </a:rPr>
                  <a:t>x</a:t>
                </a:r>
                <a:r>
                  <a:rPr lang="en-US" sz="2400" dirty="0">
                    <a:solidFill>
                      <a:schemeClr val="tx1"/>
                    </a:solidFill>
                    <a:latin typeface="+mj-lt"/>
                  </a:rPr>
                  <a:t> is denoted as </a:t>
                </a:r>
                <a:r>
                  <a:rPr lang="en-US" sz="2400" i="1" dirty="0">
                    <a:solidFill>
                      <a:schemeClr val="tx1"/>
                    </a:solidFill>
                    <a:latin typeface="+mj-lt"/>
                  </a:rPr>
                  <a:t>f</a:t>
                </a:r>
                <a:r>
                  <a:rPr lang="en-US" sz="2400" dirty="0">
                    <a:solidFill>
                      <a:schemeClr val="tx1"/>
                    </a:solidFill>
                    <a:latin typeface="+mj-lt"/>
                  </a:rPr>
                  <a:t>′(</a:t>
                </a:r>
                <a:r>
                  <a:rPr lang="en-US" sz="2400" i="1" dirty="0">
                    <a:solidFill>
                      <a:schemeClr val="tx1"/>
                    </a:solidFill>
                    <a:latin typeface="+mj-lt"/>
                  </a:rPr>
                  <a:t>x</a:t>
                </a:r>
                <a:r>
                  <a:rPr lang="en-US" sz="2400" dirty="0">
                    <a:solidFill>
                      <a:schemeClr val="tx1"/>
                    </a:solidFill>
                    <a:latin typeface="+mj-lt"/>
                  </a:rPr>
                  <a:t>) or </a:t>
                </a:r>
                <a14:m>
                  <m:oMath xmlns:m="http://schemas.openxmlformats.org/officeDocument/2006/math">
                    <m:f>
                      <m:fPr>
                        <m:ctrlPr>
                          <a:rPr lang="en-US" sz="240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𝑑𝑓</m:t>
                        </m:r>
                      </m:num>
                      <m:den>
                        <m:r>
                          <a:rPr lang="en-US" sz="2400" b="0" i="1" smtClean="0">
                            <a:solidFill>
                              <a:schemeClr val="tx1"/>
                            </a:solidFill>
                            <a:latin typeface="Cambria Math" panose="02040503050406030204" pitchFamily="18" charset="0"/>
                          </a:rPr>
                          <m:t>𝑑𝑥</m:t>
                        </m:r>
                      </m:den>
                    </m:f>
                  </m:oMath>
                </a14:m>
                <a:endParaRPr lang="en-US" sz="2400" dirty="0">
                  <a:solidFill>
                    <a:schemeClr val="tx1"/>
                  </a:solidFill>
                  <a:latin typeface="+mj-lt"/>
                </a:endParaRPr>
              </a:p>
              <a:p>
                <a:pPr marL="355600" lvl="0" indent="-342900">
                  <a:buSzPts val="2800"/>
                  <a:buFont typeface="Arial" panose="020B0604020202020204" pitchFamily="34" charset="0"/>
                  <a:buChar char="•"/>
                </a:pPr>
                <a:r>
                  <a:rPr lang="en-US" sz="2400" dirty="0">
                    <a:solidFill>
                      <a:schemeClr val="tx1"/>
                    </a:solidFill>
                    <a:latin typeface="+mj-lt"/>
                    <a:ea typeface="Century Schoolbook"/>
                    <a:cs typeface="Century Schoolbook"/>
                    <a:sym typeface="Century Schoolbook"/>
                  </a:rPr>
                  <a:t>Graphically, the derivative represents </a:t>
                </a:r>
                <a:r>
                  <a:rPr lang="en-US" sz="2400" b="1" dirty="0">
                    <a:solidFill>
                      <a:schemeClr val="tx1"/>
                    </a:solidFill>
                    <a:latin typeface="+mj-lt"/>
                    <a:ea typeface="Century Schoolbook"/>
                    <a:cs typeface="Century Schoolbook"/>
                    <a:sym typeface="Century Schoolbook"/>
                  </a:rPr>
                  <a:t>the slope of the tangent line</a:t>
                </a:r>
                <a:r>
                  <a:rPr lang="en-US" sz="2400" dirty="0">
                    <a:solidFill>
                      <a:schemeClr val="tx1"/>
                    </a:solidFill>
                    <a:latin typeface="+mj-lt"/>
                    <a:ea typeface="Century Schoolbook"/>
                    <a:cs typeface="Century Schoolbook"/>
                    <a:sym typeface="Century Schoolbook"/>
                  </a:rPr>
                  <a:t> to the curve of the function at a particular point. </a:t>
                </a:r>
              </a:p>
              <a:p>
                <a:pPr marL="12700" lvl="3">
                  <a:buSzPts val="2800"/>
                </a:pPr>
                <a:r>
                  <a:rPr lang="en-US" sz="2400" dirty="0">
                    <a:solidFill>
                      <a:schemeClr val="tx1"/>
                    </a:solidFill>
                    <a:latin typeface="+mj-lt"/>
                    <a:ea typeface="Century Schoolbook"/>
                    <a:cs typeface="Century Schoolbook"/>
                    <a:sym typeface="Century Schoolbook"/>
                  </a:rPr>
                  <a:t>	</a:t>
                </a:r>
                <a:r>
                  <a:rPr lang="en-US" sz="2000" dirty="0">
                    <a:solidFill>
                      <a:schemeClr val="tx1"/>
                    </a:solidFill>
                    <a:latin typeface="+mj-lt"/>
                    <a:ea typeface="Century Schoolbook"/>
                    <a:cs typeface="Century Schoolbook"/>
                    <a:sym typeface="Century Schoolbook"/>
                  </a:rPr>
                  <a:t>- When the derivative is positive, it indicates that the function is increasing at 	that point; 	when it is negative, it shows the function is decreasing. </a:t>
                </a:r>
              </a:p>
              <a:p>
                <a:pPr marL="12700" lvl="3">
                  <a:buSzPts val="2800"/>
                </a:pPr>
                <a:r>
                  <a:rPr lang="en-US" sz="2000" dirty="0">
                    <a:solidFill>
                      <a:schemeClr val="tx1"/>
                    </a:solidFill>
                    <a:latin typeface="+mj-lt"/>
                    <a:ea typeface="Century Schoolbook"/>
                    <a:cs typeface="Century Schoolbook"/>
                    <a:sym typeface="Century Schoolbook"/>
                  </a:rPr>
                  <a:t>	- A derivative of zero means that the function has a critical point, which could 	be a local 	minimum or maximum.</a:t>
                </a:r>
              </a:p>
              <a:p>
                <a:pPr marL="355600" lvl="0" indent="-342900">
                  <a:buSzPts val="2800"/>
                  <a:buFont typeface="Arial" panose="020B0604020202020204" pitchFamily="34" charset="0"/>
                  <a:buChar char="•"/>
                </a:pPr>
                <a:endParaRPr lang="en-US" sz="2400" dirty="0">
                  <a:solidFill>
                    <a:schemeClr val="tx1"/>
                  </a:solidFill>
                  <a:latin typeface="+mj-lt"/>
                  <a:ea typeface="Century Schoolbook"/>
                  <a:cs typeface="Century Schoolbook"/>
                  <a:sym typeface="Century Schoolbook"/>
                </a:endParaRPr>
              </a:p>
            </p:txBody>
          </p:sp>
        </mc:Choice>
        <mc:Fallback xmlns="">
          <p:sp>
            <p:nvSpPr>
              <p:cNvPr id="65" name="Google Shape;65;p9"/>
              <p:cNvSpPr txBox="1">
                <a:spLocks noRot="1" noChangeAspect="1" noMove="1" noResize="1" noEditPoints="1" noAdjustHandles="1" noChangeArrowheads="1" noChangeShapeType="1" noTextEdit="1"/>
              </p:cNvSpPr>
              <p:nvPr/>
            </p:nvSpPr>
            <p:spPr>
              <a:xfrm>
                <a:off x="439615" y="1245806"/>
                <a:ext cx="11306908" cy="4057073"/>
              </a:xfrm>
              <a:prstGeom prst="rect">
                <a:avLst/>
              </a:prstGeom>
              <a:blipFill>
                <a:blip r:embed="rId3"/>
                <a:stretch>
                  <a:fillRect l="-1671" t="-2703" r="-1402"/>
                </a:stretch>
              </a:blipFill>
              <a:ln>
                <a:noFill/>
              </a:ln>
            </p:spPr>
            <p:txBody>
              <a:bodyPr/>
              <a:lstStyle/>
              <a:p>
                <a:r>
                  <a:rPr lang="en-US">
                    <a:noFill/>
                  </a:rPr>
                  <a:t> </a:t>
                </a:r>
              </a:p>
            </p:txBody>
          </p:sp>
        </mc:Fallback>
      </mc:AlternateContent>
      <p:sp>
        <p:nvSpPr>
          <p:cNvPr id="66" name="Google Shape;66;p9"/>
          <p:cNvSpPr txBox="1"/>
          <p:nvPr/>
        </p:nvSpPr>
        <p:spPr>
          <a:xfrm>
            <a:off x="138374" y="156629"/>
            <a:ext cx="5478780"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alibri"/>
                <a:cs typeface="Calibri"/>
                <a:sym typeface="Calibri"/>
              </a:rPr>
              <a:t>Derivatives</a:t>
            </a:r>
            <a:endParaRPr lang="en-US" sz="4400" dirty="0">
              <a:solidFill>
                <a:schemeClr val="dk1"/>
              </a:solidFill>
              <a:latin typeface="+mj-lt"/>
              <a:ea typeface="Century Schoolbook"/>
              <a:cs typeface="Century Schoolbook"/>
              <a:sym typeface="Century Schoolbook"/>
            </a:endParaRPr>
          </a:p>
        </p:txBody>
      </p:sp>
      <p:pic>
        <p:nvPicPr>
          <p:cNvPr id="72" name="Google Shape;72;p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2828328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2967479"/>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tx1"/>
                </a:solidFill>
                <a:latin typeface="+mj-lt"/>
              </a:rPr>
              <a:t>The formal definition of the derivative of a function </a:t>
            </a:r>
            <a:r>
              <a:rPr lang="en-US" sz="2400" i="1" dirty="0">
                <a:solidFill>
                  <a:schemeClr val="tx1"/>
                </a:solidFill>
                <a:latin typeface="+mj-lt"/>
              </a:rPr>
              <a:t>f</a:t>
            </a:r>
            <a:r>
              <a:rPr lang="en-US" sz="2400" dirty="0">
                <a:solidFill>
                  <a:schemeClr val="tx1"/>
                </a:solidFill>
                <a:latin typeface="+mj-lt"/>
              </a:rPr>
              <a:t>(</a:t>
            </a:r>
            <a:r>
              <a:rPr lang="en-US" sz="2400" i="1" dirty="0">
                <a:solidFill>
                  <a:schemeClr val="tx1"/>
                </a:solidFill>
                <a:latin typeface="+mj-lt"/>
              </a:rPr>
              <a:t>x</a:t>
            </a:r>
            <a:r>
              <a:rPr lang="en-US" sz="2400" dirty="0">
                <a:solidFill>
                  <a:schemeClr val="tx1"/>
                </a:solidFill>
                <a:latin typeface="+mj-lt"/>
              </a:rPr>
              <a:t>) with respect to </a:t>
            </a:r>
            <a:r>
              <a:rPr lang="en-US" sz="2400" i="1" dirty="0">
                <a:solidFill>
                  <a:schemeClr val="tx1"/>
                </a:solidFill>
                <a:latin typeface="+mj-lt"/>
              </a:rPr>
              <a:t>x</a:t>
            </a:r>
            <a:r>
              <a:rPr lang="en-US" sz="2400" dirty="0">
                <a:solidFill>
                  <a:schemeClr val="tx1"/>
                </a:solidFill>
                <a:latin typeface="+mj-lt"/>
              </a:rPr>
              <a:t> is given by:</a:t>
            </a:r>
          </a:p>
          <a:p>
            <a:pPr marL="355600" lvl="0" indent="-342900">
              <a:buSzPts val="2800"/>
              <a:buFont typeface="Arial" panose="020B0604020202020204" pitchFamily="34" charset="0"/>
              <a:buChar char="•"/>
            </a:pPr>
            <a:endParaRPr lang="en-US" sz="2400" dirty="0">
              <a:solidFill>
                <a:schemeClr val="tx1"/>
              </a:solidFill>
              <a:latin typeface="+mj-lt"/>
              <a:ea typeface="Century Schoolbook"/>
              <a:cs typeface="Century Schoolbook"/>
              <a:sym typeface="Century Schoolbook"/>
            </a:endParaRPr>
          </a:p>
          <a:p>
            <a:pPr marL="355600" lvl="0" indent="-342900">
              <a:buSzPts val="2800"/>
              <a:buFont typeface="Arial" panose="020B0604020202020204" pitchFamily="34" charset="0"/>
              <a:buChar char="•"/>
            </a:pPr>
            <a:endParaRPr lang="en-US" sz="2400" dirty="0">
              <a:solidFill>
                <a:schemeClr val="tx1"/>
              </a:solidFill>
              <a:latin typeface="+mj-lt"/>
              <a:ea typeface="Century Schoolbook"/>
              <a:cs typeface="Century Schoolbook"/>
              <a:sym typeface="Century Schoolbook"/>
            </a:endParaRPr>
          </a:p>
          <a:p>
            <a:pPr marL="12700" lvl="0">
              <a:buSzPts val="2800"/>
            </a:pPr>
            <a:r>
              <a:rPr lang="en-US" sz="2400" dirty="0">
                <a:solidFill>
                  <a:schemeClr val="tx1"/>
                </a:solidFill>
                <a:latin typeface="+mj-lt"/>
              </a:rPr>
              <a:t>	This definition describes the change in the function </a:t>
            </a:r>
            <a:r>
              <a:rPr lang="en-US" sz="2400" i="1" dirty="0">
                <a:solidFill>
                  <a:schemeClr val="tx1"/>
                </a:solidFill>
                <a:latin typeface="+mj-lt"/>
              </a:rPr>
              <a:t>f</a:t>
            </a:r>
            <a:r>
              <a:rPr lang="en-US" sz="2400" dirty="0">
                <a:solidFill>
                  <a:schemeClr val="tx1"/>
                </a:solidFill>
                <a:latin typeface="+mj-lt"/>
              </a:rPr>
              <a:t>(</a:t>
            </a:r>
            <a:r>
              <a:rPr lang="en-US" sz="2400" i="1" dirty="0">
                <a:solidFill>
                  <a:schemeClr val="tx1"/>
                </a:solidFill>
                <a:latin typeface="+mj-lt"/>
              </a:rPr>
              <a:t>x</a:t>
            </a:r>
            <a:r>
              <a:rPr lang="en-US" sz="2400" dirty="0">
                <a:solidFill>
                  <a:schemeClr val="tx1"/>
                </a:solidFill>
                <a:latin typeface="+mj-lt"/>
              </a:rPr>
              <a:t>) as the difference in 	</a:t>
            </a:r>
            <a:r>
              <a:rPr lang="en-US" sz="2400" i="1" dirty="0">
                <a:solidFill>
                  <a:schemeClr val="tx1"/>
                </a:solidFill>
                <a:latin typeface="+mj-lt"/>
              </a:rPr>
              <a:t>f</a:t>
            </a:r>
            <a:r>
              <a:rPr lang="en-US" sz="2400" dirty="0">
                <a:solidFill>
                  <a:schemeClr val="tx1"/>
                </a:solidFill>
                <a:latin typeface="+mj-lt"/>
              </a:rPr>
              <a:t>(</a:t>
            </a:r>
            <a:r>
              <a:rPr lang="en-US" sz="2400" i="1" dirty="0">
                <a:solidFill>
                  <a:schemeClr val="tx1"/>
                </a:solidFill>
                <a:latin typeface="+mj-lt"/>
              </a:rPr>
              <a:t>x</a:t>
            </a:r>
            <a:r>
              <a:rPr lang="en-US" sz="2400" dirty="0">
                <a:solidFill>
                  <a:schemeClr val="tx1"/>
                </a:solidFill>
                <a:latin typeface="+mj-lt"/>
              </a:rPr>
              <a:t>) for a small change in </a:t>
            </a:r>
            <a:r>
              <a:rPr lang="en-US" sz="2400" i="1" dirty="0">
                <a:solidFill>
                  <a:schemeClr val="tx1"/>
                </a:solidFill>
                <a:latin typeface="+mj-lt"/>
              </a:rPr>
              <a:t>x</a:t>
            </a:r>
            <a:r>
              <a:rPr lang="en-US" sz="2400" dirty="0">
                <a:solidFill>
                  <a:schemeClr val="tx1"/>
                </a:solidFill>
                <a:latin typeface="+mj-lt"/>
              </a:rPr>
              <a:t> (given by ℎ) approaches zero.</a:t>
            </a:r>
          </a:p>
          <a:p>
            <a:pPr marL="355600" lvl="0" indent="-342900">
              <a:buSzPts val="2800"/>
              <a:buFont typeface="Arial" panose="020B0604020202020204" pitchFamily="34" charset="0"/>
              <a:buChar char="•"/>
            </a:pPr>
            <a:r>
              <a:rPr lang="en-US" sz="2400" dirty="0">
                <a:solidFill>
                  <a:schemeClr val="tx1"/>
                </a:solidFill>
                <a:latin typeface="+mj-lt"/>
                <a:ea typeface="Century Schoolbook"/>
                <a:cs typeface="Century Schoolbook"/>
                <a:sym typeface="Century Schoolbook"/>
              </a:rPr>
              <a:t>Consider the example in the next slide.</a:t>
            </a:r>
          </a:p>
          <a:p>
            <a:pPr marL="355600" lvl="0" indent="-342900">
              <a:buSzPts val="2800"/>
              <a:buFont typeface="Arial" panose="020B0604020202020204" pitchFamily="34" charset="0"/>
              <a:buChar char="•"/>
            </a:pPr>
            <a:endParaRPr lang="en-US" sz="2400" dirty="0">
              <a:solidFill>
                <a:schemeClr val="tx1"/>
              </a:solidFill>
              <a:latin typeface="+mj-lt"/>
              <a:ea typeface="Century Schoolbook"/>
              <a:cs typeface="Century Schoolbook"/>
              <a:sym typeface="Century Schoolbook"/>
            </a:endParaRPr>
          </a:p>
        </p:txBody>
      </p:sp>
      <p:sp>
        <p:nvSpPr>
          <p:cNvPr id="66" name="Google Shape;66;p9"/>
          <p:cNvSpPr txBox="1"/>
          <p:nvPr/>
        </p:nvSpPr>
        <p:spPr>
          <a:xfrm>
            <a:off x="138374" y="156629"/>
            <a:ext cx="5478780"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alibri"/>
                <a:cs typeface="Calibri"/>
                <a:sym typeface="Calibri"/>
              </a:rPr>
              <a:t>Derivatives</a:t>
            </a:r>
            <a:endParaRPr lang="en-US" sz="4400" dirty="0">
              <a:solidFill>
                <a:schemeClr val="dk1"/>
              </a:solidFill>
              <a:latin typeface="+mj-lt"/>
              <a:ea typeface="Century Schoolbook"/>
              <a:cs typeface="Century Schoolbook"/>
              <a:sym typeface="Century Schoolbook"/>
            </a:endParaRP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3" name="Picture 2"/>
          <p:cNvPicPr>
            <a:picLocks noChangeAspect="1"/>
          </p:cNvPicPr>
          <p:nvPr/>
        </p:nvPicPr>
        <p:blipFill>
          <a:blip r:embed="rId4"/>
          <a:stretch>
            <a:fillRect/>
          </a:stretch>
        </p:blipFill>
        <p:spPr>
          <a:xfrm>
            <a:off x="3866926" y="1985464"/>
            <a:ext cx="3974658" cy="521068"/>
          </a:xfrm>
          <a:prstGeom prst="rect">
            <a:avLst/>
          </a:prstGeom>
        </p:spPr>
      </p:pic>
    </p:spTree>
    <p:extLst>
      <p:ext uri="{BB962C8B-B14F-4D97-AF65-F5344CB8AC3E}">
        <p14:creationId xmlns:p14="http://schemas.microsoft.com/office/powerpoint/2010/main" val="2442161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46"/>
        <p:cNvGrpSpPr/>
        <p:nvPr/>
      </p:nvGrpSpPr>
      <p:grpSpPr>
        <a:xfrm>
          <a:off x="0" y="0"/>
          <a:ext cx="0" cy="0"/>
          <a:chOff x="0" y="0"/>
          <a:chExt cx="0" cy="0"/>
        </a:xfrm>
      </p:grpSpPr>
      <p:sp>
        <p:nvSpPr>
          <p:cNvPr id="147" name="Google Shape;147;p19"/>
          <p:cNvSpPr txBox="1">
            <a:spLocks noGrp="1"/>
          </p:cNvSpPr>
          <p:nvPr>
            <p:ph type="ctrTitle"/>
          </p:nvPr>
        </p:nvSpPr>
        <p:spPr>
          <a:xfrm>
            <a:off x="218589" y="125470"/>
            <a:ext cx="11668759"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Intuition about derivatives</a:t>
            </a:r>
            <a:endParaRPr sz="4400" dirty="0">
              <a:latin typeface="+mj-lt"/>
              <a:ea typeface="Century Schoolbook"/>
              <a:cs typeface="Century Schoolbook"/>
              <a:sym typeface="Century Schoolbook"/>
            </a:endParaRPr>
          </a:p>
        </p:txBody>
      </p:sp>
      <p:sp>
        <p:nvSpPr>
          <p:cNvPr id="148" name="Google Shape;148;p19"/>
          <p:cNvSpPr txBox="1">
            <a:spLocks noGrp="1"/>
          </p:cNvSpPr>
          <p:nvPr>
            <p:ph type="subTitle" idx="1"/>
          </p:nvPr>
        </p:nvSpPr>
        <p:spPr>
          <a:xfrm>
            <a:off x="5397623" y="2186797"/>
            <a:ext cx="4415161" cy="615553"/>
          </a:xfrm>
          <a:prstGeom prst="rect">
            <a:avLst/>
          </a:prstGeom>
          <a:noFill/>
          <a:ln>
            <a:noFill/>
          </a:ln>
        </p:spPr>
        <p:txBody>
          <a:bodyPr spcFirstLastPara="1" wrap="square" lIns="0" tIns="0" rIns="0" bIns="0" anchor="t" anchorCtr="0">
            <a:spAutoFit/>
          </a:bodyPr>
          <a:lstStyle/>
          <a:p>
            <a:pPr marL="457200" lvl="0" indent="-228600" algn="l" rtl="0">
              <a:lnSpc>
                <a:spcPct val="100000"/>
              </a:lnSpc>
              <a:spcBef>
                <a:spcPts val="0"/>
              </a:spcBef>
              <a:spcAft>
                <a:spcPts val="0"/>
              </a:spcAft>
              <a:buSzPts val="1400"/>
              <a:buNone/>
            </a:pPr>
            <a:r>
              <a:rPr lang="en-US" sz="2000"/>
              <a:t>a = 2              f(a) = 6</a:t>
            </a:r>
            <a:endParaRPr/>
          </a:p>
          <a:p>
            <a:pPr marL="457200" lvl="0" indent="-228600" algn="l" rtl="0">
              <a:lnSpc>
                <a:spcPct val="100000"/>
              </a:lnSpc>
              <a:spcBef>
                <a:spcPts val="0"/>
              </a:spcBef>
              <a:spcAft>
                <a:spcPts val="0"/>
              </a:spcAft>
              <a:buSzPts val="1400"/>
              <a:buNone/>
            </a:pPr>
            <a:r>
              <a:rPr lang="en-US" sz="2000"/>
              <a:t>a = 2.001      f(a) = 6.003</a:t>
            </a:r>
            <a:endParaRPr/>
          </a:p>
        </p:txBody>
      </p:sp>
      <p:grpSp>
        <p:nvGrpSpPr>
          <p:cNvPr id="149" name="Google Shape;149;p19"/>
          <p:cNvGrpSpPr/>
          <p:nvPr/>
        </p:nvGrpSpPr>
        <p:grpSpPr>
          <a:xfrm>
            <a:off x="1019654" y="1718364"/>
            <a:ext cx="3585210" cy="3734435"/>
            <a:chOff x="1090676" y="1853983"/>
            <a:chExt cx="3585210" cy="3734435"/>
          </a:xfrm>
        </p:grpSpPr>
        <p:sp>
          <p:nvSpPr>
            <p:cNvPr id="150" name="Google Shape;150;p19"/>
            <p:cNvSpPr/>
            <p:nvPr/>
          </p:nvSpPr>
          <p:spPr>
            <a:xfrm>
              <a:off x="1343672" y="1918996"/>
              <a:ext cx="1421765" cy="3488690"/>
            </a:xfrm>
            <a:custGeom>
              <a:avLst/>
              <a:gdLst/>
              <a:ahLst/>
              <a:cxnLst/>
              <a:rect l="l" t="t" r="r" b="b"/>
              <a:pathLst>
                <a:path w="1421764" h="3488690" extrusionOk="0">
                  <a:moveTo>
                    <a:pt x="0" y="3488600"/>
                  </a:moveTo>
                  <a:lnTo>
                    <a:pt x="142124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1" name="Google Shape;151;p19"/>
            <p:cNvSpPr/>
            <p:nvPr/>
          </p:nvSpPr>
          <p:spPr>
            <a:xfrm>
              <a:off x="1090676" y="1853983"/>
              <a:ext cx="3585210" cy="3734435"/>
            </a:xfrm>
            <a:custGeom>
              <a:avLst/>
              <a:gdLst/>
              <a:ahLst/>
              <a:cxnLst/>
              <a:rect l="l" t="t" r="r" b="b"/>
              <a:pathLst>
                <a:path w="3585210" h="3734435" extrusionOk="0">
                  <a:moveTo>
                    <a:pt x="3584829" y="3553612"/>
                  </a:moveTo>
                  <a:lnTo>
                    <a:pt x="3567887" y="3545141"/>
                  </a:lnTo>
                  <a:lnTo>
                    <a:pt x="3457829" y="3490112"/>
                  </a:lnTo>
                  <a:lnTo>
                    <a:pt x="3457829" y="3545141"/>
                  </a:lnTo>
                  <a:lnTo>
                    <a:pt x="240474" y="3545141"/>
                  </a:lnTo>
                  <a:lnTo>
                    <a:pt x="240474" y="127000"/>
                  </a:lnTo>
                  <a:lnTo>
                    <a:pt x="295503" y="127000"/>
                  </a:lnTo>
                  <a:lnTo>
                    <a:pt x="289153" y="114300"/>
                  </a:lnTo>
                  <a:lnTo>
                    <a:pt x="232003" y="0"/>
                  </a:lnTo>
                  <a:lnTo>
                    <a:pt x="168503" y="127000"/>
                  </a:lnTo>
                  <a:lnTo>
                    <a:pt x="223545" y="127000"/>
                  </a:lnTo>
                  <a:lnTo>
                    <a:pt x="223545" y="3545141"/>
                  </a:lnTo>
                  <a:lnTo>
                    <a:pt x="0" y="3545141"/>
                  </a:lnTo>
                  <a:lnTo>
                    <a:pt x="0" y="3562070"/>
                  </a:lnTo>
                  <a:lnTo>
                    <a:pt x="223545" y="3562070"/>
                  </a:lnTo>
                  <a:lnTo>
                    <a:pt x="223545" y="3734016"/>
                  </a:lnTo>
                  <a:lnTo>
                    <a:pt x="240474" y="3734016"/>
                  </a:lnTo>
                  <a:lnTo>
                    <a:pt x="240474" y="3562070"/>
                  </a:lnTo>
                  <a:lnTo>
                    <a:pt x="3457829" y="3562070"/>
                  </a:lnTo>
                  <a:lnTo>
                    <a:pt x="3457829" y="3617112"/>
                  </a:lnTo>
                  <a:lnTo>
                    <a:pt x="3567912" y="3562070"/>
                  </a:lnTo>
                  <a:lnTo>
                    <a:pt x="3584829" y="355361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2" name="Google Shape;152;p19"/>
          <p:cNvSpPr txBox="1"/>
          <p:nvPr/>
        </p:nvSpPr>
        <p:spPr>
          <a:xfrm>
            <a:off x="3331347" y="2281562"/>
            <a:ext cx="246577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f(a) = 3a</a:t>
            </a:r>
            <a:endParaRPr sz="1400" b="0" i="0" u="none" strike="noStrike" cap="none">
              <a:solidFill>
                <a:srgbClr val="000000"/>
              </a:solidFill>
              <a:latin typeface="Arial"/>
              <a:ea typeface="Arial"/>
              <a:cs typeface="Arial"/>
              <a:sym typeface="Arial"/>
            </a:endParaRPr>
          </a:p>
        </p:txBody>
      </p:sp>
      <p:sp>
        <p:nvSpPr>
          <p:cNvPr id="153" name="Google Shape;153;p19"/>
          <p:cNvSpPr txBox="1"/>
          <p:nvPr/>
        </p:nvSpPr>
        <p:spPr>
          <a:xfrm>
            <a:off x="301099" y="3343057"/>
            <a:ext cx="101965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6.003</a:t>
            </a:r>
            <a:endParaRPr sz="1400" b="0" i="0" u="none" strike="noStrike" cap="none">
              <a:solidFill>
                <a:srgbClr val="000000"/>
              </a:solidFill>
              <a:latin typeface="Arial"/>
              <a:ea typeface="Arial"/>
              <a:cs typeface="Arial"/>
              <a:sym typeface="Arial"/>
            </a:endParaRPr>
          </a:p>
        </p:txBody>
      </p:sp>
      <p:sp>
        <p:nvSpPr>
          <p:cNvPr id="154" name="Google Shape;154;p19"/>
          <p:cNvSpPr txBox="1"/>
          <p:nvPr/>
        </p:nvSpPr>
        <p:spPr>
          <a:xfrm>
            <a:off x="5577397" y="4191952"/>
            <a:ext cx="613003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 = 5              f(a) = 15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 = 5.001      f(a) = 15.003</a:t>
            </a:r>
            <a:endParaRPr sz="1400" b="0" i="0" u="none" strike="noStrike" cap="none">
              <a:solidFill>
                <a:srgbClr val="000000"/>
              </a:solidFill>
              <a:latin typeface="Arial"/>
              <a:ea typeface="Arial"/>
              <a:cs typeface="Arial"/>
              <a:sym typeface="Arial"/>
            </a:endParaRPr>
          </a:p>
        </p:txBody>
      </p:sp>
      <p:sp>
        <p:nvSpPr>
          <p:cNvPr id="155" name="Google Shape;155;p19"/>
          <p:cNvSpPr txBox="1"/>
          <p:nvPr/>
        </p:nvSpPr>
        <p:spPr>
          <a:xfrm>
            <a:off x="5577397" y="4724833"/>
            <a:ext cx="613003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slope derivative of f(a) at a = 5 is also 3 </a:t>
            </a:r>
            <a:endParaRPr sz="1400" b="0" i="0" u="none" strike="noStrike" cap="none">
              <a:solidFill>
                <a:srgbClr val="000000"/>
              </a:solidFill>
              <a:latin typeface="Arial"/>
              <a:ea typeface="Arial"/>
              <a:cs typeface="Arial"/>
              <a:sym typeface="Arial"/>
            </a:endParaRPr>
          </a:p>
        </p:txBody>
      </p:sp>
      <p:sp>
        <p:nvSpPr>
          <p:cNvPr id="156" name="Google Shape;156;p19"/>
          <p:cNvSpPr txBox="1"/>
          <p:nvPr/>
        </p:nvSpPr>
        <p:spPr>
          <a:xfrm>
            <a:off x="2705513" y="5292179"/>
            <a:ext cx="6130030" cy="515654"/>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cxnSp>
        <p:nvCxnSpPr>
          <p:cNvPr id="157" name="Google Shape;157;p19"/>
          <p:cNvCxnSpPr/>
          <p:nvPr/>
        </p:nvCxnSpPr>
        <p:spPr>
          <a:xfrm>
            <a:off x="2313373" y="2677811"/>
            <a:ext cx="190130" cy="0"/>
          </a:xfrm>
          <a:prstGeom prst="straightConnector1">
            <a:avLst/>
          </a:prstGeom>
          <a:noFill/>
          <a:ln w="38100" cap="flat" cmpd="sng">
            <a:solidFill>
              <a:schemeClr val="accent2"/>
            </a:solidFill>
            <a:prstDash val="solid"/>
            <a:round/>
            <a:headEnd type="none" w="sm" len="sm"/>
            <a:tailEnd type="none" w="sm" len="sm"/>
          </a:ln>
          <a:effectLst>
            <a:outerShdw blurRad="40000" dist="23000" dir="5400000" rotWithShape="0">
              <a:srgbClr val="000000">
                <a:alpha val="34509"/>
              </a:srgbClr>
            </a:outerShdw>
          </a:effectLst>
        </p:spPr>
      </p:cxnSp>
      <p:cxnSp>
        <p:nvCxnSpPr>
          <p:cNvPr id="158" name="Google Shape;158;p19"/>
          <p:cNvCxnSpPr/>
          <p:nvPr/>
        </p:nvCxnSpPr>
        <p:spPr>
          <a:xfrm rot="10800000">
            <a:off x="2503503" y="2281562"/>
            <a:ext cx="0" cy="396249"/>
          </a:xfrm>
          <a:prstGeom prst="straightConnector1">
            <a:avLst/>
          </a:prstGeom>
          <a:noFill/>
          <a:ln w="38100" cap="flat" cmpd="sng">
            <a:solidFill>
              <a:schemeClr val="accent2"/>
            </a:solidFill>
            <a:prstDash val="solid"/>
            <a:round/>
            <a:headEnd type="none" w="sm" len="sm"/>
            <a:tailEnd type="none" w="sm" len="sm"/>
          </a:ln>
          <a:effectLst>
            <a:outerShdw blurRad="40000" dist="23000" dir="5400000" rotWithShape="0">
              <a:srgbClr val="000000">
                <a:alpha val="34509"/>
              </a:srgbClr>
            </a:outerShdw>
          </a:effectLst>
        </p:spPr>
      </p:cxnSp>
      <p:cxnSp>
        <p:nvCxnSpPr>
          <p:cNvPr id="159" name="Google Shape;159;p19"/>
          <p:cNvCxnSpPr/>
          <p:nvPr/>
        </p:nvCxnSpPr>
        <p:spPr>
          <a:xfrm>
            <a:off x="1870969" y="3805444"/>
            <a:ext cx="190130" cy="0"/>
          </a:xfrm>
          <a:prstGeom prst="straightConnector1">
            <a:avLst/>
          </a:prstGeom>
          <a:noFill/>
          <a:ln w="38100" cap="flat" cmpd="sng">
            <a:solidFill>
              <a:schemeClr val="accent2"/>
            </a:solidFill>
            <a:prstDash val="solid"/>
            <a:round/>
            <a:headEnd type="none" w="sm" len="sm"/>
            <a:tailEnd type="none" w="sm" len="sm"/>
          </a:ln>
          <a:effectLst>
            <a:outerShdw blurRad="40000" dist="23000" dir="5400000" rotWithShape="0">
              <a:srgbClr val="000000">
                <a:alpha val="34509"/>
              </a:srgbClr>
            </a:outerShdw>
          </a:effectLst>
        </p:spPr>
      </p:cxnSp>
      <p:cxnSp>
        <p:nvCxnSpPr>
          <p:cNvPr id="160" name="Google Shape;160;p19"/>
          <p:cNvCxnSpPr/>
          <p:nvPr/>
        </p:nvCxnSpPr>
        <p:spPr>
          <a:xfrm rot="10800000">
            <a:off x="2061099" y="3409195"/>
            <a:ext cx="0" cy="396249"/>
          </a:xfrm>
          <a:prstGeom prst="straightConnector1">
            <a:avLst/>
          </a:prstGeom>
          <a:noFill/>
          <a:ln w="38100" cap="flat" cmpd="sng">
            <a:solidFill>
              <a:schemeClr val="accent2"/>
            </a:solidFill>
            <a:prstDash val="solid"/>
            <a:round/>
            <a:headEnd type="none" w="sm" len="sm"/>
            <a:tailEnd type="none" w="sm" len="sm"/>
          </a:ln>
          <a:effectLst>
            <a:outerShdw blurRad="40000" dist="23000" dir="5400000" rotWithShape="0">
              <a:srgbClr val="000000">
                <a:alpha val="34509"/>
              </a:srgbClr>
            </a:outerShdw>
          </a:effectLst>
        </p:spPr>
      </p:cxnSp>
      <p:cxnSp>
        <p:nvCxnSpPr>
          <p:cNvPr id="161" name="Google Shape;161;p19"/>
          <p:cNvCxnSpPr/>
          <p:nvPr/>
        </p:nvCxnSpPr>
        <p:spPr>
          <a:xfrm>
            <a:off x="1272650" y="3409195"/>
            <a:ext cx="788449" cy="0"/>
          </a:xfrm>
          <a:prstGeom prst="straightConnector1">
            <a:avLst/>
          </a:prstGeom>
          <a:noFill/>
          <a:ln w="9525" cap="flat" cmpd="sng">
            <a:solidFill>
              <a:schemeClr val="accent5"/>
            </a:solidFill>
            <a:prstDash val="dash"/>
            <a:round/>
            <a:headEnd type="none" w="sm" len="sm"/>
            <a:tailEnd type="none" w="sm" len="sm"/>
          </a:ln>
        </p:spPr>
      </p:cxnSp>
      <p:cxnSp>
        <p:nvCxnSpPr>
          <p:cNvPr id="162" name="Google Shape;162;p19"/>
          <p:cNvCxnSpPr/>
          <p:nvPr/>
        </p:nvCxnSpPr>
        <p:spPr>
          <a:xfrm>
            <a:off x="1272650" y="3805444"/>
            <a:ext cx="788449" cy="0"/>
          </a:xfrm>
          <a:prstGeom prst="straightConnector1">
            <a:avLst/>
          </a:prstGeom>
          <a:noFill/>
          <a:ln w="9525" cap="flat" cmpd="sng">
            <a:solidFill>
              <a:schemeClr val="accent5"/>
            </a:solidFill>
            <a:prstDash val="dash"/>
            <a:round/>
            <a:headEnd type="none" w="sm" len="sm"/>
            <a:tailEnd type="none" w="sm" len="sm"/>
          </a:ln>
        </p:spPr>
      </p:cxnSp>
      <p:sp>
        <p:nvSpPr>
          <p:cNvPr id="163" name="Google Shape;163;p19"/>
          <p:cNvSpPr txBox="1"/>
          <p:nvPr/>
        </p:nvSpPr>
        <p:spPr>
          <a:xfrm>
            <a:off x="762191" y="3621074"/>
            <a:ext cx="63203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cxnSp>
        <p:nvCxnSpPr>
          <p:cNvPr id="164" name="Google Shape;164;p19"/>
          <p:cNvCxnSpPr/>
          <p:nvPr/>
        </p:nvCxnSpPr>
        <p:spPr>
          <a:xfrm>
            <a:off x="1884469" y="3823205"/>
            <a:ext cx="0" cy="1461408"/>
          </a:xfrm>
          <a:prstGeom prst="straightConnector1">
            <a:avLst/>
          </a:prstGeom>
          <a:noFill/>
          <a:ln w="9525" cap="flat" cmpd="sng">
            <a:solidFill>
              <a:schemeClr val="accent5"/>
            </a:solidFill>
            <a:prstDash val="dash"/>
            <a:round/>
            <a:headEnd type="none" w="sm" len="sm"/>
            <a:tailEnd type="none" w="sm" len="sm"/>
          </a:ln>
        </p:spPr>
      </p:cxnSp>
      <p:cxnSp>
        <p:nvCxnSpPr>
          <p:cNvPr id="165" name="Google Shape;165;p19"/>
          <p:cNvCxnSpPr/>
          <p:nvPr/>
        </p:nvCxnSpPr>
        <p:spPr>
          <a:xfrm>
            <a:off x="2061099" y="3661942"/>
            <a:ext cx="0" cy="1622671"/>
          </a:xfrm>
          <a:prstGeom prst="straightConnector1">
            <a:avLst/>
          </a:prstGeom>
          <a:noFill/>
          <a:ln w="9525" cap="flat" cmpd="sng">
            <a:solidFill>
              <a:schemeClr val="accent5"/>
            </a:solidFill>
            <a:prstDash val="dash"/>
            <a:round/>
            <a:headEnd type="none" w="sm" len="sm"/>
            <a:tailEnd type="none" w="sm" len="sm"/>
          </a:ln>
        </p:spPr>
      </p:cxnSp>
      <p:sp>
        <p:nvSpPr>
          <p:cNvPr id="166" name="Google Shape;166;p19"/>
          <p:cNvSpPr txBox="1"/>
          <p:nvPr/>
        </p:nvSpPr>
        <p:spPr>
          <a:xfrm>
            <a:off x="1733366" y="5328848"/>
            <a:ext cx="256342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 </a:t>
            </a:r>
            <a:endParaRPr sz="1400" b="0" i="0" u="none" strike="noStrike" cap="none">
              <a:solidFill>
                <a:srgbClr val="000000"/>
              </a:solidFill>
              <a:latin typeface="Arial"/>
              <a:ea typeface="Arial"/>
              <a:cs typeface="Arial"/>
              <a:sym typeface="Arial"/>
            </a:endParaRPr>
          </a:p>
        </p:txBody>
      </p:sp>
      <p:sp>
        <p:nvSpPr>
          <p:cNvPr id="167" name="Google Shape;167;p19"/>
          <p:cNvSpPr txBox="1"/>
          <p:nvPr/>
        </p:nvSpPr>
        <p:spPr>
          <a:xfrm>
            <a:off x="1936229" y="5328848"/>
            <a:ext cx="24493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2.001 </a:t>
            </a:r>
            <a:endParaRPr sz="1400" b="0" i="0" u="none" strike="noStrike" cap="none">
              <a:solidFill>
                <a:srgbClr val="000000"/>
              </a:solidFill>
              <a:latin typeface="Arial"/>
              <a:ea typeface="Arial"/>
              <a:cs typeface="Arial"/>
              <a:sym typeface="Arial"/>
            </a:endParaRPr>
          </a:p>
        </p:txBody>
      </p:sp>
      <p:sp>
        <p:nvSpPr>
          <p:cNvPr id="168" name="Google Shape;168;p19"/>
          <p:cNvSpPr txBox="1"/>
          <p:nvPr/>
        </p:nvSpPr>
        <p:spPr>
          <a:xfrm>
            <a:off x="2512382" y="5718574"/>
            <a:ext cx="187318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a:t>
            </a:r>
            <a:endParaRPr sz="1400" b="0" i="0" u="none" strike="noStrike" cap="none">
              <a:solidFill>
                <a:srgbClr val="000000"/>
              </a:solidFill>
              <a:latin typeface="Arial"/>
              <a:ea typeface="Arial"/>
              <a:cs typeface="Arial"/>
              <a:sym typeface="Arial"/>
            </a:endParaRPr>
          </a:p>
        </p:txBody>
      </p:sp>
      <p:sp>
        <p:nvSpPr>
          <p:cNvPr id="169" name="Google Shape;169;p19"/>
          <p:cNvSpPr txBox="1"/>
          <p:nvPr/>
        </p:nvSpPr>
        <p:spPr>
          <a:xfrm>
            <a:off x="5397623" y="3256224"/>
            <a:ext cx="613003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slope derivative of f(a) at a = 2 is 3</a:t>
            </a:r>
            <a:endParaRPr sz="1400" b="0" i="0" u="none" strike="noStrike" cap="none">
              <a:solidFill>
                <a:srgbClr val="000000"/>
              </a:solidFill>
              <a:latin typeface="Arial"/>
              <a:ea typeface="Arial"/>
              <a:cs typeface="Arial"/>
              <a:sym typeface="Arial"/>
            </a:endParaRPr>
          </a:p>
        </p:txBody>
      </p:sp>
      <p:pic>
        <p:nvPicPr>
          <p:cNvPr id="170" name="Google Shape;170;p1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20"/>
          <p:cNvPicPr preferRelativeResize="0"/>
          <p:nvPr/>
        </p:nvPicPr>
        <p:blipFill rotWithShape="1">
          <a:blip r:embed="rId3">
            <a:alphaModFix/>
          </a:blip>
          <a:srcRect/>
          <a:stretch/>
        </p:blipFill>
        <p:spPr>
          <a:xfrm>
            <a:off x="205152" y="161192"/>
            <a:ext cx="11776025" cy="6550476"/>
          </a:xfrm>
          <a:prstGeom prst="rect">
            <a:avLst/>
          </a:prstGeom>
          <a:noFill/>
          <a:ln>
            <a:noFill/>
          </a:ln>
        </p:spPr>
      </p:pic>
      <p:pic>
        <p:nvPicPr>
          <p:cNvPr id="176" name="Google Shape;176;p20"/>
          <p:cNvPicPr preferRelativeResize="0"/>
          <p:nvPr/>
        </p:nvPicPr>
        <p:blipFill rotWithShape="1">
          <a:blip r:embed="rId4">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2967479"/>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A derivative is the slope of a function at a particular point. The slope can be different at different points on the function, depending on the shape of the function.</a:t>
            </a:r>
          </a:p>
          <a:p>
            <a:pPr marL="355600" lvl="0" indent="-342900">
              <a:buSzPts val="2800"/>
              <a:buFont typeface="Arial" panose="020B0604020202020204" pitchFamily="34" charset="0"/>
              <a:buChar char="•"/>
            </a:pPr>
            <a:endParaRPr lang="en-US" sz="2400" dirty="0">
              <a:solidFill>
                <a:schemeClr val="dk1"/>
              </a:solidFill>
              <a:latin typeface="+mj-lt"/>
              <a:ea typeface="Century Schoolbook"/>
              <a:cs typeface="Century Schoolbook"/>
              <a:sym typeface="Century Schoolbook"/>
            </a:endParaRP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For example, the function f(a) = a² has a derivative of 2a. This means that if you nudge a to the right by a small amount, say 0.001, f(a) should go up by approximately 2a times 0.001. So if a = 2, then the derivative is 4, and if you nudge a to 2.001, f(a) should go up by about 0.008.</a:t>
            </a:r>
          </a:p>
        </p:txBody>
      </p:sp>
      <p:sp>
        <p:nvSpPr>
          <p:cNvPr id="66" name="Google Shape;66;p9"/>
          <p:cNvSpPr txBox="1"/>
          <p:nvPr/>
        </p:nvSpPr>
        <p:spPr>
          <a:xfrm>
            <a:off x="138374" y="156629"/>
            <a:ext cx="7467282"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alibri"/>
                <a:cs typeface="Calibri"/>
                <a:sym typeface="Calibri"/>
              </a:rPr>
              <a:t>More derivatives examples</a:t>
            </a:r>
            <a:endParaRPr lang="en-US" sz="4400" dirty="0">
              <a:solidFill>
                <a:schemeClr val="dk1"/>
              </a:solidFill>
              <a:latin typeface="+mj-lt"/>
              <a:ea typeface="Century Schoolbook"/>
              <a:cs typeface="Century Schoolbook"/>
              <a:sym typeface="Century Schoolbook"/>
            </a:endParaRP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1527624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1"/>
          <p:cNvSpPr txBox="1">
            <a:spLocks noGrp="1"/>
          </p:cNvSpPr>
          <p:nvPr>
            <p:ph type="ctrTitle"/>
          </p:nvPr>
        </p:nvSpPr>
        <p:spPr>
          <a:xfrm>
            <a:off x="158690" y="81085"/>
            <a:ext cx="11668759" cy="677108"/>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4400" dirty="0">
                <a:latin typeface="+mj-lt"/>
              </a:rPr>
              <a:t>Intuition about derivatives</a:t>
            </a:r>
            <a:endParaRPr sz="4400" dirty="0">
              <a:latin typeface="+mj-lt"/>
            </a:endParaRPr>
          </a:p>
        </p:txBody>
      </p:sp>
      <p:pic>
        <p:nvPicPr>
          <p:cNvPr id="182" name="Google Shape;182;p21"/>
          <p:cNvPicPr preferRelativeResize="0"/>
          <p:nvPr/>
        </p:nvPicPr>
        <p:blipFill rotWithShape="1">
          <a:blip r:embed="rId3">
            <a:alphaModFix/>
          </a:blip>
          <a:srcRect/>
          <a:stretch/>
        </p:blipFill>
        <p:spPr>
          <a:xfrm>
            <a:off x="389507" y="2359463"/>
            <a:ext cx="4482751" cy="3348879"/>
          </a:xfrm>
          <a:prstGeom prst="rect">
            <a:avLst/>
          </a:prstGeom>
          <a:noFill/>
          <a:ln>
            <a:noFill/>
          </a:ln>
        </p:spPr>
      </p:pic>
      <p:sp>
        <p:nvSpPr>
          <p:cNvPr id="183" name="Google Shape;183;p21"/>
          <p:cNvSpPr txBox="1"/>
          <p:nvPr/>
        </p:nvSpPr>
        <p:spPr>
          <a:xfrm>
            <a:off x="5903651" y="2593751"/>
            <a:ext cx="6196612"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 = 2              f(a) = 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 = 2.001      f(a) = 4.004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21"/>
          <p:cNvSpPr txBox="1"/>
          <p:nvPr/>
        </p:nvSpPr>
        <p:spPr>
          <a:xfrm>
            <a:off x="5903651" y="3217809"/>
            <a:ext cx="61966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slope derivative of f(a) at a = 2 is 4</a:t>
            </a:r>
            <a:endParaRPr sz="1400" b="0" i="0" u="none" strike="noStrike" cap="none">
              <a:solidFill>
                <a:srgbClr val="000000"/>
              </a:solidFill>
              <a:latin typeface="Arial"/>
              <a:ea typeface="Arial"/>
              <a:cs typeface="Arial"/>
              <a:sym typeface="Arial"/>
            </a:endParaRPr>
          </a:p>
        </p:txBody>
      </p:sp>
      <p:sp>
        <p:nvSpPr>
          <p:cNvPr id="185" name="Google Shape;185;p21"/>
          <p:cNvSpPr txBox="1"/>
          <p:nvPr/>
        </p:nvSpPr>
        <p:spPr>
          <a:xfrm>
            <a:off x="5903651" y="3694863"/>
            <a:ext cx="619661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a = 5              f(a) = 25</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a = 5.001      f(a) = 25.010</a:t>
            </a:r>
            <a:endParaRPr sz="1400" b="0" i="0" u="none" strike="noStrike" cap="none" dirty="0">
              <a:solidFill>
                <a:srgbClr val="000000"/>
              </a:solidFill>
              <a:latin typeface="Arial"/>
              <a:ea typeface="Arial"/>
              <a:cs typeface="Arial"/>
              <a:sym typeface="Arial"/>
            </a:endParaRPr>
          </a:p>
        </p:txBody>
      </p:sp>
      <p:sp>
        <p:nvSpPr>
          <p:cNvPr id="186" name="Google Shape;186;p21"/>
          <p:cNvSpPr txBox="1"/>
          <p:nvPr/>
        </p:nvSpPr>
        <p:spPr>
          <a:xfrm>
            <a:off x="3713823" y="5205640"/>
            <a:ext cx="6196612" cy="502702"/>
          </a:xfrm>
          <a:prstGeom prst="rect">
            <a:avLst/>
          </a:prstGeom>
          <a:blipFill rotWithShape="1">
            <a:blip r:embed="rId4">
              <a:alphaModFix/>
            </a:blip>
            <a:stretch>
              <a:fillRect b="-243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187" name="Google Shape;187;p21"/>
          <p:cNvSpPr txBox="1"/>
          <p:nvPr/>
        </p:nvSpPr>
        <p:spPr>
          <a:xfrm>
            <a:off x="2478349" y="5254673"/>
            <a:ext cx="585930" cy="307777"/>
          </a:xfrm>
          <a:prstGeom prst="rect">
            <a:avLst/>
          </a:prstGeom>
          <a:blipFill rotWithShape="1">
            <a:blip r:embed="rId5">
              <a:alphaModFix/>
            </a:blip>
            <a:stretch>
              <a:fillRect r="-20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cxnSp>
        <p:nvCxnSpPr>
          <p:cNvPr id="188" name="Google Shape;188;p21"/>
          <p:cNvCxnSpPr/>
          <p:nvPr/>
        </p:nvCxnSpPr>
        <p:spPr>
          <a:xfrm rot="10800000">
            <a:off x="2565648" y="3496738"/>
            <a:ext cx="0" cy="396249"/>
          </a:xfrm>
          <a:prstGeom prst="straightConnector1">
            <a:avLst/>
          </a:prstGeom>
          <a:noFill/>
          <a:ln w="38100" cap="flat" cmpd="sng">
            <a:solidFill>
              <a:schemeClr val="accent2"/>
            </a:solidFill>
            <a:prstDash val="solid"/>
            <a:round/>
            <a:headEnd type="none" w="sm" len="sm"/>
            <a:tailEnd type="none" w="sm" len="sm"/>
          </a:ln>
          <a:effectLst>
            <a:outerShdw blurRad="40000" dist="23000" dir="5400000" rotWithShape="0">
              <a:srgbClr val="000000">
                <a:alpha val="34509"/>
              </a:srgbClr>
            </a:outerShdw>
          </a:effectLst>
        </p:spPr>
      </p:cxnSp>
      <p:cxnSp>
        <p:nvCxnSpPr>
          <p:cNvPr id="189" name="Google Shape;189;p21"/>
          <p:cNvCxnSpPr/>
          <p:nvPr/>
        </p:nvCxnSpPr>
        <p:spPr>
          <a:xfrm>
            <a:off x="2414729" y="3893244"/>
            <a:ext cx="150919" cy="0"/>
          </a:xfrm>
          <a:prstGeom prst="straightConnector1">
            <a:avLst/>
          </a:prstGeom>
          <a:noFill/>
          <a:ln w="38100" cap="flat" cmpd="sng">
            <a:solidFill>
              <a:schemeClr val="accent2"/>
            </a:solidFill>
            <a:prstDash val="solid"/>
            <a:round/>
            <a:headEnd type="none" w="sm" len="sm"/>
            <a:tailEnd type="none" w="sm" len="sm"/>
          </a:ln>
          <a:effectLst>
            <a:outerShdw blurRad="40000" dist="23000" dir="5400000" rotWithShape="0">
              <a:srgbClr val="000000">
                <a:alpha val="34509"/>
              </a:srgbClr>
            </a:outerShdw>
          </a:effectLst>
        </p:spPr>
      </p:cxnSp>
      <p:cxnSp>
        <p:nvCxnSpPr>
          <p:cNvPr id="190" name="Google Shape;190;p21"/>
          <p:cNvCxnSpPr/>
          <p:nvPr/>
        </p:nvCxnSpPr>
        <p:spPr>
          <a:xfrm rot="10800000">
            <a:off x="2130640" y="4404302"/>
            <a:ext cx="0" cy="247597"/>
          </a:xfrm>
          <a:prstGeom prst="straightConnector1">
            <a:avLst/>
          </a:prstGeom>
          <a:noFill/>
          <a:ln w="38100" cap="flat" cmpd="sng">
            <a:solidFill>
              <a:schemeClr val="accent2"/>
            </a:solidFill>
            <a:prstDash val="solid"/>
            <a:round/>
            <a:headEnd type="none" w="sm" len="sm"/>
            <a:tailEnd type="none" w="sm" len="sm"/>
          </a:ln>
          <a:effectLst>
            <a:outerShdw blurRad="40000" dist="23000" dir="5400000" rotWithShape="0">
              <a:srgbClr val="000000">
                <a:alpha val="34509"/>
              </a:srgbClr>
            </a:outerShdw>
          </a:effectLst>
        </p:spPr>
      </p:cxnSp>
      <p:cxnSp>
        <p:nvCxnSpPr>
          <p:cNvPr id="191" name="Google Shape;191;p21"/>
          <p:cNvCxnSpPr/>
          <p:nvPr/>
        </p:nvCxnSpPr>
        <p:spPr>
          <a:xfrm>
            <a:off x="1908699" y="4651899"/>
            <a:ext cx="221941" cy="0"/>
          </a:xfrm>
          <a:prstGeom prst="straightConnector1">
            <a:avLst/>
          </a:prstGeom>
          <a:noFill/>
          <a:ln w="38100" cap="flat" cmpd="sng">
            <a:solidFill>
              <a:schemeClr val="accent2"/>
            </a:solidFill>
            <a:prstDash val="solid"/>
            <a:round/>
            <a:headEnd type="none" w="sm" len="sm"/>
            <a:tailEnd type="none" w="sm" len="sm"/>
          </a:ln>
          <a:effectLst>
            <a:outerShdw blurRad="40000" dist="23000" dir="5400000" rotWithShape="0">
              <a:srgbClr val="000000">
                <a:alpha val="34509"/>
              </a:srgbClr>
            </a:outerShdw>
          </a:effectLst>
        </p:spPr>
      </p:cxnSp>
      <p:cxnSp>
        <p:nvCxnSpPr>
          <p:cNvPr id="192" name="Google Shape;192;p21"/>
          <p:cNvCxnSpPr/>
          <p:nvPr/>
        </p:nvCxnSpPr>
        <p:spPr>
          <a:xfrm>
            <a:off x="790113" y="3496738"/>
            <a:ext cx="1775535" cy="0"/>
          </a:xfrm>
          <a:prstGeom prst="straightConnector1">
            <a:avLst/>
          </a:prstGeom>
          <a:noFill/>
          <a:ln w="9525" cap="flat" cmpd="sng">
            <a:solidFill>
              <a:schemeClr val="accent5"/>
            </a:solidFill>
            <a:prstDash val="dash"/>
            <a:round/>
            <a:headEnd type="none" w="sm" len="sm"/>
            <a:tailEnd type="none" w="sm" len="sm"/>
          </a:ln>
        </p:spPr>
      </p:cxnSp>
      <p:cxnSp>
        <p:nvCxnSpPr>
          <p:cNvPr id="193" name="Google Shape;193;p21"/>
          <p:cNvCxnSpPr/>
          <p:nvPr/>
        </p:nvCxnSpPr>
        <p:spPr>
          <a:xfrm>
            <a:off x="790113" y="3892987"/>
            <a:ext cx="1688236" cy="0"/>
          </a:xfrm>
          <a:prstGeom prst="straightConnector1">
            <a:avLst/>
          </a:prstGeom>
          <a:noFill/>
          <a:ln w="9525" cap="flat" cmpd="sng">
            <a:solidFill>
              <a:schemeClr val="accent5"/>
            </a:solidFill>
            <a:prstDash val="dash"/>
            <a:round/>
            <a:headEnd type="none" w="sm" len="sm"/>
            <a:tailEnd type="none" w="sm" len="sm"/>
          </a:ln>
        </p:spPr>
      </p:cxnSp>
      <p:cxnSp>
        <p:nvCxnSpPr>
          <p:cNvPr id="194" name="Google Shape;194;p21"/>
          <p:cNvCxnSpPr/>
          <p:nvPr/>
        </p:nvCxnSpPr>
        <p:spPr>
          <a:xfrm>
            <a:off x="2414729" y="3889779"/>
            <a:ext cx="0" cy="1259270"/>
          </a:xfrm>
          <a:prstGeom prst="straightConnector1">
            <a:avLst/>
          </a:prstGeom>
          <a:noFill/>
          <a:ln w="9525" cap="flat" cmpd="sng">
            <a:solidFill>
              <a:schemeClr val="accent5"/>
            </a:solidFill>
            <a:prstDash val="dash"/>
            <a:round/>
            <a:headEnd type="none" w="sm" len="sm"/>
            <a:tailEnd type="none" w="sm" len="sm"/>
          </a:ln>
        </p:spPr>
      </p:cxnSp>
      <p:cxnSp>
        <p:nvCxnSpPr>
          <p:cNvPr id="195" name="Google Shape;195;p21"/>
          <p:cNvCxnSpPr/>
          <p:nvPr/>
        </p:nvCxnSpPr>
        <p:spPr>
          <a:xfrm>
            <a:off x="2565648" y="3863061"/>
            <a:ext cx="0" cy="1285988"/>
          </a:xfrm>
          <a:prstGeom prst="straightConnector1">
            <a:avLst/>
          </a:prstGeom>
          <a:noFill/>
          <a:ln w="9525" cap="flat" cmpd="sng">
            <a:solidFill>
              <a:schemeClr val="accent5"/>
            </a:solidFill>
            <a:prstDash val="dash"/>
            <a:round/>
            <a:headEnd type="none" w="sm" len="sm"/>
            <a:tailEnd type="none" w="sm" len="sm"/>
          </a:ln>
        </p:spPr>
      </p:cxnSp>
      <p:sp>
        <p:nvSpPr>
          <p:cNvPr id="196" name="Google Shape;196;p21"/>
          <p:cNvSpPr txBox="1"/>
          <p:nvPr/>
        </p:nvSpPr>
        <p:spPr>
          <a:xfrm>
            <a:off x="2281565" y="5248020"/>
            <a:ext cx="28408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97" name="Google Shape;197;p21"/>
          <p:cNvSpPr txBox="1"/>
          <p:nvPr/>
        </p:nvSpPr>
        <p:spPr>
          <a:xfrm>
            <a:off x="389507" y="3735890"/>
            <a:ext cx="89664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98" name="Google Shape;198;p21"/>
          <p:cNvSpPr txBox="1"/>
          <p:nvPr/>
        </p:nvSpPr>
        <p:spPr>
          <a:xfrm>
            <a:off x="158690" y="3349564"/>
            <a:ext cx="112746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4.004</a:t>
            </a:r>
            <a:endParaRPr sz="1400" b="0" i="0" u="none" strike="noStrike" cap="none">
              <a:solidFill>
                <a:srgbClr val="000000"/>
              </a:solidFill>
              <a:latin typeface="Arial"/>
              <a:ea typeface="Arial"/>
              <a:cs typeface="Arial"/>
              <a:sym typeface="Arial"/>
            </a:endParaRPr>
          </a:p>
        </p:txBody>
      </p:sp>
      <p:sp>
        <p:nvSpPr>
          <p:cNvPr id="199" name="Google Shape;199;p21"/>
          <p:cNvSpPr txBox="1"/>
          <p:nvPr/>
        </p:nvSpPr>
        <p:spPr>
          <a:xfrm>
            <a:off x="3871773" y="4414971"/>
            <a:ext cx="6196612" cy="501356"/>
          </a:xfrm>
          <a:prstGeom prst="rect">
            <a:avLst/>
          </a:prstGeom>
          <a:blipFill rotWithShape="1">
            <a:blip r:embed="rId6">
              <a:alphaModFix/>
            </a:blip>
            <a:stretch>
              <a:fillRect b="-243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pic>
        <p:nvPicPr>
          <p:cNvPr id="200" name="Google Shape;200;p21"/>
          <p:cNvPicPr preferRelativeResize="0"/>
          <p:nvPr/>
        </p:nvPicPr>
        <p:blipFill rotWithShape="1">
          <a:blip r:embed="rId7">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1859483"/>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Similarly, the function f(a) = a³ has a derivative of 3a², and the function f(a) = log(a) has a derivative of 1/a. Derivatives are defined using infinitesimally small nudges to a, rather than small but finite nudges like 0.001. This means that the values of f(a) given by the derivative formula may be only approximate if you use a small but finite nudge like 0.001.</a:t>
            </a:r>
          </a:p>
        </p:txBody>
      </p:sp>
      <p:sp>
        <p:nvSpPr>
          <p:cNvPr id="66" name="Google Shape;66;p9"/>
          <p:cNvSpPr txBox="1"/>
          <p:nvPr/>
        </p:nvSpPr>
        <p:spPr>
          <a:xfrm>
            <a:off x="138373" y="156629"/>
            <a:ext cx="7746981"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alibri"/>
                <a:cs typeface="Calibri"/>
                <a:sym typeface="Calibri"/>
              </a:rPr>
              <a:t>More derivatives examples</a:t>
            </a:r>
            <a:endParaRPr lang="en-US" sz="4400" dirty="0">
              <a:solidFill>
                <a:schemeClr val="dk1"/>
              </a:solidFill>
              <a:latin typeface="+mj-lt"/>
              <a:ea typeface="Century Schoolbook"/>
              <a:cs typeface="Century Schoolbook"/>
              <a:sym typeface="Century Schoolbook"/>
            </a:endParaRP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3574530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2"/>
          <p:cNvSpPr txBox="1">
            <a:spLocks noGrp="1"/>
          </p:cNvSpPr>
          <p:nvPr>
            <p:ph type="ctrTitle"/>
          </p:nvPr>
        </p:nvSpPr>
        <p:spPr>
          <a:xfrm>
            <a:off x="261620" y="68923"/>
            <a:ext cx="11668759" cy="677108"/>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4400" dirty="0">
                <a:latin typeface="+mj-lt"/>
              </a:rPr>
              <a:t>More derivative examples</a:t>
            </a:r>
            <a:endParaRPr sz="4400" dirty="0">
              <a:latin typeface="+mj-lt"/>
            </a:endParaRPr>
          </a:p>
        </p:txBody>
      </p:sp>
      <p:sp>
        <p:nvSpPr>
          <p:cNvPr id="206" name="Google Shape;206;p22"/>
          <p:cNvSpPr txBox="1"/>
          <p:nvPr/>
        </p:nvSpPr>
        <p:spPr>
          <a:xfrm>
            <a:off x="1020933" y="2176500"/>
            <a:ext cx="6196612" cy="369332"/>
          </a:xfrm>
          <a:prstGeom prst="rect">
            <a:avLst/>
          </a:prstGeom>
          <a:blipFill rotWithShape="1">
            <a:blip r:embed="rId3">
              <a:alphaModFix/>
            </a:blip>
            <a:stretch>
              <a:fillRect l="-784" t="-8193" b="-2458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07" name="Google Shape;207;p22"/>
          <p:cNvSpPr txBox="1"/>
          <p:nvPr/>
        </p:nvSpPr>
        <p:spPr>
          <a:xfrm>
            <a:off x="5912528" y="2038000"/>
            <a:ext cx="619661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 = 2              f(a) = 8</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 = 2.001       f(a) = 8.012</a:t>
            </a:r>
            <a:endParaRPr sz="1400" b="0" i="0" u="none" strike="noStrike" cap="none">
              <a:solidFill>
                <a:srgbClr val="000000"/>
              </a:solidFill>
              <a:latin typeface="Arial"/>
              <a:ea typeface="Arial"/>
              <a:cs typeface="Arial"/>
              <a:sym typeface="Arial"/>
            </a:endParaRPr>
          </a:p>
        </p:txBody>
      </p:sp>
      <p:sp>
        <p:nvSpPr>
          <p:cNvPr id="208" name="Google Shape;208;p22"/>
          <p:cNvSpPr txBox="1"/>
          <p:nvPr/>
        </p:nvSpPr>
        <p:spPr>
          <a:xfrm>
            <a:off x="2982896" y="2127660"/>
            <a:ext cx="3417903" cy="619913"/>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09" name="Google Shape;209;p22"/>
          <p:cNvSpPr txBox="1"/>
          <p:nvPr/>
        </p:nvSpPr>
        <p:spPr>
          <a:xfrm>
            <a:off x="1020933" y="3498940"/>
            <a:ext cx="139379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f(a) = ln(a) </a:t>
            </a:r>
            <a:endParaRPr sz="1400" b="0" i="0" u="none" strike="noStrike" cap="none">
              <a:solidFill>
                <a:srgbClr val="000000"/>
              </a:solidFill>
              <a:latin typeface="Arial"/>
              <a:ea typeface="Arial"/>
              <a:cs typeface="Arial"/>
              <a:sym typeface="Arial"/>
            </a:endParaRPr>
          </a:p>
        </p:txBody>
      </p:sp>
      <p:sp>
        <p:nvSpPr>
          <p:cNvPr id="210" name="Google Shape;210;p22"/>
          <p:cNvSpPr txBox="1"/>
          <p:nvPr/>
        </p:nvSpPr>
        <p:spPr>
          <a:xfrm>
            <a:off x="1384917" y="3422983"/>
            <a:ext cx="6196612" cy="619913"/>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11" name="Google Shape;211;p22"/>
          <p:cNvSpPr txBox="1"/>
          <p:nvPr/>
        </p:nvSpPr>
        <p:spPr>
          <a:xfrm>
            <a:off x="5912528" y="3363114"/>
            <a:ext cx="619661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 = 2              f(a) = 0.69315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 = 2.001       f(a) =  0. 69365</a:t>
            </a:r>
            <a:endParaRPr sz="1400" b="0" i="0" u="none" strike="noStrike" cap="none">
              <a:solidFill>
                <a:srgbClr val="000000"/>
              </a:solidFill>
              <a:latin typeface="Arial"/>
              <a:ea typeface="Arial"/>
              <a:cs typeface="Arial"/>
              <a:sym typeface="Arial"/>
            </a:endParaRPr>
          </a:p>
        </p:txBody>
      </p:sp>
      <p:pic>
        <p:nvPicPr>
          <p:cNvPr id="212" name="Google Shape;212;p22"/>
          <p:cNvPicPr preferRelativeResize="0"/>
          <p:nvPr/>
        </p:nvPicPr>
        <p:blipFill rotWithShape="1">
          <a:blip r:embed="rId6">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23"/>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8" name="Google Shape;218;p23"/>
          <p:cNvSpPr txBox="1">
            <a:spLocks noGrp="1"/>
          </p:cNvSpPr>
          <p:nvPr>
            <p:ph type="body" idx="1"/>
          </p:nvPr>
        </p:nvSpPr>
        <p:spPr>
          <a:xfrm>
            <a:off x="458279" y="1121824"/>
            <a:ext cx="11527930" cy="1887637"/>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219" name="Google Shape;219;p23"/>
          <p:cNvSpPr txBox="1"/>
          <p:nvPr/>
        </p:nvSpPr>
        <p:spPr>
          <a:xfrm>
            <a:off x="4544009" y="3831166"/>
            <a:ext cx="7442199" cy="936154"/>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Computation Graph</a:t>
            </a:r>
            <a:endParaRPr sz="6000" b="0" i="0" u="none" strike="noStrike" cap="none" dirty="0">
              <a:solidFill>
                <a:schemeClr val="dk1"/>
              </a:solidFill>
              <a:latin typeface="+mj-lt"/>
              <a:ea typeface="Calibri"/>
              <a:cs typeface="Calibri"/>
              <a:sym typeface="Calibri"/>
            </a:endParaRPr>
          </a:p>
        </p:txBody>
      </p:sp>
      <p:pic>
        <p:nvPicPr>
          <p:cNvPr id="220" name="Google Shape;220;p23"/>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3336811"/>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Computation graph is a way to visualize the computations of a function as a graph. The computation graph is helpful for computing derivatives or gradients of a function efficiently.</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The computations of a neural network are organized in terms of a forward pass or a forward propagation step, in which we compute the output of the neural network, followed by a backward pass or back propagation step, which we use to compute gradients or compute derivatives. Computation graphs explain why it is organized this way.</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Example: J = 3(a + </a:t>
            </a:r>
            <a:r>
              <a:rPr lang="en-US" sz="2400" dirty="0" err="1">
                <a:solidFill>
                  <a:schemeClr val="dk1"/>
                </a:solidFill>
                <a:latin typeface="+mj-lt"/>
                <a:ea typeface="Century Schoolbook"/>
                <a:cs typeface="Century Schoolbook"/>
                <a:sym typeface="Century Schoolbook"/>
              </a:rPr>
              <a:t>bc</a:t>
            </a:r>
            <a:r>
              <a:rPr lang="en-US" sz="2400" dirty="0">
                <a:solidFill>
                  <a:schemeClr val="dk1"/>
                </a:solidFill>
                <a:latin typeface="+mj-lt"/>
                <a:ea typeface="Century Schoolbook"/>
                <a:cs typeface="Century Schoolbook"/>
                <a:sym typeface="Century Schoolbook"/>
              </a:rPr>
              <a:t>). </a:t>
            </a:r>
          </a:p>
        </p:txBody>
      </p:sp>
      <p:sp>
        <p:nvSpPr>
          <p:cNvPr id="66" name="Google Shape;66;p9"/>
          <p:cNvSpPr txBox="1"/>
          <p:nvPr/>
        </p:nvSpPr>
        <p:spPr>
          <a:xfrm>
            <a:off x="138374" y="156629"/>
            <a:ext cx="6262426"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alibri"/>
                <a:cs typeface="Calibri"/>
                <a:sym typeface="Calibri"/>
              </a:rPr>
              <a:t>Computation Graph</a:t>
            </a: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1068047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24"/>
        <p:cNvGrpSpPr/>
        <p:nvPr/>
      </p:nvGrpSpPr>
      <p:grpSpPr>
        <a:xfrm>
          <a:off x="0" y="0"/>
          <a:ext cx="0" cy="0"/>
          <a:chOff x="0" y="0"/>
          <a:chExt cx="0" cy="0"/>
        </a:xfrm>
      </p:grpSpPr>
      <p:sp>
        <p:nvSpPr>
          <p:cNvPr id="225" name="Google Shape;225;p24"/>
          <p:cNvSpPr txBox="1">
            <a:spLocks noGrp="1"/>
          </p:cNvSpPr>
          <p:nvPr>
            <p:ph type="title"/>
          </p:nvPr>
        </p:nvSpPr>
        <p:spPr>
          <a:xfrm>
            <a:off x="295505" y="132080"/>
            <a:ext cx="52203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Computation Graph</a:t>
            </a:r>
            <a:endParaRPr sz="4400" dirty="0">
              <a:latin typeface="+mj-lt"/>
              <a:ea typeface="Century Schoolbook"/>
              <a:cs typeface="Century Schoolbook"/>
              <a:sym typeface="Century Schoolbook"/>
            </a:endParaRPr>
          </a:p>
        </p:txBody>
      </p:sp>
      <p:pic>
        <p:nvPicPr>
          <p:cNvPr id="227" name="Google Shape;227;p24"/>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2" name="Picture 1"/>
          <p:cNvPicPr>
            <a:picLocks noChangeAspect="1"/>
          </p:cNvPicPr>
          <p:nvPr/>
        </p:nvPicPr>
        <p:blipFill>
          <a:blip r:embed="rId4"/>
          <a:stretch>
            <a:fillRect/>
          </a:stretch>
        </p:blipFill>
        <p:spPr>
          <a:xfrm>
            <a:off x="909637" y="2200275"/>
            <a:ext cx="10372725" cy="2457450"/>
          </a:xfrm>
          <a:prstGeom prst="rect">
            <a:avLst/>
          </a:prstGeom>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3336811"/>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The computation graph is useful when there is a distinguished output variable, such as J in this case, that we want to optimize. The computation of J involves a left-to-right pass through the graph, which computes the value of J. In order to compute the derivatives of J, a right-to-left pass is needed, which computes the gradients or derivatives of the variables with respect to J.</a:t>
            </a:r>
          </a:p>
          <a:p>
            <a:pPr marL="355600" lvl="0" indent="-342900">
              <a:buSzPts val="2800"/>
              <a:buFont typeface="Arial" panose="020B0604020202020204" pitchFamily="34" charset="0"/>
              <a:buChar char="•"/>
            </a:pPr>
            <a:endParaRPr lang="en-US" sz="2400" dirty="0">
              <a:solidFill>
                <a:schemeClr val="dk1"/>
              </a:solidFill>
              <a:latin typeface="+mj-lt"/>
              <a:ea typeface="Century Schoolbook"/>
              <a:cs typeface="Century Schoolbook"/>
              <a:sym typeface="Century Schoolbook"/>
            </a:endParaRP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In summary, the computation graph provides a way to organize the computations of a function, and it helps to efficiently compute derivatives or gradients of the function.</a:t>
            </a:r>
          </a:p>
        </p:txBody>
      </p:sp>
      <p:sp>
        <p:nvSpPr>
          <p:cNvPr id="66" name="Google Shape;66;p9"/>
          <p:cNvSpPr txBox="1"/>
          <p:nvPr/>
        </p:nvSpPr>
        <p:spPr>
          <a:xfrm>
            <a:off x="138374" y="156629"/>
            <a:ext cx="6262426"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alibri"/>
                <a:cs typeface="Calibri"/>
                <a:sym typeface="Calibri"/>
              </a:rPr>
              <a:t>Computation Graph</a:t>
            </a: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3124716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31"/>
        <p:cNvGrpSpPr/>
        <p:nvPr/>
      </p:nvGrpSpPr>
      <p:grpSpPr>
        <a:xfrm>
          <a:off x="0" y="0"/>
          <a:ext cx="0" cy="0"/>
          <a:chOff x="0" y="0"/>
          <a:chExt cx="0" cy="0"/>
        </a:xfrm>
      </p:grpSpPr>
      <p:sp>
        <p:nvSpPr>
          <p:cNvPr id="232" name="Google Shape;232;p25"/>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3" name="Google Shape;233;p25"/>
          <p:cNvSpPr txBox="1">
            <a:spLocks noGrp="1"/>
          </p:cNvSpPr>
          <p:nvPr>
            <p:ph type="body" idx="1"/>
          </p:nvPr>
        </p:nvSpPr>
        <p:spPr>
          <a:xfrm>
            <a:off x="458279" y="1121825"/>
            <a:ext cx="11527930" cy="1859483"/>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234" name="Google Shape;234;p25"/>
          <p:cNvSpPr txBox="1"/>
          <p:nvPr/>
        </p:nvSpPr>
        <p:spPr>
          <a:xfrm>
            <a:off x="4544009" y="3695696"/>
            <a:ext cx="7442199" cy="1859483"/>
          </a:xfrm>
          <a:prstGeom prst="rect">
            <a:avLst/>
          </a:prstGeom>
          <a:noFill/>
          <a:ln>
            <a:noFill/>
          </a:ln>
        </p:spPr>
        <p:txBody>
          <a:bodyPr spcFirstLastPara="1" wrap="square" lIns="0" tIns="12700" rIns="0" bIns="0" anchor="t" anchorCtr="0">
            <a:spAutoFit/>
          </a:bodyPr>
          <a:lstStyle/>
          <a:p>
            <a:pPr marL="12700" marR="5080" lvl="0" indent="305435" algn="ctr"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Derivatives with a  Computation Graph</a:t>
            </a:r>
            <a:endParaRPr sz="6000" b="0" i="0" u="none" strike="noStrike" cap="none" dirty="0">
              <a:solidFill>
                <a:schemeClr val="dk1"/>
              </a:solidFill>
              <a:latin typeface="+mj-lt"/>
              <a:ea typeface="Calibri"/>
              <a:cs typeface="Calibri"/>
              <a:sym typeface="Calibri"/>
            </a:endParaRPr>
          </a:p>
        </p:txBody>
      </p:sp>
      <p:pic>
        <p:nvPicPr>
          <p:cNvPr id="235" name="Google Shape;235;p25"/>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2598147"/>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Consider example of how to use a computation graph to compute a function J and then how to use it to figure out derivative calculations for J. </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The computation graph organizes the computation with a left-to-right pass and a right-to-left pass. The left-to-right pass computes the value of the final output variable, J, while the right-to-left pass computes derivatives. </a:t>
            </a: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Computing the derivative of J with respect to v and shows how to use the chain rule to compute the derivatives of intermediate variables such as a, u, b, and c. </a:t>
            </a:r>
          </a:p>
        </p:txBody>
      </p:sp>
      <p:sp>
        <p:nvSpPr>
          <p:cNvPr id="66" name="Google Shape;66;p9"/>
          <p:cNvSpPr txBox="1"/>
          <p:nvPr/>
        </p:nvSpPr>
        <p:spPr>
          <a:xfrm>
            <a:off x="138373" y="156629"/>
            <a:ext cx="10124422" cy="689932"/>
          </a:xfrm>
          <a:prstGeom prst="rect">
            <a:avLst/>
          </a:prstGeom>
          <a:noFill/>
          <a:ln>
            <a:noFill/>
          </a:ln>
        </p:spPr>
        <p:txBody>
          <a:bodyPr spcFirstLastPara="1" wrap="square" lIns="0" tIns="12700" rIns="0" bIns="0" anchor="t" anchorCtr="0">
            <a:spAutoFit/>
          </a:bodyPr>
          <a:lstStyle/>
          <a:p>
            <a:pPr marL="12700" marR="5080" lvl="0" indent="305435">
              <a:buSzPts val="6000"/>
            </a:pPr>
            <a:r>
              <a:rPr lang="en-US" sz="4400" dirty="0">
                <a:solidFill>
                  <a:schemeClr val="dk1"/>
                </a:solidFill>
                <a:latin typeface="+mj-lt"/>
                <a:ea typeface="Calibri"/>
                <a:cs typeface="Calibri"/>
                <a:sym typeface="Calibri"/>
              </a:rPr>
              <a:t>Derivatives with a  Computation Graph</a:t>
            </a: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1580138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39"/>
        <p:cNvGrpSpPr/>
        <p:nvPr/>
      </p:nvGrpSpPr>
      <p:grpSpPr>
        <a:xfrm>
          <a:off x="0" y="0"/>
          <a:ext cx="0" cy="0"/>
          <a:chOff x="0" y="0"/>
          <a:chExt cx="0" cy="0"/>
        </a:xfrm>
      </p:grpSpPr>
      <p:pic>
        <p:nvPicPr>
          <p:cNvPr id="240" name="Google Shape;240;p26"/>
          <p:cNvPicPr preferRelativeResize="0"/>
          <p:nvPr/>
        </p:nvPicPr>
        <p:blipFill rotWithShape="1">
          <a:blip r:embed="rId3">
            <a:alphaModFix/>
          </a:blip>
          <a:srcRect/>
          <a:stretch/>
        </p:blipFill>
        <p:spPr>
          <a:xfrm>
            <a:off x="501161" y="72891"/>
            <a:ext cx="10475650" cy="6437658"/>
          </a:xfrm>
          <a:prstGeom prst="rect">
            <a:avLst/>
          </a:prstGeom>
          <a:noFill/>
          <a:ln>
            <a:noFill/>
          </a:ln>
        </p:spPr>
      </p:pic>
      <p:pic>
        <p:nvPicPr>
          <p:cNvPr id="241" name="Google Shape;241;p26"/>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45"/>
        <p:cNvGrpSpPr/>
        <p:nvPr/>
      </p:nvGrpSpPr>
      <p:grpSpPr>
        <a:xfrm>
          <a:off x="0" y="0"/>
          <a:ext cx="0" cy="0"/>
          <a:chOff x="0" y="0"/>
          <a:chExt cx="0" cy="0"/>
        </a:xfrm>
      </p:grpSpPr>
      <p:sp>
        <p:nvSpPr>
          <p:cNvPr id="246" name="Google Shape;246;p27"/>
          <p:cNvSpPr/>
          <p:nvPr/>
        </p:nvSpPr>
        <p:spPr>
          <a:xfrm>
            <a:off x="4544009" y="3459886"/>
            <a:ext cx="7438390" cy="0"/>
          </a:xfrm>
          <a:custGeom>
            <a:avLst/>
            <a:gdLst/>
            <a:ahLst/>
            <a:cxnLst/>
            <a:rect l="l" t="t" r="r" b="b"/>
            <a:pathLst>
              <a:path w="7438390" h="120000" extrusionOk="0">
                <a:moveTo>
                  <a:pt x="0" y="0"/>
                </a:moveTo>
                <a:lnTo>
                  <a:pt x="7438244" y="0"/>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7" name="Google Shape;247;p27"/>
          <p:cNvSpPr txBox="1">
            <a:spLocks noGrp="1"/>
          </p:cNvSpPr>
          <p:nvPr>
            <p:ph type="body" idx="1"/>
          </p:nvPr>
        </p:nvSpPr>
        <p:spPr>
          <a:xfrm>
            <a:off x="458279" y="1121824"/>
            <a:ext cx="11524120" cy="1887639"/>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dirty="0"/>
              <a:t>Basics of Neural  Network Programming</a:t>
            </a:r>
            <a:endParaRPr dirty="0"/>
          </a:p>
        </p:txBody>
      </p:sp>
      <p:sp>
        <p:nvSpPr>
          <p:cNvPr id="248" name="Google Shape;248;p27"/>
          <p:cNvSpPr txBox="1"/>
          <p:nvPr/>
        </p:nvSpPr>
        <p:spPr>
          <a:xfrm>
            <a:off x="4544009" y="3584071"/>
            <a:ext cx="7438390" cy="1859483"/>
          </a:xfrm>
          <a:prstGeom prst="rect">
            <a:avLst/>
          </a:prstGeom>
          <a:noFill/>
          <a:ln>
            <a:noFill/>
          </a:ln>
        </p:spPr>
        <p:txBody>
          <a:bodyPr spcFirstLastPara="1" wrap="square" lIns="0" tIns="12700" rIns="0" bIns="0" anchor="t" anchorCtr="0">
            <a:spAutoFit/>
          </a:bodyPr>
          <a:lstStyle/>
          <a:p>
            <a:pPr marL="358140" marR="5080" lvl="0" indent="-346075" algn="ctr"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Logistic Regression  Gradient descent</a:t>
            </a:r>
            <a:endParaRPr sz="6000" b="0" i="0" u="none" strike="noStrike" cap="none" dirty="0">
              <a:solidFill>
                <a:schemeClr val="dk1"/>
              </a:solidFill>
              <a:latin typeface="+mj-lt"/>
              <a:ea typeface="Calibri"/>
              <a:cs typeface="Calibri"/>
              <a:sym typeface="Calibri"/>
            </a:endParaRPr>
          </a:p>
        </p:txBody>
      </p:sp>
      <p:pic>
        <p:nvPicPr>
          <p:cNvPr id="249" name="Google Shape;249;p27"/>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53"/>
        <p:cNvGrpSpPr/>
        <p:nvPr/>
      </p:nvGrpSpPr>
      <p:grpSpPr>
        <a:xfrm>
          <a:off x="0" y="0"/>
          <a:ext cx="0" cy="0"/>
          <a:chOff x="0" y="0"/>
          <a:chExt cx="0" cy="0"/>
        </a:xfrm>
      </p:grpSpPr>
      <p:pic>
        <p:nvPicPr>
          <p:cNvPr id="254" name="Google Shape;254;p28"/>
          <p:cNvPicPr preferRelativeResize="0"/>
          <p:nvPr/>
        </p:nvPicPr>
        <p:blipFill rotWithShape="1">
          <a:blip r:embed="rId3">
            <a:alphaModFix/>
          </a:blip>
          <a:srcRect/>
          <a:stretch/>
        </p:blipFill>
        <p:spPr>
          <a:xfrm>
            <a:off x="0" y="0"/>
            <a:ext cx="12192000" cy="6851059"/>
          </a:xfrm>
          <a:prstGeom prst="rect">
            <a:avLst/>
          </a:prstGeom>
          <a:noFill/>
          <a:ln>
            <a:noFill/>
          </a:ln>
        </p:spPr>
      </p:pic>
      <p:pic>
        <p:nvPicPr>
          <p:cNvPr id="255" name="Google Shape;255;p28"/>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56" name="Google Shape;256;p28"/>
          <p:cNvSpPr txBox="1"/>
          <p:nvPr/>
        </p:nvSpPr>
        <p:spPr>
          <a:xfrm>
            <a:off x="4464075" y="5158975"/>
            <a:ext cx="52431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latin typeface="Calibri"/>
                <a:ea typeface="Calibri"/>
                <a:cs typeface="Calibri"/>
                <a:sym typeface="Calibri"/>
              </a:rPr>
              <a:t>dz = df/dz = dL(a,y)/dz</a:t>
            </a:r>
            <a:endParaRPr sz="2400">
              <a:latin typeface="Calibri"/>
              <a:ea typeface="Calibri"/>
              <a:cs typeface="Calibri"/>
              <a:sym typeface="Calibri"/>
            </a:endParaRPr>
          </a:p>
          <a:p>
            <a:pPr marL="0" lvl="0" indent="0" algn="l" rtl="0">
              <a:spcBef>
                <a:spcPts val="0"/>
              </a:spcBef>
              <a:spcAft>
                <a:spcPts val="0"/>
              </a:spcAft>
              <a:buNone/>
            </a:pPr>
            <a:r>
              <a:rPr lang="en-US" sz="2400">
                <a:latin typeface="Calibri"/>
                <a:ea typeface="Calibri"/>
                <a:cs typeface="Calibri"/>
                <a:sym typeface="Calibri"/>
              </a:rPr>
              <a:t>     = a - y</a:t>
            </a:r>
            <a:endParaRPr sz="2400">
              <a:latin typeface="Calibri"/>
              <a:ea typeface="Calibri"/>
              <a:cs typeface="Calibri"/>
              <a:sym typeface="Calibri"/>
            </a:endParaRPr>
          </a:p>
          <a:p>
            <a:pPr marL="0" lvl="0" indent="0" algn="l" rtl="0">
              <a:spcBef>
                <a:spcPts val="0"/>
              </a:spcBef>
              <a:spcAft>
                <a:spcPts val="0"/>
              </a:spcAft>
              <a:buNone/>
            </a:pPr>
            <a:r>
              <a:rPr lang="en-US" sz="2400">
                <a:latin typeface="Calibri"/>
                <a:ea typeface="Calibri"/>
                <a:cs typeface="Calibri"/>
                <a:sym typeface="Calibri"/>
              </a:rPr>
              <a:t>     = dL/da * da/dz</a:t>
            </a:r>
            <a:endParaRPr sz="2400">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260"/>
        <p:cNvGrpSpPr/>
        <p:nvPr/>
      </p:nvGrpSpPr>
      <p:grpSpPr>
        <a:xfrm>
          <a:off x="0" y="0"/>
          <a:ext cx="0" cy="0"/>
          <a:chOff x="0" y="0"/>
          <a:chExt cx="0" cy="0"/>
        </a:xfrm>
      </p:grpSpPr>
      <p:pic>
        <p:nvPicPr>
          <p:cNvPr id="261" name="Google Shape;261;p29"/>
          <p:cNvPicPr preferRelativeResize="0"/>
          <p:nvPr/>
        </p:nvPicPr>
        <p:blipFill rotWithShape="1">
          <a:blip r:embed="rId3">
            <a:alphaModFix/>
          </a:blip>
          <a:srcRect/>
          <a:stretch/>
        </p:blipFill>
        <p:spPr>
          <a:xfrm>
            <a:off x="0" y="0"/>
            <a:ext cx="12200842" cy="6860892"/>
          </a:xfrm>
          <a:prstGeom prst="rect">
            <a:avLst/>
          </a:prstGeom>
          <a:noFill/>
          <a:ln>
            <a:noFill/>
          </a:ln>
        </p:spPr>
      </p:pic>
      <p:pic>
        <p:nvPicPr>
          <p:cNvPr id="262" name="Google Shape;262;p2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266"/>
        <p:cNvGrpSpPr/>
        <p:nvPr/>
      </p:nvGrpSpPr>
      <p:grpSpPr>
        <a:xfrm>
          <a:off x="0" y="0"/>
          <a:ext cx="0" cy="0"/>
          <a:chOff x="0" y="0"/>
          <a:chExt cx="0" cy="0"/>
        </a:xfrm>
      </p:grpSpPr>
      <p:sp>
        <p:nvSpPr>
          <p:cNvPr id="267" name="Google Shape;267;p30"/>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8" name="Google Shape;268;p30"/>
          <p:cNvSpPr txBox="1">
            <a:spLocks noGrp="1"/>
          </p:cNvSpPr>
          <p:nvPr>
            <p:ph type="body" idx="1"/>
          </p:nvPr>
        </p:nvSpPr>
        <p:spPr>
          <a:xfrm>
            <a:off x="458279" y="1121824"/>
            <a:ext cx="11437799" cy="1887641"/>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269" name="Google Shape;269;p30"/>
          <p:cNvSpPr txBox="1"/>
          <p:nvPr/>
        </p:nvSpPr>
        <p:spPr>
          <a:xfrm>
            <a:off x="4421393" y="3831167"/>
            <a:ext cx="7564816" cy="1869594"/>
          </a:xfrm>
          <a:prstGeom prst="rect">
            <a:avLst/>
          </a:prstGeom>
          <a:noFill/>
          <a:ln>
            <a:noFill/>
          </a:ln>
        </p:spPr>
        <p:txBody>
          <a:bodyPr spcFirstLastPara="1" wrap="square" lIns="0" tIns="4425" rIns="0" bIns="0" anchor="t" anchorCtr="0">
            <a:spAutoFit/>
          </a:bodyPr>
          <a:lstStyle/>
          <a:p>
            <a:pPr marL="294640" marR="5080" lvl="0" indent="-282575" algn="ctr" rtl="0">
              <a:lnSpc>
                <a:spcPct val="100899"/>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Gradient descent  on </a:t>
            </a:r>
            <a:r>
              <a:rPr lang="en-US" sz="6000" b="0" i="1" u="none" strike="noStrike" cap="none" dirty="0">
                <a:solidFill>
                  <a:schemeClr val="dk1"/>
                </a:solidFill>
                <a:latin typeface="+mj-lt"/>
                <a:ea typeface="Century Schoolbook"/>
                <a:cs typeface="Century Schoolbook"/>
                <a:sym typeface="Century Schoolbook"/>
              </a:rPr>
              <a:t>m </a:t>
            </a:r>
            <a:r>
              <a:rPr lang="en-US" sz="6000" b="0" i="0" u="none" strike="noStrike" cap="none" dirty="0">
                <a:solidFill>
                  <a:schemeClr val="dk1"/>
                </a:solidFill>
                <a:latin typeface="+mj-lt"/>
                <a:ea typeface="Calibri"/>
                <a:cs typeface="Calibri"/>
                <a:sym typeface="Calibri"/>
              </a:rPr>
              <a:t>examples</a:t>
            </a:r>
            <a:endParaRPr sz="6000" b="0" i="0" u="none" strike="noStrike" cap="none" dirty="0">
              <a:solidFill>
                <a:schemeClr val="dk1"/>
              </a:solidFill>
              <a:latin typeface="+mj-lt"/>
              <a:ea typeface="Calibri"/>
              <a:cs typeface="Calibri"/>
              <a:sym typeface="Calibri"/>
            </a:endParaRPr>
          </a:p>
        </p:txBody>
      </p:sp>
      <p:pic>
        <p:nvPicPr>
          <p:cNvPr id="270" name="Google Shape;270;p30"/>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3090590"/>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To compute the derivatives of the cost function J with respect to each parameter w</a:t>
            </a:r>
            <a:r>
              <a:rPr lang="en-US" sz="2400" baseline="-25000" dirty="0">
                <a:solidFill>
                  <a:schemeClr val="dk1"/>
                </a:solidFill>
                <a:latin typeface="+mj-lt"/>
                <a:ea typeface="Century Schoolbook"/>
                <a:cs typeface="Century Schoolbook"/>
                <a:sym typeface="Century Schoolbook"/>
              </a:rPr>
              <a:t>1</a:t>
            </a:r>
            <a:r>
              <a:rPr lang="en-US" sz="2400" dirty="0">
                <a:solidFill>
                  <a:schemeClr val="dk1"/>
                </a:solidFill>
                <a:latin typeface="+mj-lt"/>
                <a:ea typeface="Century Schoolbook"/>
                <a:cs typeface="Century Schoolbook"/>
                <a:sym typeface="Century Schoolbook"/>
              </a:rPr>
              <a:t>, w</a:t>
            </a:r>
            <a:r>
              <a:rPr lang="en-US" sz="2400" baseline="-25000" dirty="0">
                <a:solidFill>
                  <a:schemeClr val="dk1"/>
                </a:solidFill>
                <a:latin typeface="+mj-lt"/>
                <a:ea typeface="Century Schoolbook"/>
                <a:cs typeface="Century Schoolbook"/>
                <a:sym typeface="Century Schoolbook"/>
              </a:rPr>
              <a:t>2</a:t>
            </a:r>
            <a:r>
              <a:rPr lang="en-US" sz="2400" dirty="0">
                <a:solidFill>
                  <a:schemeClr val="dk1"/>
                </a:solidFill>
                <a:latin typeface="+mj-lt"/>
                <a:ea typeface="Century Schoolbook"/>
                <a:cs typeface="Century Schoolbook"/>
                <a:sym typeface="Century Schoolbook"/>
              </a:rPr>
              <a:t>, and b, use a for loop over the m training examples (the next slide)</a:t>
            </a:r>
          </a:p>
          <a:p>
            <a:pPr marL="355600" lvl="0" indent="-342900">
              <a:buSzPts val="2800"/>
              <a:buFont typeface="Arial" panose="020B0604020202020204" pitchFamily="34" charset="0"/>
              <a:buChar char="•"/>
            </a:pPr>
            <a:endParaRPr lang="en-US" sz="2400" dirty="0">
              <a:solidFill>
                <a:schemeClr val="dk1"/>
              </a:solidFill>
              <a:latin typeface="+mj-lt"/>
              <a:ea typeface="Century Schoolbook"/>
              <a:cs typeface="Century Schoolbook"/>
              <a:sym typeface="Century Schoolbook"/>
            </a:endParaRP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There are two weaknesses with this calculation:</a:t>
            </a:r>
          </a:p>
          <a:p>
            <a:pPr marL="12700" lvl="1">
              <a:buSzPts val="2800"/>
            </a:pPr>
            <a:r>
              <a:rPr lang="en-US" sz="2400" dirty="0">
                <a:solidFill>
                  <a:schemeClr val="dk1"/>
                </a:solidFill>
                <a:latin typeface="+mj-lt"/>
                <a:ea typeface="Century Schoolbook"/>
                <a:cs typeface="Century Schoolbook"/>
                <a:sym typeface="Century Schoolbook"/>
              </a:rPr>
              <a:t>	- </a:t>
            </a:r>
            <a:r>
              <a:rPr lang="en-US" sz="2000" dirty="0">
                <a:solidFill>
                  <a:schemeClr val="dk1"/>
                </a:solidFill>
                <a:latin typeface="+mj-lt"/>
                <a:ea typeface="Century Schoolbook"/>
                <a:cs typeface="Century Schoolbook"/>
                <a:sym typeface="Century Schoolbook"/>
              </a:rPr>
              <a:t>Firstly, two for loops are required, one over the m training examples and another over the n 	features. </a:t>
            </a:r>
          </a:p>
          <a:p>
            <a:pPr marL="12700" lvl="1">
              <a:buSzPts val="2800"/>
            </a:pPr>
            <a:r>
              <a:rPr lang="en-US" sz="2000" dirty="0">
                <a:solidFill>
                  <a:schemeClr val="dk1"/>
                </a:solidFill>
                <a:latin typeface="+mj-lt"/>
                <a:ea typeface="Century Schoolbook"/>
                <a:cs typeface="Century Schoolbook"/>
                <a:sym typeface="Century Schoolbook"/>
              </a:rPr>
              <a:t>	- Secondly, explicit for loops make the algorithm run less efficiently, which is 	problematic when working with larger datasets. Use </a:t>
            </a:r>
            <a:r>
              <a:rPr lang="en-US" sz="2000" dirty="0">
                <a:solidFill>
                  <a:schemeClr val="dk1"/>
                </a:solidFill>
                <a:ea typeface="Century Schoolbook"/>
                <a:cs typeface="Century Schoolbook"/>
                <a:sym typeface="Century Schoolbook"/>
              </a:rPr>
              <a:t>the concept of vectorization, 	which will 	be discussed in the next section, to</a:t>
            </a:r>
            <a:r>
              <a:rPr lang="en-US" sz="2000" dirty="0">
                <a:solidFill>
                  <a:schemeClr val="dk1"/>
                </a:solidFill>
                <a:latin typeface="+mj-lt"/>
                <a:ea typeface="Century Schoolbook"/>
                <a:cs typeface="Century Schoolbook"/>
                <a:sym typeface="Century Schoolbook"/>
              </a:rPr>
              <a:t> address these issues.</a:t>
            </a:r>
          </a:p>
        </p:txBody>
      </p:sp>
      <p:sp>
        <p:nvSpPr>
          <p:cNvPr id="66" name="Google Shape;66;p9"/>
          <p:cNvSpPr txBox="1"/>
          <p:nvPr/>
        </p:nvSpPr>
        <p:spPr>
          <a:xfrm>
            <a:off x="138373" y="156629"/>
            <a:ext cx="9207849" cy="689932"/>
          </a:xfrm>
          <a:prstGeom prst="rect">
            <a:avLst/>
          </a:prstGeom>
          <a:noFill/>
          <a:ln>
            <a:noFill/>
          </a:ln>
        </p:spPr>
        <p:txBody>
          <a:bodyPr spcFirstLastPara="1" wrap="square" lIns="0" tIns="12700" rIns="0" bIns="0" anchor="t" anchorCtr="0">
            <a:spAutoFit/>
          </a:bodyPr>
          <a:lstStyle/>
          <a:p>
            <a:pPr marL="12700" marR="5080" lvl="0" indent="305435">
              <a:buSzPts val="6000"/>
            </a:pPr>
            <a:r>
              <a:rPr lang="fr-FR" sz="4400" dirty="0">
                <a:solidFill>
                  <a:schemeClr val="dk1"/>
                </a:solidFill>
                <a:latin typeface="+mj-lt"/>
                <a:ea typeface="Calibri"/>
                <a:cs typeface="Calibri"/>
                <a:sym typeface="Calibri"/>
              </a:rPr>
              <a:t>Gradient </a:t>
            </a:r>
            <a:r>
              <a:rPr lang="fr-FR" sz="4400" dirty="0" err="1">
                <a:solidFill>
                  <a:schemeClr val="dk1"/>
                </a:solidFill>
                <a:latin typeface="+mj-lt"/>
                <a:ea typeface="Calibri"/>
                <a:cs typeface="Calibri"/>
                <a:sym typeface="Calibri"/>
              </a:rPr>
              <a:t>descent</a:t>
            </a:r>
            <a:r>
              <a:rPr lang="fr-FR" sz="4400" dirty="0">
                <a:solidFill>
                  <a:schemeClr val="dk1"/>
                </a:solidFill>
                <a:latin typeface="+mj-lt"/>
                <a:ea typeface="Calibri"/>
                <a:cs typeface="Calibri"/>
                <a:sym typeface="Calibri"/>
              </a:rPr>
              <a:t>  on m </a:t>
            </a:r>
            <a:r>
              <a:rPr lang="fr-FR" sz="4400" dirty="0" err="1">
                <a:solidFill>
                  <a:schemeClr val="dk1"/>
                </a:solidFill>
                <a:latin typeface="+mj-lt"/>
                <a:ea typeface="Calibri"/>
                <a:cs typeface="Calibri"/>
                <a:sym typeface="Calibri"/>
              </a:rPr>
              <a:t>examples</a:t>
            </a:r>
            <a:endParaRPr lang="fr-FR" sz="4400" dirty="0">
              <a:solidFill>
                <a:schemeClr val="dk1"/>
              </a:solidFill>
              <a:latin typeface="+mj-lt"/>
              <a:ea typeface="Calibri"/>
              <a:cs typeface="Calibri"/>
              <a:sym typeface="Calibri"/>
            </a:endParaRP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2404858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5" name="Google Shape;275;p31"/>
          <p:cNvSpPr txBox="1">
            <a:spLocks noGrp="1"/>
          </p:cNvSpPr>
          <p:nvPr>
            <p:ph type="title"/>
          </p:nvPr>
        </p:nvSpPr>
        <p:spPr>
          <a:xfrm>
            <a:off x="106343" y="4229"/>
            <a:ext cx="88849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Logistic regression on </a:t>
            </a:r>
            <a:r>
              <a:rPr lang="en-US" sz="4400" b="0" i="1" dirty="0">
                <a:latin typeface="+mj-lt"/>
                <a:ea typeface="Century Schoolbook"/>
                <a:cs typeface="Century Schoolbook"/>
                <a:sym typeface="Century Schoolbook"/>
              </a:rPr>
              <a:t>m </a:t>
            </a:r>
            <a:r>
              <a:rPr lang="en-US" sz="4400" b="0" dirty="0">
                <a:latin typeface="+mj-lt"/>
                <a:ea typeface="Century Schoolbook"/>
                <a:cs typeface="Century Schoolbook"/>
                <a:sym typeface="Century Schoolbook"/>
              </a:rPr>
              <a:t>examples</a:t>
            </a:r>
            <a:endParaRPr sz="4400" dirty="0">
              <a:latin typeface="+mj-lt"/>
              <a:ea typeface="Century Schoolbook"/>
              <a:cs typeface="Century Schoolbook"/>
              <a:sym typeface="Century Schoolbook"/>
            </a:endParaRPr>
          </a:p>
        </p:txBody>
      </p:sp>
      <p:pic>
        <p:nvPicPr>
          <p:cNvPr id="277" name="Google Shape;277;p31"/>
          <p:cNvPicPr preferRelativeResize="0"/>
          <p:nvPr/>
        </p:nvPicPr>
        <p:blipFill rotWithShape="1">
          <a:blip r:embed="rId3">
            <a:alphaModFix/>
          </a:blip>
          <a:srcRect/>
          <a:stretch/>
        </p:blipFill>
        <p:spPr>
          <a:xfrm>
            <a:off x="8114407" y="1242939"/>
            <a:ext cx="3784107" cy="2842333"/>
          </a:xfrm>
          <a:prstGeom prst="rect">
            <a:avLst/>
          </a:prstGeom>
          <a:noFill/>
          <a:ln>
            <a:noFill/>
          </a:ln>
        </p:spPr>
      </p:pic>
      <p:pic>
        <p:nvPicPr>
          <p:cNvPr id="278" name="Google Shape;278;p3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4" name="AutoShape 2" descr="https://miro.medium.com/v2/resize:fit:1400/1*5x5DiLQUNMQljf5wsQkCLg.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5" name="Rectangle 4"/>
              <p:cNvSpPr/>
              <p:nvPr/>
            </p:nvSpPr>
            <p:spPr>
              <a:xfrm>
                <a:off x="707875" y="1447334"/>
                <a:ext cx="8283388" cy="4629985"/>
              </a:xfrm>
              <a:prstGeom prst="rect">
                <a:avLst/>
              </a:prstGeom>
            </p:spPr>
            <p:txBody>
              <a:bodyPr wrap="square">
                <a:spAutoFit/>
              </a:bodyPr>
              <a:lstStyle/>
              <a:p>
                <a:r>
                  <a:rPr lang="en-US" sz="2800" dirty="0"/>
                  <a:t>J = 0, dw</a:t>
                </a:r>
                <a:r>
                  <a:rPr lang="en-US" sz="2800" baseline="-25000" dirty="0"/>
                  <a:t>1</a:t>
                </a:r>
                <a:r>
                  <a:rPr lang="en-US" sz="2800" dirty="0"/>
                  <a:t> = 0, dw</a:t>
                </a:r>
                <a:r>
                  <a:rPr lang="en-US" sz="2800" baseline="-25000" dirty="0"/>
                  <a:t>2</a:t>
                </a:r>
                <a:r>
                  <a:rPr lang="en-US" sz="2800" dirty="0"/>
                  <a:t> = 0, </a:t>
                </a:r>
                <a:r>
                  <a:rPr lang="en-US" sz="2800" dirty="0" err="1"/>
                  <a:t>db</a:t>
                </a:r>
                <a:r>
                  <a:rPr lang="en-US" sz="2800" dirty="0"/>
                  <a:t> = 0</a:t>
                </a:r>
              </a:p>
              <a:p>
                <a:r>
                  <a:rPr lang="en-US" sz="2800" dirty="0"/>
                  <a:t>for </a:t>
                </a:r>
                <a:r>
                  <a:rPr lang="en-US" sz="2800" dirty="0" err="1"/>
                  <a:t>i</a:t>
                </a:r>
                <a:r>
                  <a:rPr lang="en-US" sz="2800" dirty="0"/>
                  <a:t> = 1 to m:</a:t>
                </a:r>
              </a:p>
              <a:p>
                <a:r>
                  <a:rPr lang="en-US" sz="2800" dirty="0"/>
                  <a:t>	z</a:t>
                </a:r>
                <a:r>
                  <a:rPr lang="en-US" sz="2800" baseline="30000" dirty="0"/>
                  <a:t>(</a:t>
                </a:r>
                <a:r>
                  <a:rPr lang="en-US" sz="2800" baseline="30000" dirty="0" err="1"/>
                  <a:t>i</a:t>
                </a:r>
                <a:r>
                  <a:rPr lang="en-US" sz="2800" baseline="30000" dirty="0"/>
                  <a:t>)</a:t>
                </a:r>
                <a:r>
                  <a:rPr lang="en-US" sz="2800" dirty="0"/>
                  <a:t> = </a:t>
                </a:r>
                <a:r>
                  <a:rPr lang="en-US" sz="2800" dirty="0" err="1"/>
                  <a:t>w</a:t>
                </a:r>
                <a:r>
                  <a:rPr lang="en-US" sz="2800" baseline="30000" dirty="0" err="1"/>
                  <a:t>T</a:t>
                </a:r>
                <a:r>
                  <a:rPr lang="en-US" sz="2800" dirty="0"/>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𝑥</m:t>
                        </m:r>
                      </m:e>
                      <m:sup>
                        <m:r>
                          <a:rPr lang="en-US" sz="2800" b="0" i="1" smtClean="0">
                            <a:latin typeface="Cambria Math" panose="02040503050406030204" pitchFamily="18" charset="0"/>
                          </a:rPr>
                          <m:t>𝑖</m:t>
                        </m:r>
                      </m:sup>
                    </m:sSup>
                  </m:oMath>
                </a14:m>
                <a:r>
                  <a:rPr lang="en-US" sz="2800" dirty="0"/>
                  <a:t> + b</a:t>
                </a:r>
              </a:p>
              <a:p>
                <a:r>
                  <a:rPr lang="en-US" sz="2800" dirty="0"/>
                  <a:t>	a</a:t>
                </a:r>
                <a:r>
                  <a:rPr lang="en-US" sz="2800" baseline="30000" dirty="0"/>
                  <a:t>(</a:t>
                </a:r>
                <a:r>
                  <a:rPr lang="en-US" sz="2800" baseline="30000" dirty="0" err="1"/>
                  <a:t>i</a:t>
                </a:r>
                <a:r>
                  <a:rPr lang="en-US" sz="2800" baseline="30000" dirty="0"/>
                  <a:t>)</a:t>
                </a:r>
                <a:r>
                  <a:rPr lang="en-US" sz="2800" dirty="0"/>
                  <a:t> = σ (z</a:t>
                </a:r>
                <a:r>
                  <a:rPr lang="en-US" sz="2800" baseline="30000" dirty="0"/>
                  <a:t>(</a:t>
                </a:r>
                <a:r>
                  <a:rPr lang="en-US" sz="2800" baseline="30000" dirty="0" err="1"/>
                  <a:t>i</a:t>
                </a:r>
                <a:r>
                  <a:rPr lang="en-US" sz="2800" baseline="30000" dirty="0"/>
                  <a:t>)</a:t>
                </a:r>
                <a:r>
                  <a:rPr lang="en-US" sz="2800" dirty="0"/>
                  <a:t>)</a:t>
                </a:r>
              </a:p>
              <a:p>
                <a:r>
                  <a:rPr lang="en-US" sz="2800" dirty="0"/>
                  <a:t>	J += −[y</a:t>
                </a:r>
                <a:r>
                  <a:rPr lang="en-US" sz="2800" baseline="30000" dirty="0"/>
                  <a:t>(</a:t>
                </a:r>
                <a:r>
                  <a:rPr lang="en-US" sz="2800" baseline="30000" dirty="0" err="1"/>
                  <a:t>i</a:t>
                </a:r>
                <a:r>
                  <a:rPr lang="en-US" sz="2800" baseline="30000" dirty="0"/>
                  <a:t>)</a:t>
                </a:r>
                <a:r>
                  <a:rPr lang="en-US" sz="2800" dirty="0"/>
                  <a:t> </a:t>
                </a:r>
                <a:r>
                  <a:rPr lang="en-US" sz="2800" dirty="0" err="1"/>
                  <a:t>logŷ</a:t>
                </a:r>
                <a:r>
                  <a:rPr lang="en-US" sz="2800" baseline="30000" dirty="0"/>
                  <a:t>(</a:t>
                </a:r>
                <a:r>
                  <a:rPr lang="en-US" sz="2800" baseline="30000" dirty="0" err="1"/>
                  <a:t>i</a:t>
                </a:r>
                <a:r>
                  <a:rPr lang="en-US" sz="2800" baseline="30000" dirty="0"/>
                  <a:t>)</a:t>
                </a:r>
                <a:r>
                  <a:rPr lang="en-US" sz="2800" dirty="0"/>
                  <a:t> + (1 − y</a:t>
                </a:r>
                <a:r>
                  <a:rPr lang="en-US" sz="2800" baseline="30000" dirty="0"/>
                  <a:t>(</a:t>
                </a:r>
                <a:r>
                  <a:rPr lang="en-US" sz="2800" baseline="30000" dirty="0" err="1"/>
                  <a:t>i</a:t>
                </a:r>
                <a:r>
                  <a:rPr lang="en-US" sz="2800" baseline="30000" dirty="0"/>
                  <a:t>)</a:t>
                </a:r>
                <a:r>
                  <a:rPr lang="en-US" sz="2800" dirty="0"/>
                  <a:t>) log(1 − ŷ</a:t>
                </a:r>
                <a:r>
                  <a:rPr lang="en-US" sz="2800" baseline="30000" dirty="0"/>
                  <a:t>(</a:t>
                </a:r>
                <a:r>
                  <a:rPr lang="en-US" sz="2800" baseline="30000" dirty="0" err="1"/>
                  <a:t>i</a:t>
                </a:r>
                <a:r>
                  <a:rPr lang="en-US" sz="2800" baseline="30000" dirty="0"/>
                  <a:t>)</a:t>
                </a:r>
                <a:r>
                  <a:rPr lang="en-US" sz="2800" dirty="0"/>
                  <a:t>]</a:t>
                </a:r>
              </a:p>
              <a:p>
                <a:r>
                  <a:rPr lang="en-US" sz="2800" dirty="0"/>
                  <a:t>	</a:t>
                </a:r>
                <a:r>
                  <a:rPr lang="en-US" sz="2800" dirty="0" err="1"/>
                  <a:t>dz</a:t>
                </a:r>
                <a:r>
                  <a:rPr lang="en-US" sz="2800" baseline="30000" dirty="0"/>
                  <a:t>(</a:t>
                </a:r>
                <a:r>
                  <a:rPr lang="en-US" sz="2800" baseline="30000" dirty="0" err="1"/>
                  <a:t>i</a:t>
                </a:r>
                <a:r>
                  <a:rPr lang="en-US" sz="2800" baseline="30000" dirty="0"/>
                  <a:t>)</a:t>
                </a:r>
                <a:r>
                  <a:rPr lang="en-US" sz="2800" dirty="0"/>
                  <a:t> = a</a:t>
                </a:r>
                <a:r>
                  <a:rPr lang="en-US" sz="2800" baseline="30000" dirty="0"/>
                  <a:t>(</a:t>
                </a:r>
                <a:r>
                  <a:rPr lang="en-US" sz="2800" baseline="30000" dirty="0" err="1"/>
                  <a:t>i</a:t>
                </a:r>
                <a:r>
                  <a:rPr lang="en-US" sz="2800" baseline="30000" dirty="0"/>
                  <a:t>)</a:t>
                </a:r>
                <a:r>
                  <a:rPr lang="en-US" sz="2800" dirty="0"/>
                  <a:t> - y</a:t>
                </a:r>
                <a:r>
                  <a:rPr lang="en-US" sz="2800" baseline="30000" dirty="0"/>
                  <a:t>(</a:t>
                </a:r>
                <a:r>
                  <a:rPr lang="en-US" sz="2800" baseline="30000" dirty="0" err="1"/>
                  <a:t>i</a:t>
                </a:r>
                <a:r>
                  <a:rPr lang="en-US" sz="2800" baseline="30000" dirty="0"/>
                  <a:t>)</a:t>
                </a:r>
                <a:endParaRPr lang="en-US" sz="2800" dirty="0"/>
              </a:p>
              <a:p>
                <a:r>
                  <a:rPr lang="en-US" sz="2800" dirty="0"/>
                  <a:t>	dw</a:t>
                </a:r>
                <a:r>
                  <a:rPr lang="en-US" sz="2800" baseline="-25000" dirty="0"/>
                  <a:t>1</a:t>
                </a:r>
                <a:r>
                  <a:rPr lang="en-US" sz="2800" dirty="0"/>
                  <a:t> += </a:t>
                </a:r>
                <a14:m>
                  <m:oMath xmlns:m="http://schemas.openxmlformats.org/officeDocument/2006/math">
                    <m:sSubSup>
                      <m:sSubSupPr>
                        <m:ctrlPr>
                          <a:rPr lang="en-US" sz="2800" i="1" smtClean="0">
                            <a:latin typeface="Cambria Math" panose="02040503050406030204" pitchFamily="18" charset="0"/>
                          </a:rPr>
                        </m:ctrlPr>
                      </m:sSubSup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up>
                        <m:r>
                          <a:rPr lang="en-US" sz="2800" b="0" i="1" smtClean="0">
                            <a:latin typeface="Cambria Math" panose="02040503050406030204" pitchFamily="18" charset="0"/>
                          </a:rPr>
                          <m:t>(</m:t>
                        </m:r>
                        <m:r>
                          <a:rPr lang="en-US" sz="2800" b="0" i="1" smtClean="0">
                            <a:latin typeface="Cambria Math" panose="02040503050406030204" pitchFamily="18" charset="0"/>
                          </a:rPr>
                          <m:t>𝑖</m:t>
                        </m:r>
                        <m:r>
                          <a:rPr lang="en-US" sz="2800" b="0" i="1" smtClean="0">
                            <a:latin typeface="Cambria Math" panose="02040503050406030204" pitchFamily="18" charset="0"/>
                          </a:rPr>
                          <m:t>)</m:t>
                        </m:r>
                      </m:sup>
                    </m:sSubSup>
                  </m:oMath>
                </a14:m>
                <a:r>
                  <a:rPr lang="en-US" sz="2800" dirty="0"/>
                  <a:t> </a:t>
                </a:r>
                <a:r>
                  <a:rPr lang="en-US" sz="2800" dirty="0" err="1"/>
                  <a:t>dz</a:t>
                </a:r>
                <a:r>
                  <a:rPr lang="en-US" sz="2800" baseline="30000" dirty="0"/>
                  <a:t>(</a:t>
                </a:r>
                <a:r>
                  <a:rPr lang="en-US" sz="2800" baseline="30000" dirty="0" err="1"/>
                  <a:t>i</a:t>
                </a:r>
                <a:r>
                  <a:rPr lang="en-US" sz="2800" baseline="30000" dirty="0"/>
                  <a:t>)</a:t>
                </a:r>
                <a:endParaRPr lang="en-US" sz="2800" dirty="0"/>
              </a:p>
              <a:p>
                <a:r>
                  <a:rPr lang="en-US" sz="2800" dirty="0"/>
                  <a:t>	</a:t>
                </a:r>
                <a:r>
                  <a:rPr lang="en-US" sz="2800" dirty="0" err="1"/>
                  <a:t>dw</a:t>
                </a:r>
                <a:r>
                  <a:rPr lang="en-US" sz="2800" dirty="0"/>
                  <a:t>₂ += </a:t>
                </a:r>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𝑥</m:t>
                        </m:r>
                      </m:e>
                      <m:sub>
                        <m:r>
                          <a:rPr lang="en-US" sz="2800" b="0" i="1" smtClean="0">
                            <a:latin typeface="Cambria Math" panose="02040503050406030204" pitchFamily="18" charset="0"/>
                          </a:rPr>
                          <m:t>2</m:t>
                        </m:r>
                      </m:sub>
                      <m:sup>
                        <m:r>
                          <a:rPr lang="en-US" sz="2800" i="1">
                            <a:latin typeface="Cambria Math" panose="02040503050406030204" pitchFamily="18" charset="0"/>
                          </a:rPr>
                          <m:t>(</m:t>
                        </m:r>
                        <m:r>
                          <a:rPr lang="en-US" sz="2800" i="1">
                            <a:latin typeface="Cambria Math" panose="02040503050406030204" pitchFamily="18" charset="0"/>
                          </a:rPr>
                          <m:t>𝑖</m:t>
                        </m:r>
                        <m:r>
                          <a:rPr lang="en-US" sz="2800" i="1">
                            <a:latin typeface="Cambria Math" panose="02040503050406030204" pitchFamily="18" charset="0"/>
                          </a:rPr>
                          <m:t>)</m:t>
                        </m:r>
                      </m:sup>
                    </m:sSubSup>
                  </m:oMath>
                </a14:m>
                <a:r>
                  <a:rPr lang="en-US" sz="2800" dirty="0"/>
                  <a:t> </a:t>
                </a:r>
                <a:r>
                  <a:rPr lang="en-US" sz="2800" dirty="0" err="1"/>
                  <a:t>dz</a:t>
                </a:r>
                <a:r>
                  <a:rPr lang="en-US" sz="2800" baseline="30000" dirty="0"/>
                  <a:t>(</a:t>
                </a:r>
                <a:r>
                  <a:rPr lang="en-US" sz="2800" baseline="30000" dirty="0" err="1"/>
                  <a:t>i</a:t>
                </a:r>
                <a:r>
                  <a:rPr lang="en-US" sz="2800" baseline="30000" dirty="0"/>
                  <a:t>)</a:t>
                </a:r>
                <a:endParaRPr lang="en-US" sz="2800" dirty="0"/>
              </a:p>
              <a:p>
                <a:r>
                  <a:rPr lang="en-US" sz="2800" dirty="0"/>
                  <a:t>	</a:t>
                </a:r>
                <a:r>
                  <a:rPr lang="en-US" sz="2800" dirty="0" err="1"/>
                  <a:t>db</a:t>
                </a:r>
                <a:r>
                  <a:rPr lang="en-US" sz="2800" dirty="0"/>
                  <a:t> += </a:t>
                </a:r>
                <a:r>
                  <a:rPr lang="en-US" sz="2800" dirty="0" err="1"/>
                  <a:t>dz</a:t>
                </a:r>
                <a:r>
                  <a:rPr lang="en-US" sz="2800" baseline="30000" dirty="0"/>
                  <a:t>(</a:t>
                </a:r>
                <a:r>
                  <a:rPr lang="en-US" sz="2800" baseline="30000" dirty="0" err="1"/>
                  <a:t>i</a:t>
                </a:r>
                <a:r>
                  <a:rPr lang="en-US" sz="2800" baseline="30000" dirty="0"/>
                  <a:t>)</a:t>
                </a:r>
                <a:endParaRPr lang="en-US" sz="2800" dirty="0"/>
              </a:p>
              <a:p>
                <a:r>
                  <a:rPr lang="en-US" sz="2800" dirty="0"/>
                  <a:t>J = J/m, dw</a:t>
                </a:r>
                <a:r>
                  <a:rPr lang="en-US" sz="2800" baseline="-25000" dirty="0"/>
                  <a:t>1</a:t>
                </a:r>
                <a:r>
                  <a:rPr lang="en-US" sz="2800" dirty="0"/>
                  <a:t> = </a:t>
                </a:r>
                <a:r>
                  <a:rPr lang="en-US" sz="2800" dirty="0" err="1"/>
                  <a:t>dw</a:t>
                </a:r>
                <a:r>
                  <a:rPr lang="en-US" sz="2800" dirty="0"/>
                  <a:t>₁/m, dw</a:t>
                </a:r>
                <a:r>
                  <a:rPr lang="en-US" sz="2800" baseline="-25000" dirty="0"/>
                  <a:t>2</a:t>
                </a:r>
                <a:r>
                  <a:rPr lang="en-US" sz="2800" dirty="0"/>
                  <a:t> = </a:t>
                </a:r>
                <a:r>
                  <a:rPr lang="en-US" sz="2800" dirty="0" err="1"/>
                  <a:t>dw</a:t>
                </a:r>
                <a:r>
                  <a:rPr lang="en-US" sz="2800" dirty="0"/>
                  <a:t>₂/m, </a:t>
                </a:r>
                <a:r>
                  <a:rPr lang="en-US" sz="2800" dirty="0" err="1"/>
                  <a:t>db</a:t>
                </a:r>
                <a:r>
                  <a:rPr lang="en-US" sz="2800" dirty="0"/>
                  <a:t> = </a:t>
                </a:r>
                <a:r>
                  <a:rPr lang="en-US" sz="2800" dirty="0" err="1"/>
                  <a:t>db</a:t>
                </a:r>
                <a:r>
                  <a:rPr lang="en-US" sz="2800" dirty="0"/>
                  <a:t>/m</a:t>
                </a:r>
              </a:p>
            </p:txBody>
          </p:sp>
        </mc:Choice>
        <mc:Fallback xmlns="">
          <p:sp>
            <p:nvSpPr>
              <p:cNvPr id="5" name="Rectangle 4"/>
              <p:cNvSpPr>
                <a:spLocks noRot="1" noChangeAspect="1" noMove="1" noResize="1" noEditPoints="1" noAdjustHandles="1" noChangeArrowheads="1" noChangeShapeType="1" noTextEdit="1"/>
              </p:cNvSpPr>
              <p:nvPr/>
            </p:nvSpPr>
            <p:spPr>
              <a:xfrm>
                <a:off x="707875" y="1447334"/>
                <a:ext cx="8283388" cy="4629985"/>
              </a:xfrm>
              <a:prstGeom prst="rect">
                <a:avLst/>
              </a:prstGeom>
              <a:blipFill>
                <a:blip r:embed="rId5"/>
                <a:stretch>
                  <a:fillRect l="-1472" t="-1316" b="-2632"/>
                </a:stretch>
              </a:blipFill>
            </p:spPr>
            <p:txBody>
              <a:bodyPr/>
              <a:lstStyle/>
              <a:p>
                <a:r>
                  <a:rPr lang="en-US">
                    <a:noFill/>
                  </a:rPr>
                  <a:t> </a:t>
                </a:r>
              </a:p>
            </p:txBody>
          </p:sp>
        </mc:Fallback>
      </mc:AlternateContent>
    </p:spTree>
    <p:extLst>
      <p:ext uri="{BB962C8B-B14F-4D97-AF65-F5344CB8AC3E}">
        <p14:creationId xmlns:p14="http://schemas.microsoft.com/office/powerpoint/2010/main" val="7854142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p32"/>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4" name="Google Shape;284;p32"/>
          <p:cNvSpPr txBox="1">
            <a:spLocks noGrp="1"/>
          </p:cNvSpPr>
          <p:nvPr>
            <p:ph type="body" idx="1"/>
          </p:nvPr>
        </p:nvSpPr>
        <p:spPr>
          <a:xfrm>
            <a:off x="458279" y="1121824"/>
            <a:ext cx="11411166" cy="1887643"/>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285" name="Google Shape;285;p32"/>
          <p:cNvSpPr txBox="1"/>
          <p:nvPr/>
        </p:nvSpPr>
        <p:spPr>
          <a:xfrm>
            <a:off x="6224142" y="3831166"/>
            <a:ext cx="4491206" cy="936154"/>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Calibri"/>
                <a:ea typeface="Calibri"/>
                <a:cs typeface="Calibri"/>
                <a:sym typeface="Calibri"/>
              </a:rPr>
              <a:t>Vectorization</a:t>
            </a:r>
            <a:endParaRPr sz="6000" b="0" i="0" u="none" strike="noStrike" cap="none" dirty="0">
              <a:solidFill>
                <a:schemeClr val="dk1"/>
              </a:solidFill>
              <a:latin typeface="Calibri"/>
              <a:ea typeface="Calibri"/>
              <a:cs typeface="Calibri"/>
              <a:sym typeface="Calibri"/>
            </a:endParaRPr>
          </a:p>
        </p:txBody>
      </p:sp>
      <p:pic>
        <p:nvPicPr>
          <p:cNvPr id="286" name="Google Shape;286;p32"/>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3644587"/>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Vectorization is the process of getting rid of explicit for loops in code to make it run faster, especially in the era of deep learning where large datasets are common. The goal is to perform operations on vectors and matrices directly instead of using loops. </a:t>
            </a:r>
          </a:p>
          <a:p>
            <a:pPr marL="12700" lvl="0">
              <a:buSzPts val="2800"/>
            </a:pPr>
            <a:r>
              <a:rPr lang="en-US" sz="2400" dirty="0">
                <a:solidFill>
                  <a:schemeClr val="dk1"/>
                </a:solidFill>
                <a:latin typeface="+mj-lt"/>
                <a:ea typeface="Century Schoolbook"/>
                <a:cs typeface="Century Schoolbook"/>
                <a:sym typeface="Century Schoolbook"/>
              </a:rPr>
              <a:t>	</a:t>
            </a:r>
            <a:r>
              <a:rPr lang="en-US" sz="2000" dirty="0">
                <a:solidFill>
                  <a:schemeClr val="dk1"/>
                </a:solidFill>
                <a:latin typeface="+mj-lt"/>
                <a:ea typeface="Century Schoolbook"/>
                <a:cs typeface="Century Schoolbook"/>
                <a:sym typeface="Century Schoolbook"/>
              </a:rPr>
              <a:t>For example, in logistic regression, the equation </a:t>
            </a:r>
          </a:p>
          <a:p>
            <a:pPr marL="12700" lvl="0">
              <a:buSzPts val="2800"/>
            </a:pPr>
            <a:r>
              <a:rPr lang="en-US" sz="2000" dirty="0">
                <a:solidFill>
                  <a:schemeClr val="dk1"/>
                </a:solidFill>
                <a:latin typeface="+mj-lt"/>
                <a:ea typeface="Century Schoolbook"/>
                <a:cs typeface="Century Schoolbook"/>
                <a:sym typeface="Century Schoolbook"/>
              </a:rPr>
              <a:t>	</a:t>
            </a:r>
            <a:r>
              <a:rPr lang="en-US" sz="2400" b="1" dirty="0">
                <a:solidFill>
                  <a:schemeClr val="dk1"/>
                </a:solidFill>
                <a:latin typeface="+mj-lt"/>
                <a:ea typeface="Century Schoolbook"/>
                <a:cs typeface="Century Schoolbook"/>
                <a:sym typeface="Century Schoolbook"/>
              </a:rPr>
              <a:t>Z = W</a:t>
            </a:r>
            <a:r>
              <a:rPr lang="en-US" sz="2400" b="1" baseline="30000" dirty="0">
                <a:solidFill>
                  <a:schemeClr val="dk1"/>
                </a:solidFill>
                <a:latin typeface="+mj-lt"/>
                <a:ea typeface="Century Schoolbook"/>
                <a:cs typeface="Century Schoolbook"/>
                <a:sym typeface="Century Schoolbook"/>
              </a:rPr>
              <a:t>T</a:t>
            </a:r>
            <a:r>
              <a:rPr lang="en-US" sz="2400" b="1" dirty="0">
                <a:solidFill>
                  <a:schemeClr val="dk1"/>
                </a:solidFill>
                <a:latin typeface="+mj-lt"/>
                <a:ea typeface="Century Schoolbook"/>
                <a:cs typeface="Century Schoolbook"/>
                <a:sym typeface="Century Schoolbook"/>
              </a:rPr>
              <a:t>X + b</a:t>
            </a:r>
            <a:r>
              <a:rPr lang="en-US" sz="2000" dirty="0">
                <a:solidFill>
                  <a:schemeClr val="dk1"/>
                </a:solidFill>
                <a:latin typeface="+mj-lt"/>
                <a:ea typeface="Century Schoolbook"/>
                <a:cs typeface="Century Schoolbook"/>
                <a:sym typeface="Century Schoolbook"/>
              </a:rPr>
              <a:t> can be </a:t>
            </a:r>
            <a:r>
              <a:rPr lang="en-US" sz="2000" dirty="0" err="1">
                <a:solidFill>
                  <a:schemeClr val="dk1"/>
                </a:solidFill>
                <a:latin typeface="+mj-lt"/>
                <a:ea typeface="Century Schoolbook"/>
                <a:cs typeface="Century Schoolbook"/>
                <a:sym typeface="Century Schoolbook"/>
              </a:rPr>
              <a:t>vectorized</a:t>
            </a:r>
            <a:r>
              <a:rPr lang="en-US" sz="2000" dirty="0">
                <a:solidFill>
                  <a:schemeClr val="dk1"/>
                </a:solidFill>
                <a:latin typeface="+mj-lt"/>
                <a:ea typeface="Century Schoolbook"/>
                <a:cs typeface="Century Schoolbook"/>
                <a:sym typeface="Century Schoolbook"/>
              </a:rPr>
              <a:t> by computing </a:t>
            </a:r>
          </a:p>
          <a:p>
            <a:pPr marL="12700" lvl="0">
              <a:buSzPts val="2800"/>
            </a:pPr>
            <a:r>
              <a:rPr lang="en-US" sz="2000" dirty="0">
                <a:solidFill>
                  <a:schemeClr val="dk1"/>
                </a:solidFill>
                <a:latin typeface="+mj-lt"/>
                <a:ea typeface="Century Schoolbook"/>
                <a:cs typeface="Century Schoolbook"/>
                <a:sym typeface="Century Schoolbook"/>
              </a:rPr>
              <a:t>	</a:t>
            </a:r>
            <a:r>
              <a:rPr lang="en-US" sz="2400" b="1" dirty="0">
                <a:solidFill>
                  <a:schemeClr val="dk1"/>
                </a:solidFill>
                <a:latin typeface="+mj-lt"/>
                <a:ea typeface="Century Schoolbook"/>
                <a:cs typeface="Century Schoolbook"/>
                <a:sym typeface="Century Schoolbook"/>
              </a:rPr>
              <a:t>Z = np.dot(W, X) + b</a:t>
            </a:r>
            <a:r>
              <a:rPr lang="en-US" sz="2000" dirty="0">
                <a:solidFill>
                  <a:schemeClr val="dk1"/>
                </a:solidFill>
                <a:latin typeface="+mj-lt"/>
                <a:ea typeface="Century Schoolbook"/>
                <a:cs typeface="Century Schoolbook"/>
                <a:sym typeface="Century Schoolbook"/>
              </a:rPr>
              <a:t>. </a:t>
            </a:r>
          </a:p>
          <a:p>
            <a:pPr marL="12700" lvl="0">
              <a:buSzPts val="2800"/>
            </a:pPr>
            <a:r>
              <a:rPr lang="en-US" sz="2000" dirty="0">
                <a:solidFill>
                  <a:schemeClr val="dk1"/>
                </a:solidFill>
                <a:latin typeface="+mj-lt"/>
                <a:ea typeface="Century Schoolbook"/>
                <a:cs typeface="Century Schoolbook"/>
                <a:sym typeface="Century Schoolbook"/>
              </a:rPr>
              <a:t>	This eliminates the need for loops and runs much faster.</a:t>
            </a:r>
            <a:endParaRPr lang="en-US" sz="2400" dirty="0">
              <a:solidFill>
                <a:schemeClr val="dk1"/>
              </a:solidFill>
              <a:latin typeface="+mj-lt"/>
              <a:ea typeface="Century Schoolbook"/>
              <a:cs typeface="Century Schoolbook"/>
              <a:sym typeface="Century Schoolbook"/>
            </a:endParaRP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In a </a:t>
            </a:r>
            <a:r>
              <a:rPr lang="en-US" sz="2400" dirty="0" err="1">
                <a:solidFill>
                  <a:schemeClr val="dk1"/>
                </a:solidFill>
                <a:latin typeface="+mj-lt"/>
                <a:ea typeface="Century Schoolbook"/>
                <a:cs typeface="Century Schoolbook"/>
                <a:sym typeface="Century Schoolbook"/>
              </a:rPr>
              <a:t>Jupyter</a:t>
            </a:r>
            <a:r>
              <a:rPr lang="en-US" sz="2400" dirty="0">
                <a:solidFill>
                  <a:schemeClr val="dk1"/>
                </a:solidFill>
                <a:latin typeface="+mj-lt"/>
                <a:ea typeface="Century Schoolbook"/>
                <a:cs typeface="Century Schoolbook"/>
                <a:sym typeface="Century Schoolbook"/>
              </a:rPr>
              <a:t> notebook, the </a:t>
            </a:r>
            <a:r>
              <a:rPr lang="en-US" sz="2400" b="1" dirty="0">
                <a:solidFill>
                  <a:schemeClr val="dk1"/>
                </a:solidFill>
                <a:latin typeface="+mj-lt"/>
                <a:ea typeface="Century Schoolbook"/>
                <a:cs typeface="Century Schoolbook"/>
                <a:sym typeface="Century Schoolbook"/>
              </a:rPr>
              <a:t>np</a:t>
            </a:r>
            <a:r>
              <a:rPr lang="en-US" sz="2400" dirty="0">
                <a:solidFill>
                  <a:schemeClr val="dk1"/>
                </a:solidFill>
                <a:latin typeface="+mj-lt"/>
                <a:ea typeface="Century Schoolbook"/>
                <a:cs typeface="Century Schoolbook"/>
                <a:sym typeface="Century Schoolbook"/>
              </a:rPr>
              <a:t> library can be used to create and manipulate arrays. </a:t>
            </a:r>
          </a:p>
        </p:txBody>
      </p:sp>
      <p:sp>
        <p:nvSpPr>
          <p:cNvPr id="66" name="Google Shape;66;p9"/>
          <p:cNvSpPr txBox="1"/>
          <p:nvPr/>
        </p:nvSpPr>
        <p:spPr>
          <a:xfrm>
            <a:off x="138373" y="156629"/>
            <a:ext cx="9207849" cy="689932"/>
          </a:xfrm>
          <a:prstGeom prst="rect">
            <a:avLst/>
          </a:prstGeom>
          <a:noFill/>
          <a:ln>
            <a:noFill/>
          </a:ln>
        </p:spPr>
        <p:txBody>
          <a:bodyPr spcFirstLastPara="1" wrap="square" lIns="0" tIns="12700" rIns="0" bIns="0" anchor="t" anchorCtr="0">
            <a:spAutoFit/>
          </a:bodyPr>
          <a:lstStyle/>
          <a:p>
            <a:pPr marL="12700" lvl="0">
              <a:buSzPts val="6000"/>
            </a:pPr>
            <a:r>
              <a:rPr lang="en-US" sz="4400" dirty="0">
                <a:solidFill>
                  <a:schemeClr val="dk1"/>
                </a:solidFill>
                <a:latin typeface="+mj-lt"/>
                <a:ea typeface="Calibri"/>
                <a:cs typeface="Calibri"/>
                <a:sym typeface="Calibri"/>
              </a:rPr>
              <a:t>Vectorization</a:t>
            </a: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dirty="0"/>
          </a:p>
        </p:txBody>
      </p:sp>
    </p:spTree>
    <p:extLst>
      <p:ext uri="{BB962C8B-B14F-4D97-AF65-F5344CB8AC3E}">
        <p14:creationId xmlns:p14="http://schemas.microsoft.com/office/powerpoint/2010/main" val="2656725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5" name="Google Shape;65;p9"/>
          <p:cNvSpPr txBox="1"/>
          <p:nvPr/>
        </p:nvSpPr>
        <p:spPr>
          <a:xfrm>
            <a:off x="439615" y="1245806"/>
            <a:ext cx="11306908" cy="3336811"/>
          </a:xfrm>
          <a:prstGeom prst="rect">
            <a:avLst/>
          </a:prstGeom>
          <a:noFill/>
          <a:ln>
            <a:noFill/>
          </a:ln>
        </p:spPr>
        <p:txBody>
          <a:bodyPr spcFirstLastPara="1" wrap="square" lIns="0" tIns="12700" rIns="0" bIns="0" anchor="t" anchorCtr="0">
            <a:spAutoFit/>
          </a:bodyPr>
          <a:lstStyle/>
          <a:p>
            <a:pPr marL="355600" lvl="0" indent="-342900">
              <a:buSzPts val="2800"/>
              <a:buFont typeface="Arial" panose="020B0604020202020204" pitchFamily="34" charset="0"/>
              <a:buChar char="•"/>
            </a:pPr>
            <a:r>
              <a:rPr lang="en-US" sz="2400" dirty="0">
                <a:solidFill>
                  <a:schemeClr val="dk1"/>
                </a:solidFill>
                <a:ea typeface="Century Schoolbook"/>
                <a:cs typeface="Century Schoolbook"/>
                <a:sym typeface="Century Schoolbook"/>
              </a:rPr>
              <a:t>A vectorization demo was performed by creating two million-dimensional arrays and using np.dot() to calculate the dot product. </a:t>
            </a:r>
          </a:p>
          <a:p>
            <a:pPr marL="355600" lvl="0" indent="-342900">
              <a:buSzPts val="2800"/>
              <a:buFont typeface="Arial" panose="020B0604020202020204" pitchFamily="34" charset="0"/>
              <a:buChar char="•"/>
            </a:pPr>
            <a:r>
              <a:rPr lang="en-US" sz="2400" dirty="0">
                <a:solidFill>
                  <a:schemeClr val="dk1"/>
                </a:solidFill>
                <a:ea typeface="Century Schoolbook"/>
                <a:cs typeface="Century Schoolbook"/>
                <a:sym typeface="Century Schoolbook"/>
              </a:rPr>
              <a:t>A non-</a:t>
            </a:r>
            <a:r>
              <a:rPr lang="en-US" sz="2400" dirty="0" err="1">
                <a:solidFill>
                  <a:schemeClr val="dk1"/>
                </a:solidFill>
                <a:ea typeface="Century Schoolbook"/>
                <a:cs typeface="Century Schoolbook"/>
                <a:sym typeface="Century Schoolbook"/>
              </a:rPr>
              <a:t>vectorized</a:t>
            </a:r>
            <a:r>
              <a:rPr lang="en-US" sz="2400" dirty="0">
                <a:solidFill>
                  <a:schemeClr val="dk1"/>
                </a:solidFill>
                <a:ea typeface="Century Schoolbook"/>
                <a:cs typeface="Century Schoolbook"/>
                <a:sym typeface="Century Schoolbook"/>
              </a:rPr>
              <a:t> version was then implemented using a for loop to compute the dot 	product. </a:t>
            </a:r>
          </a:p>
          <a:p>
            <a:pPr marL="355600" lvl="0" indent="-342900">
              <a:buSzPts val="2800"/>
              <a:buFont typeface="Arial" panose="020B0604020202020204" pitchFamily="34" charset="0"/>
              <a:buChar char="•"/>
            </a:pPr>
            <a:r>
              <a:rPr lang="en-US" sz="2400" dirty="0" err="1">
                <a:solidFill>
                  <a:schemeClr val="dk1"/>
                </a:solidFill>
                <a:ea typeface="Century Schoolbook"/>
                <a:cs typeface="Century Schoolbook"/>
                <a:sym typeface="Century Schoolbook"/>
              </a:rPr>
              <a:t>Vectorized</a:t>
            </a:r>
            <a:r>
              <a:rPr lang="en-US" sz="2400" dirty="0">
                <a:solidFill>
                  <a:schemeClr val="dk1"/>
                </a:solidFill>
                <a:ea typeface="Century Schoolbook"/>
                <a:cs typeface="Century Schoolbook"/>
                <a:sym typeface="Century Schoolbook"/>
              </a:rPr>
              <a:t> version took around 1.5 milliseconds to run, while the non-</a:t>
            </a:r>
            <a:r>
              <a:rPr lang="en-US" sz="2400" dirty="0" err="1">
                <a:solidFill>
                  <a:schemeClr val="dk1"/>
                </a:solidFill>
                <a:ea typeface="Century Schoolbook"/>
                <a:cs typeface="Century Schoolbook"/>
                <a:sym typeface="Century Schoolbook"/>
              </a:rPr>
              <a:t>vectorized</a:t>
            </a:r>
            <a:r>
              <a:rPr lang="en-US" sz="2400" dirty="0">
                <a:solidFill>
                  <a:schemeClr val="dk1"/>
                </a:solidFill>
                <a:ea typeface="Century Schoolbook"/>
                <a:cs typeface="Century Schoolbook"/>
                <a:sym typeface="Century Schoolbook"/>
              </a:rPr>
              <a:t> version took about 500 milliseconds, or 300 times longer.</a:t>
            </a:r>
            <a:endParaRPr lang="en-US" sz="2400" dirty="0">
              <a:solidFill>
                <a:schemeClr val="dk1"/>
              </a:solidFill>
              <a:latin typeface="+mj-lt"/>
              <a:ea typeface="Century Schoolbook"/>
              <a:cs typeface="Century Schoolbook"/>
              <a:sym typeface="Century Schoolbook"/>
            </a:endParaRPr>
          </a:p>
          <a:p>
            <a:pPr marL="355600" lvl="0" indent="-3429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It is important to remember to </a:t>
            </a:r>
            <a:r>
              <a:rPr lang="en-US" sz="2400" dirty="0" err="1">
                <a:solidFill>
                  <a:schemeClr val="dk1"/>
                </a:solidFill>
                <a:latin typeface="+mj-lt"/>
                <a:ea typeface="Century Schoolbook"/>
                <a:cs typeface="Century Schoolbook"/>
                <a:sym typeface="Century Schoolbook"/>
              </a:rPr>
              <a:t>vectorize</a:t>
            </a:r>
            <a:r>
              <a:rPr lang="en-US" sz="2400" dirty="0">
                <a:solidFill>
                  <a:schemeClr val="dk1"/>
                </a:solidFill>
                <a:latin typeface="+mj-lt"/>
                <a:ea typeface="Century Schoolbook"/>
                <a:cs typeface="Century Schoolbook"/>
                <a:sym typeface="Century Schoolbook"/>
              </a:rPr>
              <a:t> code whenever possible to make it run faster. Built-in functions like np.dot() make use of parallelism instructions that allow CPUs and GPUs to execute calculations much faster.</a:t>
            </a:r>
          </a:p>
        </p:txBody>
      </p:sp>
      <p:sp>
        <p:nvSpPr>
          <p:cNvPr id="66" name="Google Shape;66;p9"/>
          <p:cNvSpPr txBox="1"/>
          <p:nvPr/>
        </p:nvSpPr>
        <p:spPr>
          <a:xfrm>
            <a:off x="138373" y="156629"/>
            <a:ext cx="9207849" cy="689932"/>
          </a:xfrm>
          <a:prstGeom prst="rect">
            <a:avLst/>
          </a:prstGeom>
          <a:noFill/>
          <a:ln>
            <a:noFill/>
          </a:ln>
        </p:spPr>
        <p:txBody>
          <a:bodyPr spcFirstLastPara="1" wrap="square" lIns="0" tIns="12700" rIns="0" bIns="0" anchor="t" anchorCtr="0">
            <a:spAutoFit/>
          </a:bodyPr>
          <a:lstStyle/>
          <a:p>
            <a:pPr marL="12700" lvl="0">
              <a:buSzPts val="6000"/>
            </a:pPr>
            <a:r>
              <a:rPr lang="en-US" sz="4400" dirty="0">
                <a:solidFill>
                  <a:schemeClr val="dk1"/>
                </a:solidFill>
                <a:latin typeface="+mj-lt"/>
                <a:ea typeface="Calibri"/>
                <a:cs typeface="Calibri"/>
                <a:sym typeface="Calibri"/>
              </a:rPr>
              <a:t>Vectorization</a:t>
            </a:r>
          </a:p>
        </p:txBody>
      </p:sp>
      <p:pic>
        <p:nvPicPr>
          <p:cNvPr id="72" name="Google Shape;72;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extLst>
      <p:ext uri="{BB962C8B-B14F-4D97-AF65-F5344CB8AC3E}">
        <p14:creationId xmlns:p14="http://schemas.microsoft.com/office/powerpoint/2010/main" val="21965665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297"/>
        <p:cNvGrpSpPr/>
        <p:nvPr/>
      </p:nvGrpSpPr>
      <p:grpSpPr>
        <a:xfrm>
          <a:off x="0" y="0"/>
          <a:ext cx="0" cy="0"/>
          <a:chOff x="0" y="0"/>
          <a:chExt cx="0" cy="0"/>
        </a:xfrm>
      </p:grpSpPr>
      <p:sp>
        <p:nvSpPr>
          <p:cNvPr id="298" name="Google Shape;298;p34"/>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9" name="Google Shape;299;p34"/>
          <p:cNvSpPr txBox="1">
            <a:spLocks noGrp="1"/>
          </p:cNvSpPr>
          <p:nvPr>
            <p:ph type="body" idx="1"/>
          </p:nvPr>
        </p:nvSpPr>
        <p:spPr>
          <a:xfrm>
            <a:off x="458279" y="1121824"/>
            <a:ext cx="11455554" cy="1859483"/>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300" name="Google Shape;300;p34"/>
          <p:cNvSpPr txBox="1"/>
          <p:nvPr/>
        </p:nvSpPr>
        <p:spPr>
          <a:xfrm>
            <a:off x="4544009" y="3659044"/>
            <a:ext cx="7442200" cy="1859483"/>
          </a:xfrm>
          <a:prstGeom prst="rect">
            <a:avLst/>
          </a:prstGeom>
          <a:noFill/>
          <a:ln>
            <a:noFill/>
          </a:ln>
        </p:spPr>
        <p:txBody>
          <a:bodyPr spcFirstLastPara="1" wrap="square" lIns="0" tIns="12700" rIns="0" bIns="0" anchor="t" anchorCtr="0">
            <a:spAutoFit/>
          </a:bodyPr>
          <a:lstStyle/>
          <a:p>
            <a:pPr marL="1490980" marR="5080" lvl="0" indent="-1478915" algn="ctr"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More vectorization  examples</a:t>
            </a:r>
            <a:endParaRPr sz="6000" b="0" i="0" u="none" strike="noStrike" cap="none" dirty="0">
              <a:solidFill>
                <a:schemeClr val="dk1"/>
              </a:solidFill>
              <a:latin typeface="+mj-lt"/>
              <a:ea typeface="Calibri"/>
              <a:cs typeface="Calibri"/>
              <a:sym typeface="Calibri"/>
            </a:endParaRPr>
          </a:p>
        </p:txBody>
      </p:sp>
      <p:pic>
        <p:nvPicPr>
          <p:cNvPr id="301" name="Google Shape;301;p34"/>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305"/>
        <p:cNvGrpSpPr/>
        <p:nvPr/>
      </p:nvGrpSpPr>
      <p:grpSpPr>
        <a:xfrm>
          <a:off x="0" y="0"/>
          <a:ext cx="0" cy="0"/>
          <a:chOff x="0" y="0"/>
          <a:chExt cx="0" cy="0"/>
        </a:xfrm>
      </p:grpSpPr>
      <p:sp>
        <p:nvSpPr>
          <p:cNvPr id="306" name="Google Shape;306;p35"/>
          <p:cNvSpPr txBox="1"/>
          <p:nvPr/>
        </p:nvSpPr>
        <p:spPr>
          <a:xfrm>
            <a:off x="236465" y="100454"/>
            <a:ext cx="10341610"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mj-lt"/>
                <a:ea typeface="Century Schoolbook"/>
                <a:cs typeface="Century Schoolbook"/>
                <a:sym typeface="Century Schoolbook"/>
              </a:rPr>
              <a:t>Neural network programming guideline</a:t>
            </a:r>
            <a:endParaRPr sz="4400" b="0" i="0" u="none" strike="noStrike" cap="none" dirty="0">
              <a:solidFill>
                <a:schemeClr val="dk1"/>
              </a:solidFill>
              <a:latin typeface="+mj-lt"/>
              <a:ea typeface="Century Schoolbook"/>
              <a:cs typeface="Century Schoolbook"/>
              <a:sym typeface="Century Schoolbook"/>
            </a:endParaRPr>
          </a:p>
        </p:txBody>
      </p:sp>
      <p:sp>
        <p:nvSpPr>
          <p:cNvPr id="307" name="Google Shape;307;p35"/>
          <p:cNvSpPr txBox="1"/>
          <p:nvPr/>
        </p:nvSpPr>
        <p:spPr>
          <a:xfrm>
            <a:off x="1346644" y="1536696"/>
            <a:ext cx="8107045"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Century Schoolbook"/>
                <a:ea typeface="Century Schoolbook"/>
                <a:cs typeface="Century Schoolbook"/>
                <a:sym typeface="Century Schoolbook"/>
              </a:rPr>
              <a:t>Whenever possible, avoid explicit for-loops.</a:t>
            </a:r>
            <a:endParaRPr sz="3200" b="0" i="0" u="none" strike="noStrike" cap="none">
              <a:solidFill>
                <a:schemeClr val="dk1"/>
              </a:solidFill>
              <a:latin typeface="Century Schoolbook"/>
              <a:ea typeface="Century Schoolbook"/>
              <a:cs typeface="Century Schoolbook"/>
              <a:sym typeface="Century Schoolbook"/>
            </a:endParaRPr>
          </a:p>
        </p:txBody>
      </p:sp>
      <p:pic>
        <p:nvPicPr>
          <p:cNvPr id="308" name="Google Shape;308;p35"/>
          <p:cNvPicPr preferRelativeResize="0"/>
          <p:nvPr/>
        </p:nvPicPr>
        <p:blipFill rotWithShape="1">
          <a:blip r:embed="rId3">
            <a:alphaModFix/>
          </a:blip>
          <a:srcRect/>
          <a:stretch/>
        </p:blipFill>
        <p:spPr>
          <a:xfrm>
            <a:off x="1207044" y="2369826"/>
            <a:ext cx="4200226" cy="1314152"/>
          </a:xfrm>
          <a:prstGeom prst="rect">
            <a:avLst/>
          </a:prstGeom>
          <a:noFill/>
          <a:ln>
            <a:noFill/>
          </a:ln>
        </p:spPr>
      </p:pic>
      <p:pic>
        <p:nvPicPr>
          <p:cNvPr id="309" name="Google Shape;309;p35"/>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293893" y="205690"/>
            <a:ext cx="94208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Vectors and matrix valued functions</a:t>
            </a:r>
            <a:endParaRPr sz="4400" dirty="0">
              <a:latin typeface="+mj-lt"/>
              <a:ea typeface="Century Schoolbook"/>
              <a:cs typeface="Century Schoolbook"/>
              <a:sym typeface="Century Schoolbook"/>
            </a:endParaRPr>
          </a:p>
        </p:txBody>
      </p:sp>
      <p:sp>
        <p:nvSpPr>
          <p:cNvPr id="316" name="Google Shape;316;p36"/>
          <p:cNvSpPr txBox="1"/>
          <p:nvPr/>
        </p:nvSpPr>
        <p:spPr>
          <a:xfrm>
            <a:off x="828547" y="1536696"/>
            <a:ext cx="9873615" cy="763905"/>
          </a:xfrm>
          <a:prstGeom prst="rect">
            <a:avLst/>
          </a:prstGeom>
          <a:noFill/>
          <a:ln>
            <a:noFill/>
          </a:ln>
        </p:spPr>
        <p:txBody>
          <a:bodyPr spcFirstLastPara="1" wrap="square" lIns="0" tIns="5700" rIns="0" bIns="0" anchor="t" anchorCtr="0">
            <a:spAutoFit/>
          </a:bodyPr>
          <a:lstStyle/>
          <a:p>
            <a:pPr marL="12700" marR="5080" lvl="0" indent="0" algn="l" rtl="0">
              <a:lnSpc>
                <a:spcPct val="101800"/>
              </a:lnSpc>
              <a:spcBef>
                <a:spcPts val="0"/>
              </a:spcBef>
              <a:spcAft>
                <a:spcPts val="0"/>
              </a:spcAft>
              <a:buClr>
                <a:srgbClr val="000000"/>
              </a:buClr>
              <a:buSzPts val="2400"/>
              <a:buFont typeface="Arial"/>
              <a:buNone/>
            </a:pPr>
            <a:r>
              <a:rPr lang="en-US" sz="2400" b="0" i="0" u="none" strike="noStrike" cap="none" dirty="0">
                <a:solidFill>
                  <a:schemeClr val="dk1"/>
                </a:solidFill>
                <a:latin typeface="Century Schoolbook"/>
                <a:ea typeface="Century Schoolbook"/>
                <a:cs typeface="Century Schoolbook"/>
                <a:sym typeface="Century Schoolbook"/>
              </a:rPr>
              <a:t>Say you need to apply the exponential operation on every element of a  matrix/vector.</a:t>
            </a:r>
            <a:endParaRPr sz="2400" b="0" i="0" u="none" strike="noStrike" cap="none" dirty="0">
              <a:solidFill>
                <a:schemeClr val="dk1"/>
              </a:solidFill>
              <a:latin typeface="Century Schoolbook"/>
              <a:ea typeface="Century Schoolbook"/>
              <a:cs typeface="Century Schoolbook"/>
              <a:sym typeface="Century Schoolbook"/>
            </a:endParaRPr>
          </a:p>
        </p:txBody>
      </p:sp>
      <p:sp>
        <p:nvSpPr>
          <p:cNvPr id="317" name="Google Shape;317;p36"/>
          <p:cNvSpPr txBox="1"/>
          <p:nvPr/>
        </p:nvSpPr>
        <p:spPr>
          <a:xfrm>
            <a:off x="828546" y="4461150"/>
            <a:ext cx="5106261" cy="1604137"/>
          </a:xfrm>
          <a:prstGeom prst="rect">
            <a:avLst/>
          </a:prstGeom>
          <a:noFill/>
          <a:ln>
            <a:noFill/>
          </a:ln>
        </p:spPr>
        <p:txBody>
          <a:bodyPr spcFirstLastPara="1" wrap="square" lIns="0" tIns="13950" rIns="0" bIns="0" anchor="t" anchorCtr="0">
            <a:spAutoFit/>
          </a:bodyPr>
          <a:lstStyle/>
          <a:p>
            <a:pPr marL="12700" marR="5080" lvl="0" indent="0" algn="l" rtl="0">
              <a:lnSpc>
                <a:spcPct val="122600"/>
              </a:lnSpc>
              <a:spcBef>
                <a:spcPts val="0"/>
              </a:spcBef>
              <a:spcAft>
                <a:spcPts val="0"/>
              </a:spcAft>
              <a:buClr>
                <a:srgbClr val="000000"/>
              </a:buClr>
              <a:buSzPts val="2800"/>
              <a:buFont typeface="Arial"/>
              <a:buNone/>
            </a:pPr>
            <a:r>
              <a:rPr lang="en-US" sz="2800" b="0" i="0" u="none" strike="noStrike" cap="none" dirty="0">
                <a:solidFill>
                  <a:srgbClr val="0070C0"/>
                </a:solidFill>
                <a:latin typeface="Courier New"/>
                <a:ea typeface="Courier New"/>
                <a:cs typeface="Courier New"/>
                <a:sym typeface="Courier New"/>
              </a:rPr>
              <a:t>u = </a:t>
            </a:r>
            <a:r>
              <a:rPr lang="en-US" sz="2800" b="0" i="0" u="none" strike="noStrike" cap="none" dirty="0" err="1">
                <a:solidFill>
                  <a:srgbClr val="0070C0"/>
                </a:solidFill>
                <a:latin typeface="Courier New"/>
                <a:ea typeface="Courier New"/>
                <a:cs typeface="Courier New"/>
                <a:sym typeface="Courier New"/>
              </a:rPr>
              <a:t>np.zeros</a:t>
            </a:r>
            <a:r>
              <a:rPr lang="en-US" sz="2800" b="0" i="0" u="none" strike="noStrike" cap="none" dirty="0">
                <a:solidFill>
                  <a:srgbClr val="0070C0"/>
                </a:solidFill>
                <a:latin typeface="Courier New"/>
                <a:ea typeface="Courier New"/>
                <a:cs typeface="Courier New"/>
                <a:sym typeface="Courier New"/>
              </a:rPr>
              <a:t>((n,1))  for </a:t>
            </a:r>
            <a:r>
              <a:rPr lang="en-US" sz="2800" b="0" i="0" u="none" strike="noStrike" cap="none" dirty="0" err="1">
                <a:solidFill>
                  <a:srgbClr val="0070C0"/>
                </a:solidFill>
                <a:latin typeface="Courier New"/>
                <a:ea typeface="Courier New"/>
                <a:cs typeface="Courier New"/>
                <a:sym typeface="Courier New"/>
              </a:rPr>
              <a:t>i</a:t>
            </a:r>
            <a:r>
              <a:rPr lang="en-US" sz="2800" b="0" i="0" u="none" strike="noStrike" cap="none" dirty="0">
                <a:solidFill>
                  <a:srgbClr val="0070C0"/>
                </a:solidFill>
                <a:latin typeface="Courier New"/>
                <a:ea typeface="Courier New"/>
                <a:cs typeface="Courier New"/>
                <a:sym typeface="Courier New"/>
              </a:rPr>
              <a:t> in range(n):  	u[</a:t>
            </a:r>
            <a:r>
              <a:rPr lang="en-US" sz="2800" b="0" i="0" u="none" strike="noStrike" cap="none" dirty="0" err="1">
                <a:solidFill>
                  <a:srgbClr val="0070C0"/>
                </a:solidFill>
                <a:latin typeface="Courier New"/>
                <a:ea typeface="Courier New"/>
                <a:cs typeface="Courier New"/>
                <a:sym typeface="Courier New"/>
              </a:rPr>
              <a:t>i</a:t>
            </a:r>
            <a:r>
              <a:rPr lang="en-US" sz="2800" b="0" i="0" u="none" strike="noStrike" cap="none" dirty="0">
                <a:solidFill>
                  <a:srgbClr val="0070C0"/>
                </a:solidFill>
                <a:latin typeface="Courier New"/>
                <a:ea typeface="Courier New"/>
                <a:cs typeface="Courier New"/>
                <a:sym typeface="Courier New"/>
              </a:rPr>
              <a:t>]=</a:t>
            </a:r>
            <a:r>
              <a:rPr lang="en-US" sz="2800" b="0" i="0" u="none" strike="noStrike" cap="none" dirty="0" err="1">
                <a:solidFill>
                  <a:srgbClr val="0070C0"/>
                </a:solidFill>
                <a:latin typeface="Courier New"/>
                <a:ea typeface="Courier New"/>
                <a:cs typeface="Courier New"/>
                <a:sym typeface="Courier New"/>
              </a:rPr>
              <a:t>math.exp</a:t>
            </a:r>
            <a:r>
              <a:rPr lang="en-US" sz="2800" b="0" i="0" u="none" strike="noStrike" cap="none" dirty="0">
                <a:solidFill>
                  <a:srgbClr val="0070C0"/>
                </a:solidFill>
                <a:latin typeface="Courier New"/>
                <a:ea typeface="Courier New"/>
                <a:cs typeface="Courier New"/>
                <a:sym typeface="Courier New"/>
              </a:rPr>
              <a:t>(v[</a:t>
            </a:r>
            <a:r>
              <a:rPr lang="en-US" sz="2800" b="0" i="0" u="none" strike="noStrike" cap="none" dirty="0" err="1">
                <a:solidFill>
                  <a:srgbClr val="0070C0"/>
                </a:solidFill>
                <a:latin typeface="Courier New"/>
                <a:ea typeface="Courier New"/>
                <a:cs typeface="Courier New"/>
                <a:sym typeface="Courier New"/>
              </a:rPr>
              <a:t>i</a:t>
            </a:r>
            <a:r>
              <a:rPr lang="en-US" sz="2800" b="0" i="0" u="none" strike="noStrike" cap="none" dirty="0">
                <a:solidFill>
                  <a:srgbClr val="0070C0"/>
                </a:solidFill>
                <a:latin typeface="Courier New"/>
                <a:ea typeface="Courier New"/>
                <a:cs typeface="Courier New"/>
                <a:sym typeface="Courier New"/>
              </a:rPr>
              <a:t>])</a:t>
            </a:r>
            <a:endParaRPr sz="2800" b="0" i="0" u="none" strike="noStrike" cap="none" dirty="0">
              <a:solidFill>
                <a:schemeClr val="dk1"/>
              </a:solidFill>
              <a:latin typeface="Courier New"/>
              <a:ea typeface="Courier New"/>
              <a:cs typeface="Courier New"/>
              <a:sym typeface="Courier New"/>
            </a:endParaRPr>
          </a:p>
        </p:txBody>
      </p:sp>
      <p:pic>
        <p:nvPicPr>
          <p:cNvPr id="318" name="Google Shape;318;p36"/>
          <p:cNvPicPr preferRelativeResize="0"/>
          <p:nvPr/>
        </p:nvPicPr>
        <p:blipFill rotWithShape="1">
          <a:blip r:embed="rId3">
            <a:alphaModFix/>
          </a:blip>
          <a:srcRect/>
          <a:stretch/>
        </p:blipFill>
        <p:spPr>
          <a:xfrm>
            <a:off x="6824852" y="4188505"/>
            <a:ext cx="3877310" cy="2341279"/>
          </a:xfrm>
          <a:prstGeom prst="rect">
            <a:avLst/>
          </a:prstGeom>
          <a:noFill/>
          <a:ln>
            <a:noFill/>
          </a:ln>
        </p:spPr>
      </p:pic>
      <p:pic>
        <p:nvPicPr>
          <p:cNvPr id="319" name="Google Shape;319;p36"/>
          <p:cNvPicPr preferRelativeResize="0"/>
          <p:nvPr/>
        </p:nvPicPr>
        <p:blipFill rotWithShape="1">
          <a:blip r:embed="rId4">
            <a:alphaModFix/>
          </a:blip>
          <a:srcRect/>
          <a:stretch/>
        </p:blipFill>
        <p:spPr>
          <a:xfrm>
            <a:off x="383553" y="2344347"/>
            <a:ext cx="2295431" cy="1930249"/>
          </a:xfrm>
          <a:prstGeom prst="rect">
            <a:avLst/>
          </a:prstGeom>
          <a:noFill/>
          <a:ln>
            <a:noFill/>
          </a:ln>
        </p:spPr>
      </p:pic>
      <p:pic>
        <p:nvPicPr>
          <p:cNvPr id="320" name="Google Shape;320;p36"/>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38"/>
          <p:cNvSpPr/>
          <p:nvPr/>
        </p:nvSpPr>
        <p:spPr>
          <a:xfrm>
            <a:off x="4544009" y="3459886"/>
            <a:ext cx="7438390" cy="0"/>
          </a:xfrm>
          <a:custGeom>
            <a:avLst/>
            <a:gdLst/>
            <a:ahLst/>
            <a:cxnLst/>
            <a:rect l="l" t="t" r="r" b="b"/>
            <a:pathLst>
              <a:path w="7438390" h="120000" extrusionOk="0">
                <a:moveTo>
                  <a:pt x="0" y="0"/>
                </a:moveTo>
                <a:lnTo>
                  <a:pt x="7438244" y="0"/>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2" name="Google Shape;332;p38"/>
          <p:cNvSpPr txBox="1">
            <a:spLocks noGrp="1"/>
          </p:cNvSpPr>
          <p:nvPr>
            <p:ph type="body" idx="1"/>
          </p:nvPr>
        </p:nvSpPr>
        <p:spPr>
          <a:xfrm>
            <a:off x="458279" y="1121824"/>
            <a:ext cx="11524120" cy="1859483"/>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333" name="Google Shape;333;p38"/>
          <p:cNvSpPr txBox="1"/>
          <p:nvPr/>
        </p:nvSpPr>
        <p:spPr>
          <a:xfrm>
            <a:off x="4544009" y="3532558"/>
            <a:ext cx="7438389" cy="1859483"/>
          </a:xfrm>
          <a:prstGeom prst="rect">
            <a:avLst/>
          </a:prstGeom>
          <a:noFill/>
          <a:ln>
            <a:noFill/>
          </a:ln>
        </p:spPr>
        <p:txBody>
          <a:bodyPr spcFirstLastPara="1" wrap="square" lIns="0" tIns="12700" rIns="0" bIns="0" anchor="t" anchorCtr="0">
            <a:spAutoFit/>
          </a:bodyPr>
          <a:lstStyle/>
          <a:p>
            <a:pPr marL="1370965" marR="5080" lvl="0" indent="-1358900" algn="ctr" rtl="0">
              <a:lnSpc>
                <a:spcPct val="100000"/>
              </a:lnSpc>
              <a:spcBef>
                <a:spcPts val="0"/>
              </a:spcBef>
              <a:spcAft>
                <a:spcPts val="0"/>
              </a:spcAft>
              <a:buClr>
                <a:schemeClr val="dk1"/>
              </a:buClr>
              <a:buSzPts val="6000"/>
              <a:buFont typeface="Arial"/>
              <a:buNone/>
            </a:pPr>
            <a:r>
              <a:rPr lang="en-US" sz="6000" b="0" i="0" u="none" strike="noStrike" cap="none" dirty="0" err="1">
                <a:solidFill>
                  <a:schemeClr val="dk1"/>
                </a:solidFill>
                <a:latin typeface="+mj-lt"/>
                <a:ea typeface="Calibri"/>
                <a:cs typeface="Calibri"/>
                <a:sym typeface="Calibri"/>
              </a:rPr>
              <a:t>Vectorizing</a:t>
            </a:r>
            <a:r>
              <a:rPr lang="en-US" sz="6000" b="0" i="0" u="none" strike="noStrike" cap="none" dirty="0">
                <a:solidFill>
                  <a:schemeClr val="dk1"/>
                </a:solidFill>
                <a:latin typeface="+mj-lt"/>
                <a:ea typeface="Calibri"/>
                <a:cs typeface="Calibri"/>
                <a:sym typeface="Calibri"/>
              </a:rPr>
              <a:t> Logistic  Regression</a:t>
            </a:r>
            <a:endParaRPr sz="6000" b="0" i="0" u="none" strike="noStrike" cap="none" dirty="0">
              <a:solidFill>
                <a:schemeClr val="dk1"/>
              </a:solidFill>
              <a:latin typeface="+mj-lt"/>
              <a:ea typeface="Calibri"/>
              <a:cs typeface="Calibri"/>
              <a:sym typeface="Calibri"/>
            </a:endParaRPr>
          </a:p>
        </p:txBody>
      </p:sp>
      <p:pic>
        <p:nvPicPr>
          <p:cNvPr id="334" name="Google Shape;334;p38"/>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err="1">
                <a:latin typeface="+mn-lt"/>
                <a:ea typeface="Century Schoolbook"/>
                <a:cs typeface="Century Schoolbook"/>
                <a:sym typeface="Century Schoolbook"/>
              </a:rPr>
              <a:t>Vectorizing</a:t>
            </a:r>
            <a:r>
              <a:rPr lang="en-US" sz="4400" dirty="0">
                <a:latin typeface="+mn-lt"/>
                <a:ea typeface="Century Schoolbook"/>
                <a:cs typeface="Century Schoolbook"/>
                <a:sym typeface="Century Schoolbook"/>
              </a:rPr>
              <a:t> Logistic Regression</a:t>
            </a:r>
          </a:p>
        </p:txBody>
      </p:sp>
      <p:sp>
        <p:nvSpPr>
          <p:cNvPr id="316" name="Google Shape;316;p36"/>
          <p:cNvSpPr txBox="1"/>
          <p:nvPr/>
        </p:nvSpPr>
        <p:spPr>
          <a:xfrm>
            <a:off x="342900" y="1536696"/>
            <a:ext cx="11614637" cy="1135873"/>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Century Schoolbook"/>
                <a:ea typeface="Century Schoolbook"/>
                <a:cs typeface="Century Schoolbook"/>
                <a:sym typeface="Century Schoolbook"/>
              </a:rPr>
              <a:t>Consider the four propagation steps of logistic regression, which include computing the activation values for each training example. So, if you have M training examples, you need to do this M times.</a:t>
            </a:r>
            <a:endParaRPr sz="2400" b="0" i="0" u="none" strike="noStrike" cap="none" dirty="0">
              <a:solidFill>
                <a:schemeClr val="dk1"/>
              </a:solidFill>
              <a:latin typeface="Century Schoolbook"/>
              <a:ea typeface="Century Schoolbook"/>
              <a:cs typeface="Century Schoolbook"/>
              <a:sym typeface="Century Schoolbook"/>
            </a:endParaRP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3" name="Picture 2"/>
          <p:cNvPicPr>
            <a:picLocks noChangeAspect="1"/>
          </p:cNvPicPr>
          <p:nvPr/>
        </p:nvPicPr>
        <p:blipFill>
          <a:blip r:embed="rId4"/>
          <a:stretch>
            <a:fillRect/>
          </a:stretch>
        </p:blipFill>
        <p:spPr>
          <a:xfrm>
            <a:off x="4701502" y="2860245"/>
            <a:ext cx="2897432" cy="3416375"/>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4052963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err="1">
                <a:latin typeface="+mn-lt"/>
                <a:ea typeface="Century Schoolbook"/>
                <a:cs typeface="Century Schoolbook"/>
                <a:sym typeface="Century Schoolbook"/>
              </a:rPr>
              <a:t>Vectorizing</a:t>
            </a:r>
            <a:r>
              <a:rPr lang="en-US" sz="4400" dirty="0">
                <a:latin typeface="+mn-lt"/>
                <a:ea typeface="Century Schoolbook"/>
                <a:cs typeface="Century Schoolbook"/>
                <a:sym typeface="Century Schoolbook"/>
              </a:rPr>
              <a:t> Logistic  Regression</a:t>
            </a:r>
          </a:p>
        </p:txBody>
      </p:sp>
      <p:sp>
        <p:nvSpPr>
          <p:cNvPr id="316" name="Google Shape;316;p36"/>
          <p:cNvSpPr txBox="1"/>
          <p:nvPr/>
        </p:nvSpPr>
        <p:spPr>
          <a:xfrm>
            <a:off x="342900" y="1536696"/>
            <a:ext cx="11614637" cy="2642696"/>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Use a (</a:t>
            </a:r>
            <a:r>
              <a:rPr lang="en-US" sz="2400" dirty="0" err="1">
                <a:solidFill>
                  <a:schemeClr val="dk1"/>
                </a:solidFill>
                <a:latin typeface="+mn-lt"/>
                <a:ea typeface="Century Schoolbook"/>
                <a:cs typeface="Century Schoolbook"/>
                <a:sym typeface="Century Schoolbook"/>
              </a:rPr>
              <a:t>N</a:t>
            </a:r>
            <a:r>
              <a:rPr lang="en-US" sz="2400" baseline="-25000" dirty="0" err="1">
                <a:solidFill>
                  <a:schemeClr val="dk1"/>
                </a:solidFill>
                <a:latin typeface="+mn-lt"/>
                <a:ea typeface="Century Schoolbook"/>
                <a:cs typeface="Century Schoolbook"/>
                <a:sym typeface="Century Schoolbook"/>
              </a:rPr>
              <a:t>x</a:t>
            </a:r>
            <a:r>
              <a:rPr lang="en-US" sz="2400" dirty="0">
                <a:solidFill>
                  <a:schemeClr val="dk1"/>
                </a:solidFill>
                <a:latin typeface="+mn-lt"/>
                <a:ea typeface="Century Schoolbook"/>
                <a:cs typeface="Century Schoolbook"/>
                <a:sym typeface="Century Schoolbook"/>
              </a:rPr>
              <a:t> by M) matrix.</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Use this matrix to compute Z=Z</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 Z</a:t>
            </a:r>
            <a:r>
              <a:rPr lang="en-US" sz="2400" baseline="30000" dirty="0">
                <a:solidFill>
                  <a:schemeClr val="dk1"/>
                </a:solidFill>
                <a:latin typeface="+mn-lt"/>
                <a:ea typeface="Century Schoolbook"/>
                <a:cs typeface="Century Schoolbook"/>
                <a:sym typeface="Century Schoolbook"/>
              </a:rPr>
              <a:t>(2)</a:t>
            </a:r>
            <a:r>
              <a:rPr lang="en-US" sz="2400" dirty="0">
                <a:solidFill>
                  <a:schemeClr val="dk1"/>
                </a:solidFill>
                <a:latin typeface="+mn-lt"/>
                <a:ea typeface="Century Schoolbook"/>
                <a:cs typeface="Century Schoolbook"/>
                <a:sym typeface="Century Schoolbook"/>
              </a:rPr>
              <a:t> Z</a:t>
            </a:r>
            <a:r>
              <a:rPr lang="en-US" sz="2400" baseline="30000" dirty="0">
                <a:solidFill>
                  <a:schemeClr val="dk1"/>
                </a:solidFill>
                <a:latin typeface="+mn-lt"/>
                <a:ea typeface="Century Schoolbook"/>
                <a:cs typeface="Century Schoolbook"/>
                <a:sym typeface="Century Schoolbook"/>
              </a:rPr>
              <a:t>(3)</a:t>
            </a:r>
            <a:r>
              <a:rPr lang="en-US" sz="2400" dirty="0">
                <a:solidFill>
                  <a:schemeClr val="dk1"/>
                </a:solidFill>
                <a:latin typeface="+mn-lt"/>
                <a:ea typeface="Century Schoolbook"/>
                <a:cs typeface="Century Schoolbook"/>
                <a:sym typeface="Century Schoolbook"/>
              </a:rPr>
              <a:t> ... Z</a:t>
            </a:r>
            <a:r>
              <a:rPr lang="en-US" sz="2400" baseline="30000" dirty="0">
                <a:solidFill>
                  <a:schemeClr val="dk1"/>
                </a:solidFill>
                <a:latin typeface="+mn-lt"/>
                <a:ea typeface="Century Schoolbook"/>
                <a:cs typeface="Century Schoolbook"/>
                <a:sym typeface="Century Schoolbook"/>
              </a:rPr>
              <a:t>(n)</a:t>
            </a:r>
            <a:r>
              <a:rPr lang="en-US" sz="2400" dirty="0">
                <a:solidFill>
                  <a:schemeClr val="dk1"/>
                </a:solidFill>
                <a:latin typeface="+mn-lt"/>
                <a:ea typeface="Century Schoolbook"/>
                <a:cs typeface="Century Schoolbook"/>
                <a:sym typeface="Century Schoolbook"/>
              </a:rPr>
              <a:t> with one line of code. The matrix Z is a 1 by M matrix that's really a row vector.</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Using matrix multiplication Z=</a:t>
            </a:r>
            <a:r>
              <a:rPr lang="en-US" sz="2400" dirty="0" err="1">
                <a:solidFill>
                  <a:schemeClr val="dk1"/>
                </a:solidFill>
                <a:latin typeface="+mn-lt"/>
                <a:ea typeface="Century Schoolbook"/>
                <a:cs typeface="Century Schoolbook"/>
                <a:sym typeface="Century Schoolbook"/>
              </a:rPr>
              <a:t>W</a:t>
            </a:r>
            <a:r>
              <a:rPr lang="en-US" sz="2400" baseline="30000" dirty="0" err="1">
                <a:solidFill>
                  <a:schemeClr val="dk1"/>
                </a:solidFill>
                <a:latin typeface="+mn-lt"/>
                <a:ea typeface="Century Schoolbook"/>
                <a:cs typeface="Century Schoolbook"/>
                <a:sym typeface="Century Schoolbook"/>
              </a:rPr>
              <a:t>T</a:t>
            </a:r>
            <a:r>
              <a:rPr lang="en-US" sz="2400" dirty="0" err="1">
                <a:solidFill>
                  <a:schemeClr val="dk1"/>
                </a:solidFill>
                <a:latin typeface="+mn-lt"/>
                <a:ea typeface="Century Schoolbook"/>
                <a:cs typeface="Century Schoolbook"/>
                <a:sym typeface="Century Schoolbook"/>
              </a:rPr>
              <a:t>X+b</a:t>
            </a:r>
            <a:r>
              <a:rPr lang="en-US" sz="2400" dirty="0">
                <a:solidFill>
                  <a:schemeClr val="dk1"/>
                </a:solidFill>
                <a:latin typeface="+mn-lt"/>
                <a:ea typeface="Century Schoolbook"/>
                <a:cs typeface="Century Schoolbook"/>
                <a:sym typeface="Century Schoolbook"/>
              </a:rPr>
              <a:t> can be computed to obtain Z in one step.</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 python command is : z = np.dot(</a:t>
            </a:r>
            <a:r>
              <a:rPr lang="en-US" sz="2400" dirty="0" err="1">
                <a:solidFill>
                  <a:schemeClr val="dk1"/>
                </a:solidFill>
                <a:latin typeface="+mn-lt"/>
                <a:ea typeface="Century Schoolbook"/>
                <a:cs typeface="Century Schoolbook"/>
                <a:sym typeface="Century Schoolbook"/>
              </a:rPr>
              <a:t>w.T</a:t>
            </a:r>
            <a:r>
              <a:rPr lang="en-US" sz="2400" dirty="0">
                <a:solidFill>
                  <a:schemeClr val="dk1"/>
                </a:solidFill>
                <a:latin typeface="+mn-lt"/>
                <a:ea typeface="Century Schoolbook"/>
                <a:cs typeface="Century Schoolbook"/>
                <a:sym typeface="Century Schoolbook"/>
              </a:rPr>
              <a:t>, X) + B</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Here W = (N</a:t>
            </a:r>
            <a:r>
              <a:rPr lang="en-US" sz="2400" baseline="-25000" dirty="0">
                <a:solidFill>
                  <a:schemeClr val="dk1"/>
                </a:solidFill>
                <a:latin typeface="+mn-lt"/>
                <a:ea typeface="Century Schoolbook"/>
                <a:cs typeface="Century Schoolbook"/>
                <a:sym typeface="Century Schoolbook"/>
              </a:rPr>
              <a:t>X</a:t>
            </a:r>
            <a:r>
              <a:rPr lang="en-US" sz="2400" dirty="0">
                <a:solidFill>
                  <a:schemeClr val="dk1"/>
                </a:solidFill>
                <a:latin typeface="+mn-lt"/>
                <a:ea typeface="Century Schoolbook"/>
                <a:cs typeface="Century Schoolbook"/>
                <a:sym typeface="Century Schoolbook"/>
              </a:rPr>
              <a:t> by 1), X is (N</a:t>
            </a:r>
            <a:r>
              <a:rPr lang="en-US" sz="2400" baseline="-25000" dirty="0">
                <a:solidFill>
                  <a:schemeClr val="dk1"/>
                </a:solidFill>
                <a:latin typeface="+mn-lt"/>
                <a:ea typeface="Century Schoolbook"/>
                <a:cs typeface="Century Schoolbook"/>
                <a:sym typeface="Century Schoolbook"/>
              </a:rPr>
              <a:t>X</a:t>
            </a:r>
            <a:r>
              <a:rPr lang="en-US" sz="2400" dirty="0">
                <a:solidFill>
                  <a:schemeClr val="dk1"/>
                </a:solidFill>
                <a:latin typeface="+mn-lt"/>
                <a:ea typeface="Century Schoolbook"/>
                <a:cs typeface="Century Schoolbook"/>
                <a:sym typeface="Century Schoolbook"/>
              </a:rPr>
              <a:t> by M) and b is (1 by M), multiplication and addition gives Z (1 by M).</a:t>
            </a: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extLst>
      <p:ext uri="{BB962C8B-B14F-4D97-AF65-F5344CB8AC3E}">
        <p14:creationId xmlns:p14="http://schemas.microsoft.com/office/powerpoint/2010/main" val="8910481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344"/>
        <p:cNvGrpSpPr/>
        <p:nvPr/>
      </p:nvGrpSpPr>
      <p:grpSpPr>
        <a:xfrm>
          <a:off x="0" y="0"/>
          <a:ext cx="0" cy="0"/>
          <a:chOff x="0" y="0"/>
          <a:chExt cx="0" cy="0"/>
        </a:xfrm>
      </p:grpSpPr>
      <p:sp>
        <p:nvSpPr>
          <p:cNvPr id="345" name="Google Shape;345;p40"/>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6" name="Google Shape;346;p40"/>
          <p:cNvSpPr txBox="1">
            <a:spLocks noGrp="1"/>
          </p:cNvSpPr>
          <p:nvPr>
            <p:ph type="body" idx="1"/>
          </p:nvPr>
        </p:nvSpPr>
        <p:spPr>
          <a:xfrm>
            <a:off x="458279" y="1121824"/>
            <a:ext cx="11464432" cy="1887639"/>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347" name="Google Shape;347;p40"/>
          <p:cNvSpPr txBox="1"/>
          <p:nvPr/>
        </p:nvSpPr>
        <p:spPr>
          <a:xfrm>
            <a:off x="4544009" y="3627966"/>
            <a:ext cx="7442200" cy="2870485"/>
          </a:xfrm>
          <a:prstGeom prst="rect">
            <a:avLst/>
          </a:prstGeom>
          <a:noFill/>
          <a:ln>
            <a:noFill/>
          </a:ln>
        </p:spPr>
        <p:txBody>
          <a:bodyPr spcFirstLastPara="1" wrap="square" lIns="0" tIns="12700" rIns="0" bIns="0" anchor="t" anchorCtr="0">
            <a:spAutoFit/>
          </a:bodyPr>
          <a:lstStyle/>
          <a:p>
            <a:pPr marL="12065" marR="5080" lvl="0" indent="-12065" algn="ctr" rtl="0">
              <a:lnSpc>
                <a:spcPct val="100000"/>
              </a:lnSpc>
              <a:spcBef>
                <a:spcPts val="0"/>
              </a:spcBef>
              <a:spcAft>
                <a:spcPts val="0"/>
              </a:spcAft>
              <a:buClr>
                <a:srgbClr val="000000"/>
              </a:buClr>
              <a:buSzPts val="6000"/>
              <a:buFont typeface="Arial"/>
              <a:buNone/>
            </a:pPr>
            <a:r>
              <a:rPr lang="en-US" sz="6000" b="0" i="0" u="none" strike="noStrike" cap="none" dirty="0" err="1">
                <a:solidFill>
                  <a:schemeClr val="dk1"/>
                </a:solidFill>
                <a:latin typeface="+mj-lt"/>
                <a:ea typeface="Calibri"/>
                <a:cs typeface="Calibri"/>
                <a:sym typeface="Calibri"/>
              </a:rPr>
              <a:t>Vectorizing</a:t>
            </a:r>
            <a:r>
              <a:rPr lang="en-US" sz="6000" b="0" i="0" u="none" strike="noStrike" cap="none" dirty="0">
                <a:solidFill>
                  <a:schemeClr val="dk1"/>
                </a:solidFill>
                <a:latin typeface="+mj-lt"/>
                <a:ea typeface="Calibri"/>
                <a:cs typeface="Calibri"/>
                <a:sym typeface="Calibri"/>
              </a:rPr>
              <a:t> Logistic  Regression’s Gradient  Output</a:t>
            </a:r>
            <a:endParaRPr sz="6000" b="0" i="0" u="none" strike="noStrike" cap="none" dirty="0">
              <a:solidFill>
                <a:schemeClr val="dk1"/>
              </a:solidFill>
              <a:latin typeface="+mj-lt"/>
              <a:ea typeface="Calibri"/>
              <a:cs typeface="Calibri"/>
              <a:sym typeface="Calibri"/>
            </a:endParaRPr>
          </a:p>
        </p:txBody>
      </p:sp>
      <p:pic>
        <p:nvPicPr>
          <p:cNvPr id="348" name="Google Shape;348;p40"/>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5" name="Google Shape;275;p31"/>
          <p:cNvSpPr txBox="1">
            <a:spLocks noGrp="1"/>
          </p:cNvSpPr>
          <p:nvPr>
            <p:ph type="title"/>
          </p:nvPr>
        </p:nvSpPr>
        <p:spPr>
          <a:xfrm>
            <a:off x="106343" y="4229"/>
            <a:ext cx="8884920"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err="1">
                <a:latin typeface="+mj-lt"/>
                <a:ea typeface="Century Schoolbook"/>
                <a:cs typeface="Century Schoolbook"/>
                <a:sym typeface="Century Schoolbook"/>
              </a:rPr>
              <a:t>Vectorizing</a:t>
            </a:r>
            <a:r>
              <a:rPr lang="en-US" sz="4400" b="0" dirty="0">
                <a:latin typeface="+mj-lt"/>
                <a:ea typeface="Century Schoolbook"/>
                <a:cs typeface="Century Schoolbook"/>
                <a:sym typeface="Century Schoolbook"/>
              </a:rPr>
              <a:t> Logistic regression</a:t>
            </a:r>
            <a:endParaRPr sz="4400" dirty="0">
              <a:latin typeface="+mj-lt"/>
              <a:ea typeface="Century Schoolbook"/>
              <a:cs typeface="Century Schoolbook"/>
              <a:sym typeface="Century Schoolbook"/>
            </a:endParaRPr>
          </a:p>
        </p:txBody>
      </p:sp>
      <p:pic>
        <p:nvPicPr>
          <p:cNvPr id="278" name="Google Shape;278;p3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
        <p:nvSpPr>
          <p:cNvPr id="4" name="AutoShape 2" descr="https://miro.medium.com/v2/resize:fit:1400/1*5x5DiLQUNMQljf5wsQkCLg.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5" name="Rectangle 4"/>
              <p:cNvSpPr/>
              <p:nvPr/>
            </p:nvSpPr>
            <p:spPr>
              <a:xfrm>
                <a:off x="707875" y="1447334"/>
                <a:ext cx="8283388" cy="4629985"/>
              </a:xfrm>
              <a:prstGeom prst="rect">
                <a:avLst/>
              </a:prstGeom>
            </p:spPr>
            <p:txBody>
              <a:bodyPr wrap="square">
                <a:spAutoFit/>
              </a:bodyPr>
              <a:lstStyle/>
              <a:p>
                <a:r>
                  <a:rPr lang="en-US" sz="2800" dirty="0"/>
                  <a:t>J = 0, dw</a:t>
                </a:r>
                <a:r>
                  <a:rPr lang="en-US" sz="2800" baseline="-25000" dirty="0"/>
                  <a:t>1</a:t>
                </a:r>
                <a:r>
                  <a:rPr lang="en-US" sz="2800" dirty="0"/>
                  <a:t> = 0, dw</a:t>
                </a:r>
                <a:r>
                  <a:rPr lang="en-US" sz="2800" baseline="-25000" dirty="0"/>
                  <a:t>2</a:t>
                </a:r>
                <a:r>
                  <a:rPr lang="en-US" sz="2800" dirty="0"/>
                  <a:t> = 0, </a:t>
                </a:r>
                <a:r>
                  <a:rPr lang="en-US" sz="2800" dirty="0" err="1"/>
                  <a:t>db</a:t>
                </a:r>
                <a:r>
                  <a:rPr lang="en-US" sz="2800" dirty="0"/>
                  <a:t> = 0</a:t>
                </a:r>
              </a:p>
              <a:p>
                <a:r>
                  <a:rPr lang="en-US" sz="2800" dirty="0"/>
                  <a:t>for </a:t>
                </a:r>
                <a:r>
                  <a:rPr lang="en-US" sz="2800" dirty="0" err="1"/>
                  <a:t>i</a:t>
                </a:r>
                <a:r>
                  <a:rPr lang="en-US" sz="2800" dirty="0"/>
                  <a:t> = 1 to m:</a:t>
                </a:r>
              </a:p>
              <a:p>
                <a:r>
                  <a:rPr lang="en-US" sz="2800" dirty="0"/>
                  <a:t>	z</a:t>
                </a:r>
                <a:r>
                  <a:rPr lang="en-US" sz="2800" baseline="30000" dirty="0"/>
                  <a:t>(</a:t>
                </a:r>
                <a:r>
                  <a:rPr lang="en-US" sz="2800" baseline="30000" dirty="0" err="1"/>
                  <a:t>i</a:t>
                </a:r>
                <a:r>
                  <a:rPr lang="en-US" sz="2800" baseline="30000" dirty="0"/>
                  <a:t>)</a:t>
                </a:r>
                <a:r>
                  <a:rPr lang="en-US" sz="2800" dirty="0"/>
                  <a:t> = </a:t>
                </a:r>
                <a:r>
                  <a:rPr lang="en-US" sz="2800" dirty="0" err="1"/>
                  <a:t>w</a:t>
                </a:r>
                <a:r>
                  <a:rPr lang="en-US" sz="2800" baseline="30000" dirty="0" err="1"/>
                  <a:t>T</a:t>
                </a:r>
                <a:r>
                  <a:rPr lang="en-US" sz="2800" dirty="0"/>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𝑥</m:t>
                        </m:r>
                      </m:e>
                      <m:sup>
                        <m:r>
                          <a:rPr lang="en-US" sz="2800" b="0" i="1" smtClean="0">
                            <a:latin typeface="Cambria Math" panose="02040503050406030204" pitchFamily="18" charset="0"/>
                          </a:rPr>
                          <m:t>𝑖</m:t>
                        </m:r>
                      </m:sup>
                    </m:sSup>
                  </m:oMath>
                </a14:m>
                <a:r>
                  <a:rPr lang="en-US" sz="2800" dirty="0"/>
                  <a:t> + b</a:t>
                </a:r>
              </a:p>
              <a:p>
                <a:r>
                  <a:rPr lang="en-US" sz="2800" dirty="0"/>
                  <a:t>	a</a:t>
                </a:r>
                <a:r>
                  <a:rPr lang="en-US" sz="2800" baseline="30000" dirty="0"/>
                  <a:t>(</a:t>
                </a:r>
                <a:r>
                  <a:rPr lang="en-US" sz="2800" baseline="30000" dirty="0" err="1"/>
                  <a:t>i</a:t>
                </a:r>
                <a:r>
                  <a:rPr lang="en-US" sz="2800" baseline="30000" dirty="0"/>
                  <a:t>)</a:t>
                </a:r>
                <a:r>
                  <a:rPr lang="en-US" sz="2800" dirty="0"/>
                  <a:t> = σ (z</a:t>
                </a:r>
                <a:r>
                  <a:rPr lang="en-US" sz="2800" baseline="30000" dirty="0"/>
                  <a:t>(</a:t>
                </a:r>
                <a:r>
                  <a:rPr lang="en-US" sz="2800" baseline="30000" dirty="0" err="1"/>
                  <a:t>i</a:t>
                </a:r>
                <a:r>
                  <a:rPr lang="en-US" sz="2800" baseline="30000" dirty="0"/>
                  <a:t>)</a:t>
                </a:r>
                <a:r>
                  <a:rPr lang="en-US" sz="2800" dirty="0"/>
                  <a:t>)</a:t>
                </a:r>
              </a:p>
              <a:p>
                <a:r>
                  <a:rPr lang="en-US" sz="2800" dirty="0"/>
                  <a:t>	J += −[y</a:t>
                </a:r>
                <a:r>
                  <a:rPr lang="en-US" sz="2800" baseline="30000" dirty="0"/>
                  <a:t>(</a:t>
                </a:r>
                <a:r>
                  <a:rPr lang="en-US" sz="2800" baseline="30000" dirty="0" err="1"/>
                  <a:t>i</a:t>
                </a:r>
                <a:r>
                  <a:rPr lang="en-US" sz="2800" baseline="30000" dirty="0"/>
                  <a:t>)</a:t>
                </a:r>
                <a:r>
                  <a:rPr lang="en-US" sz="2800" dirty="0"/>
                  <a:t> </a:t>
                </a:r>
                <a:r>
                  <a:rPr lang="en-US" sz="2800" dirty="0" err="1"/>
                  <a:t>logŷ</a:t>
                </a:r>
                <a:r>
                  <a:rPr lang="en-US" sz="2800" baseline="30000" dirty="0"/>
                  <a:t>(</a:t>
                </a:r>
                <a:r>
                  <a:rPr lang="en-US" sz="2800" baseline="30000" dirty="0" err="1"/>
                  <a:t>i</a:t>
                </a:r>
                <a:r>
                  <a:rPr lang="en-US" sz="2800" baseline="30000" dirty="0"/>
                  <a:t>)</a:t>
                </a:r>
                <a:r>
                  <a:rPr lang="en-US" sz="2800" dirty="0"/>
                  <a:t> + (1 − y</a:t>
                </a:r>
                <a:r>
                  <a:rPr lang="en-US" sz="2800" baseline="30000" dirty="0"/>
                  <a:t>(</a:t>
                </a:r>
                <a:r>
                  <a:rPr lang="en-US" sz="2800" baseline="30000" dirty="0" err="1"/>
                  <a:t>i</a:t>
                </a:r>
                <a:r>
                  <a:rPr lang="en-US" sz="2800" baseline="30000" dirty="0"/>
                  <a:t>)</a:t>
                </a:r>
                <a:r>
                  <a:rPr lang="en-US" sz="2800" dirty="0"/>
                  <a:t>) log(1 − ŷ</a:t>
                </a:r>
                <a:r>
                  <a:rPr lang="en-US" sz="2800" baseline="30000" dirty="0"/>
                  <a:t>(</a:t>
                </a:r>
                <a:r>
                  <a:rPr lang="en-US" sz="2800" baseline="30000" dirty="0" err="1"/>
                  <a:t>i</a:t>
                </a:r>
                <a:r>
                  <a:rPr lang="en-US" sz="2800" baseline="30000" dirty="0"/>
                  <a:t>)</a:t>
                </a:r>
                <a:r>
                  <a:rPr lang="en-US" sz="2800" dirty="0"/>
                  <a:t>]</a:t>
                </a:r>
              </a:p>
              <a:p>
                <a:r>
                  <a:rPr lang="en-US" sz="2800" dirty="0"/>
                  <a:t>	</a:t>
                </a:r>
                <a:r>
                  <a:rPr lang="en-US" sz="2800" dirty="0" err="1"/>
                  <a:t>dz</a:t>
                </a:r>
                <a:r>
                  <a:rPr lang="en-US" sz="2800" baseline="30000" dirty="0"/>
                  <a:t>(</a:t>
                </a:r>
                <a:r>
                  <a:rPr lang="en-US" sz="2800" baseline="30000" dirty="0" err="1"/>
                  <a:t>i</a:t>
                </a:r>
                <a:r>
                  <a:rPr lang="en-US" sz="2800" baseline="30000" dirty="0"/>
                  <a:t>)</a:t>
                </a:r>
                <a:r>
                  <a:rPr lang="en-US" sz="2800" dirty="0"/>
                  <a:t> = a</a:t>
                </a:r>
                <a:r>
                  <a:rPr lang="en-US" sz="2800" baseline="30000" dirty="0"/>
                  <a:t>(</a:t>
                </a:r>
                <a:r>
                  <a:rPr lang="en-US" sz="2800" baseline="30000" dirty="0" err="1"/>
                  <a:t>i</a:t>
                </a:r>
                <a:r>
                  <a:rPr lang="en-US" sz="2800" baseline="30000" dirty="0"/>
                  <a:t>)</a:t>
                </a:r>
                <a:r>
                  <a:rPr lang="en-US" sz="2800" dirty="0"/>
                  <a:t> - y</a:t>
                </a:r>
                <a:r>
                  <a:rPr lang="en-US" sz="2800" baseline="30000" dirty="0"/>
                  <a:t>(</a:t>
                </a:r>
                <a:r>
                  <a:rPr lang="en-US" sz="2800" baseline="30000" dirty="0" err="1"/>
                  <a:t>i</a:t>
                </a:r>
                <a:r>
                  <a:rPr lang="en-US" sz="2800" baseline="30000" dirty="0"/>
                  <a:t>)</a:t>
                </a:r>
                <a:endParaRPr lang="en-US" sz="2800" dirty="0"/>
              </a:p>
              <a:p>
                <a:r>
                  <a:rPr lang="en-US" sz="2800" dirty="0"/>
                  <a:t>	dw</a:t>
                </a:r>
                <a:r>
                  <a:rPr lang="en-US" sz="2800" baseline="-25000" dirty="0"/>
                  <a:t>1</a:t>
                </a:r>
                <a:r>
                  <a:rPr lang="en-US" sz="2800" dirty="0"/>
                  <a:t> += </a:t>
                </a:r>
                <a14:m>
                  <m:oMath xmlns:m="http://schemas.openxmlformats.org/officeDocument/2006/math">
                    <m:sSubSup>
                      <m:sSubSupPr>
                        <m:ctrlPr>
                          <a:rPr lang="en-US" sz="2800" i="1" smtClean="0">
                            <a:latin typeface="Cambria Math" panose="02040503050406030204" pitchFamily="18" charset="0"/>
                          </a:rPr>
                        </m:ctrlPr>
                      </m:sSubSup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up>
                        <m:r>
                          <a:rPr lang="en-US" sz="2800" b="0" i="1" smtClean="0">
                            <a:latin typeface="Cambria Math" panose="02040503050406030204" pitchFamily="18" charset="0"/>
                          </a:rPr>
                          <m:t>(</m:t>
                        </m:r>
                        <m:r>
                          <a:rPr lang="en-US" sz="2800" b="0" i="1" smtClean="0">
                            <a:latin typeface="Cambria Math" panose="02040503050406030204" pitchFamily="18" charset="0"/>
                          </a:rPr>
                          <m:t>𝑖</m:t>
                        </m:r>
                        <m:r>
                          <a:rPr lang="en-US" sz="2800" b="0" i="1" smtClean="0">
                            <a:latin typeface="Cambria Math" panose="02040503050406030204" pitchFamily="18" charset="0"/>
                          </a:rPr>
                          <m:t>)</m:t>
                        </m:r>
                      </m:sup>
                    </m:sSubSup>
                  </m:oMath>
                </a14:m>
                <a:r>
                  <a:rPr lang="en-US" sz="2800" dirty="0"/>
                  <a:t> </a:t>
                </a:r>
                <a:r>
                  <a:rPr lang="en-US" sz="2800" dirty="0" err="1"/>
                  <a:t>dz</a:t>
                </a:r>
                <a:r>
                  <a:rPr lang="en-US" sz="2800" baseline="30000" dirty="0"/>
                  <a:t>(</a:t>
                </a:r>
                <a:r>
                  <a:rPr lang="en-US" sz="2800" baseline="30000" dirty="0" err="1"/>
                  <a:t>i</a:t>
                </a:r>
                <a:r>
                  <a:rPr lang="en-US" sz="2800" baseline="30000" dirty="0"/>
                  <a:t>)</a:t>
                </a:r>
                <a:endParaRPr lang="en-US" sz="2800" dirty="0"/>
              </a:p>
              <a:p>
                <a:r>
                  <a:rPr lang="en-US" sz="2800" dirty="0"/>
                  <a:t>	</a:t>
                </a:r>
                <a:r>
                  <a:rPr lang="en-US" sz="2800" dirty="0" err="1"/>
                  <a:t>dw</a:t>
                </a:r>
                <a:r>
                  <a:rPr lang="en-US" sz="2800" dirty="0"/>
                  <a:t>₂ += </a:t>
                </a:r>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𝑥</m:t>
                        </m:r>
                      </m:e>
                      <m:sub>
                        <m:r>
                          <a:rPr lang="en-US" sz="2800" b="0" i="1" smtClean="0">
                            <a:latin typeface="Cambria Math" panose="02040503050406030204" pitchFamily="18" charset="0"/>
                          </a:rPr>
                          <m:t>2</m:t>
                        </m:r>
                      </m:sub>
                      <m:sup>
                        <m:r>
                          <a:rPr lang="en-US" sz="2800" i="1">
                            <a:latin typeface="Cambria Math" panose="02040503050406030204" pitchFamily="18" charset="0"/>
                          </a:rPr>
                          <m:t>(</m:t>
                        </m:r>
                        <m:r>
                          <a:rPr lang="en-US" sz="2800" i="1">
                            <a:latin typeface="Cambria Math" panose="02040503050406030204" pitchFamily="18" charset="0"/>
                          </a:rPr>
                          <m:t>𝑖</m:t>
                        </m:r>
                        <m:r>
                          <a:rPr lang="en-US" sz="2800" i="1">
                            <a:latin typeface="Cambria Math" panose="02040503050406030204" pitchFamily="18" charset="0"/>
                          </a:rPr>
                          <m:t>)</m:t>
                        </m:r>
                      </m:sup>
                    </m:sSubSup>
                  </m:oMath>
                </a14:m>
                <a:r>
                  <a:rPr lang="en-US" sz="2800" dirty="0"/>
                  <a:t> </a:t>
                </a:r>
                <a:r>
                  <a:rPr lang="en-US" sz="2800" dirty="0" err="1"/>
                  <a:t>dz</a:t>
                </a:r>
                <a:r>
                  <a:rPr lang="en-US" sz="2800" baseline="30000" dirty="0"/>
                  <a:t>(</a:t>
                </a:r>
                <a:r>
                  <a:rPr lang="en-US" sz="2800" baseline="30000" dirty="0" err="1"/>
                  <a:t>i</a:t>
                </a:r>
                <a:r>
                  <a:rPr lang="en-US" sz="2800" baseline="30000" dirty="0"/>
                  <a:t>)</a:t>
                </a:r>
                <a:endParaRPr lang="en-US" sz="2800" dirty="0"/>
              </a:p>
              <a:p>
                <a:r>
                  <a:rPr lang="en-US" sz="2800" dirty="0"/>
                  <a:t>	</a:t>
                </a:r>
                <a:r>
                  <a:rPr lang="en-US" sz="2800" dirty="0" err="1"/>
                  <a:t>db</a:t>
                </a:r>
                <a:r>
                  <a:rPr lang="en-US" sz="2800" dirty="0"/>
                  <a:t> += </a:t>
                </a:r>
                <a:r>
                  <a:rPr lang="en-US" sz="2800" dirty="0" err="1"/>
                  <a:t>dz</a:t>
                </a:r>
                <a:r>
                  <a:rPr lang="en-US" sz="2800" baseline="30000" dirty="0"/>
                  <a:t>(</a:t>
                </a:r>
                <a:r>
                  <a:rPr lang="en-US" sz="2800" baseline="30000" dirty="0" err="1"/>
                  <a:t>i</a:t>
                </a:r>
                <a:r>
                  <a:rPr lang="en-US" sz="2800" baseline="30000" dirty="0"/>
                  <a:t>)</a:t>
                </a:r>
                <a:endParaRPr lang="en-US" sz="2800" dirty="0"/>
              </a:p>
              <a:p>
                <a:r>
                  <a:rPr lang="en-US" sz="2800" dirty="0"/>
                  <a:t>J = J/m, dw</a:t>
                </a:r>
                <a:r>
                  <a:rPr lang="en-US" sz="2800" baseline="-25000" dirty="0"/>
                  <a:t>1</a:t>
                </a:r>
                <a:r>
                  <a:rPr lang="en-US" sz="2800" dirty="0"/>
                  <a:t> = </a:t>
                </a:r>
                <a:r>
                  <a:rPr lang="en-US" sz="2800" dirty="0" err="1"/>
                  <a:t>dw</a:t>
                </a:r>
                <a:r>
                  <a:rPr lang="en-US" sz="2800" dirty="0"/>
                  <a:t>₁/m, dw</a:t>
                </a:r>
                <a:r>
                  <a:rPr lang="en-US" sz="2800" baseline="-25000" dirty="0"/>
                  <a:t>2</a:t>
                </a:r>
                <a:r>
                  <a:rPr lang="en-US" sz="2800" dirty="0"/>
                  <a:t> = </a:t>
                </a:r>
                <a:r>
                  <a:rPr lang="en-US" sz="2800" dirty="0" err="1"/>
                  <a:t>dw</a:t>
                </a:r>
                <a:r>
                  <a:rPr lang="en-US" sz="2800" dirty="0"/>
                  <a:t>₂/m, </a:t>
                </a:r>
                <a:r>
                  <a:rPr lang="en-US" sz="2800" dirty="0" err="1"/>
                  <a:t>db</a:t>
                </a:r>
                <a:r>
                  <a:rPr lang="en-US" sz="2800" dirty="0"/>
                  <a:t> = </a:t>
                </a:r>
                <a:r>
                  <a:rPr lang="en-US" sz="2800" dirty="0" err="1"/>
                  <a:t>db</a:t>
                </a:r>
                <a:r>
                  <a:rPr lang="en-US" sz="2800" dirty="0"/>
                  <a:t>/m</a:t>
                </a:r>
              </a:p>
            </p:txBody>
          </p:sp>
        </mc:Choice>
        <mc:Fallback xmlns="">
          <p:sp>
            <p:nvSpPr>
              <p:cNvPr id="5" name="Rectangle 4"/>
              <p:cNvSpPr>
                <a:spLocks noRot="1" noChangeAspect="1" noMove="1" noResize="1" noEditPoints="1" noAdjustHandles="1" noChangeArrowheads="1" noChangeShapeType="1" noTextEdit="1"/>
              </p:cNvSpPr>
              <p:nvPr/>
            </p:nvSpPr>
            <p:spPr>
              <a:xfrm>
                <a:off x="707875" y="1447334"/>
                <a:ext cx="8283388" cy="4629985"/>
              </a:xfrm>
              <a:prstGeom prst="rect">
                <a:avLst/>
              </a:prstGeom>
              <a:blipFill>
                <a:blip r:embed="rId5"/>
                <a:stretch>
                  <a:fillRect l="-1472" t="-1316" b="-2632"/>
                </a:stretch>
              </a:blipFill>
            </p:spPr>
            <p:txBody>
              <a:bodyPr/>
              <a:lstStyle/>
              <a:p>
                <a:r>
                  <a:rPr lang="en-US">
                    <a:noFill/>
                  </a:rPr>
                  <a:t> </a:t>
                </a:r>
              </a:p>
            </p:txBody>
          </p:sp>
        </mc:Fallback>
      </mc:AlternateContent>
    </p:spTree>
    <p:extLst>
      <p:ext uri="{BB962C8B-B14F-4D97-AF65-F5344CB8AC3E}">
        <p14:creationId xmlns:p14="http://schemas.microsoft.com/office/powerpoint/2010/main" val="27837263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err="1">
                <a:latin typeface="+mn-lt"/>
                <a:ea typeface="Century Schoolbook"/>
                <a:cs typeface="Century Schoolbook"/>
                <a:sym typeface="Century Schoolbook"/>
              </a:rPr>
              <a:t>Vectorizing</a:t>
            </a:r>
            <a:r>
              <a:rPr lang="en-US" sz="4400" dirty="0">
                <a:latin typeface="+mn-lt"/>
                <a:ea typeface="Century Schoolbook"/>
                <a:cs typeface="Century Schoolbook"/>
                <a:sym typeface="Century Schoolbook"/>
              </a:rPr>
              <a:t> Logistic  Regression</a:t>
            </a:r>
          </a:p>
        </p:txBody>
      </p:sp>
      <p:sp>
        <p:nvSpPr>
          <p:cNvPr id="316" name="Google Shape;316;p36"/>
          <p:cNvSpPr txBox="1"/>
          <p:nvPr/>
        </p:nvSpPr>
        <p:spPr>
          <a:xfrm>
            <a:off x="342900" y="1536696"/>
            <a:ext cx="11614637" cy="1889285"/>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Vectorization also performs the gradient computations for all M training samples. To derive a very efficient implementation of logistic regression.</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For the gradient computation , the first step is to compute </a:t>
            </a:r>
            <a:r>
              <a:rPr lang="en-US" sz="2400" dirty="0" err="1">
                <a:solidFill>
                  <a:schemeClr val="dk1"/>
                </a:solidFill>
                <a:latin typeface="+mn-lt"/>
                <a:ea typeface="Century Schoolbook"/>
                <a:cs typeface="Century Schoolbook"/>
                <a:sym typeface="Century Schoolbook"/>
              </a:rPr>
              <a:t>dz</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 for the first example, which could be a</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−y</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 and then </a:t>
            </a:r>
            <a:r>
              <a:rPr lang="en-US" sz="2400" dirty="0" err="1">
                <a:solidFill>
                  <a:schemeClr val="dk1"/>
                </a:solidFill>
                <a:latin typeface="+mn-lt"/>
                <a:ea typeface="Century Schoolbook"/>
                <a:cs typeface="Century Schoolbook"/>
                <a:sym typeface="Century Schoolbook"/>
              </a:rPr>
              <a:t>dz</a:t>
            </a:r>
            <a:r>
              <a:rPr lang="en-US" sz="2400" baseline="30000" dirty="0">
                <a:solidFill>
                  <a:schemeClr val="dk1"/>
                </a:solidFill>
                <a:latin typeface="+mn-lt"/>
                <a:ea typeface="Century Schoolbook"/>
                <a:cs typeface="Century Schoolbook"/>
                <a:sym typeface="Century Schoolbook"/>
              </a:rPr>
              <a:t>(2)</a:t>
            </a:r>
            <a:r>
              <a:rPr lang="en-US" sz="2400" dirty="0">
                <a:solidFill>
                  <a:schemeClr val="dk1"/>
                </a:solidFill>
                <a:latin typeface="+mn-lt"/>
                <a:ea typeface="Century Schoolbook"/>
                <a:cs typeface="Century Schoolbook"/>
                <a:sym typeface="Century Schoolbook"/>
              </a:rPr>
              <a:t> = </a:t>
            </a:r>
            <a:r>
              <a:rPr lang="en-US" sz="2400" dirty="0">
                <a:solidFill>
                  <a:schemeClr val="dk1"/>
                </a:solidFill>
                <a:ea typeface="Century Schoolbook"/>
                <a:cs typeface="Century Schoolbook"/>
                <a:sym typeface="Century Schoolbook"/>
              </a:rPr>
              <a:t>a</a:t>
            </a:r>
            <a:r>
              <a:rPr lang="en-US" sz="2400" baseline="30000" dirty="0">
                <a:solidFill>
                  <a:schemeClr val="dk1"/>
                </a:solidFill>
                <a:ea typeface="Century Schoolbook"/>
                <a:cs typeface="Century Schoolbook"/>
                <a:sym typeface="Century Schoolbook"/>
              </a:rPr>
              <a:t>(2)</a:t>
            </a:r>
            <a:r>
              <a:rPr lang="en-US" sz="2400" dirty="0">
                <a:solidFill>
                  <a:schemeClr val="dk1"/>
                </a:solidFill>
                <a:ea typeface="Century Schoolbook"/>
                <a:cs typeface="Century Schoolbook"/>
                <a:sym typeface="Century Schoolbook"/>
              </a:rPr>
              <a:t>−y</a:t>
            </a:r>
            <a:r>
              <a:rPr lang="en-US" sz="2400" baseline="30000" dirty="0">
                <a:solidFill>
                  <a:schemeClr val="dk1"/>
                </a:solidFill>
                <a:ea typeface="Century Schoolbook"/>
                <a:cs typeface="Century Schoolbook"/>
                <a:sym typeface="Century Schoolbook"/>
              </a:rPr>
              <a:t>(2)</a:t>
            </a:r>
            <a:r>
              <a:rPr lang="en-US" sz="2400" dirty="0">
                <a:solidFill>
                  <a:schemeClr val="dk1"/>
                </a:solidFill>
                <a:latin typeface="+mn-lt"/>
                <a:ea typeface="Century Schoolbook"/>
                <a:cs typeface="Century Schoolbook"/>
                <a:sym typeface="Century Schoolbook"/>
              </a:rPr>
              <a:t> and so on. And so on for all M training examples.</a:t>
            </a: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extLst>
      <p:ext uri="{BB962C8B-B14F-4D97-AF65-F5344CB8AC3E}">
        <p14:creationId xmlns:p14="http://schemas.microsoft.com/office/powerpoint/2010/main" val="28880988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entury Schoolbook"/>
                <a:cs typeface="Century Schoolbook"/>
                <a:sym typeface="Century Schoolbook"/>
              </a:rPr>
              <a:t>Vectorizing</a:t>
            </a:r>
            <a:r>
              <a:rPr lang="en-US" sz="4400" dirty="0">
                <a:latin typeface="+mj-lt"/>
                <a:ea typeface="Century Schoolbook"/>
                <a:cs typeface="Century Schoolbook"/>
                <a:sym typeface="Century Schoolbook"/>
              </a:rPr>
              <a:t> Logistic Regression</a:t>
            </a: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2050" name="Picture 2" descr="logistic-regression-non-vector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220" y="4264634"/>
            <a:ext cx="10133095" cy="2065826"/>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16;p36"/>
          <p:cNvSpPr txBox="1"/>
          <p:nvPr/>
        </p:nvSpPr>
        <p:spPr>
          <a:xfrm>
            <a:off x="342900" y="1245233"/>
            <a:ext cx="11614637" cy="3019401"/>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Lets define a new variable , </a:t>
            </a:r>
            <a:r>
              <a:rPr lang="en-US" sz="2400" dirty="0" err="1">
                <a:solidFill>
                  <a:schemeClr val="dk1"/>
                </a:solidFill>
                <a:latin typeface="+mn-lt"/>
                <a:ea typeface="Century Schoolbook"/>
                <a:cs typeface="Century Schoolbook"/>
                <a:sym typeface="Century Schoolbook"/>
              </a:rPr>
              <a:t>dZ</a:t>
            </a:r>
            <a:r>
              <a:rPr lang="en-US" sz="2400" dirty="0">
                <a:solidFill>
                  <a:schemeClr val="dk1"/>
                </a:solidFill>
                <a:latin typeface="+mn-lt"/>
                <a:ea typeface="Century Schoolbook"/>
                <a:cs typeface="Century Schoolbook"/>
                <a:sym typeface="Century Schoolbook"/>
              </a:rPr>
              <a:t> is going to be </a:t>
            </a:r>
            <a:r>
              <a:rPr lang="en-US" sz="2400" dirty="0" err="1">
                <a:solidFill>
                  <a:schemeClr val="dk1"/>
                </a:solidFill>
                <a:latin typeface="+mn-lt"/>
                <a:ea typeface="Century Schoolbook"/>
                <a:cs typeface="Century Schoolbook"/>
                <a:sym typeface="Century Schoolbook"/>
              </a:rPr>
              <a:t>dz</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 , </a:t>
            </a:r>
            <a:r>
              <a:rPr lang="en-US" sz="2400" dirty="0" err="1">
                <a:solidFill>
                  <a:schemeClr val="dk1"/>
                </a:solidFill>
                <a:ea typeface="Century Schoolbook"/>
                <a:cs typeface="Century Schoolbook"/>
                <a:sym typeface="Century Schoolbook"/>
              </a:rPr>
              <a:t>dz</a:t>
            </a:r>
            <a:r>
              <a:rPr lang="en-US" sz="2400" baseline="30000" dirty="0">
                <a:solidFill>
                  <a:schemeClr val="dk1"/>
                </a:solidFill>
                <a:ea typeface="Century Schoolbook"/>
                <a:cs typeface="Century Schoolbook"/>
                <a:sym typeface="Century Schoolbook"/>
              </a:rPr>
              <a:t>(2)</a:t>
            </a:r>
            <a:r>
              <a:rPr lang="en-US" sz="2400" dirty="0">
                <a:solidFill>
                  <a:schemeClr val="dk1"/>
                </a:solidFill>
                <a:latin typeface="+mn-lt"/>
                <a:ea typeface="Century Schoolbook"/>
                <a:cs typeface="Century Schoolbook"/>
                <a:sym typeface="Century Schoolbook"/>
              </a:rPr>
              <a:t>,...,</a:t>
            </a:r>
            <a:r>
              <a:rPr lang="en-US" sz="2400" dirty="0">
                <a:solidFill>
                  <a:schemeClr val="dk1"/>
                </a:solidFill>
                <a:ea typeface="Century Schoolbook"/>
                <a:cs typeface="Century Schoolbook"/>
                <a:sym typeface="Century Schoolbook"/>
              </a:rPr>
              <a:t> </a:t>
            </a:r>
            <a:r>
              <a:rPr lang="en-US" sz="2400" dirty="0" err="1">
                <a:solidFill>
                  <a:schemeClr val="dk1"/>
                </a:solidFill>
                <a:ea typeface="Century Schoolbook"/>
                <a:cs typeface="Century Schoolbook"/>
                <a:sym typeface="Century Schoolbook"/>
              </a:rPr>
              <a:t>dz</a:t>
            </a:r>
            <a:r>
              <a:rPr lang="en-US" sz="2400" baseline="30000" dirty="0">
                <a:solidFill>
                  <a:schemeClr val="dk1"/>
                </a:solidFill>
                <a:ea typeface="Century Schoolbook"/>
                <a:cs typeface="Century Schoolbook"/>
                <a:sym typeface="Century Schoolbook"/>
              </a:rPr>
              <a:t>(m)</a:t>
            </a:r>
            <a:r>
              <a:rPr lang="en-US" sz="2400" dirty="0">
                <a:solidFill>
                  <a:schemeClr val="dk1"/>
                </a:solidFill>
                <a:latin typeface="+mn-lt"/>
                <a:ea typeface="Century Schoolbook"/>
                <a:cs typeface="Century Schoolbook"/>
                <a:sym typeface="Century Schoolbook"/>
              </a:rPr>
              <a:t>. Again, all the lowercase z variables stacked horizontally. So, this would be 1 by m matrix or alternatively a 'm' dimensional row vector.</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Previously , we'd already figured out how to compute A and Y as shown below and you can see for yourself that </a:t>
            </a:r>
            <a:r>
              <a:rPr lang="en-US" sz="2400" dirty="0" err="1">
                <a:solidFill>
                  <a:schemeClr val="dk1"/>
                </a:solidFill>
                <a:latin typeface="+mn-lt"/>
                <a:ea typeface="Century Schoolbook"/>
                <a:cs typeface="Century Schoolbook"/>
                <a:sym typeface="Century Schoolbook"/>
              </a:rPr>
              <a:t>dz</a:t>
            </a:r>
            <a:r>
              <a:rPr lang="en-US" sz="2400" dirty="0">
                <a:solidFill>
                  <a:schemeClr val="dk1"/>
                </a:solidFill>
                <a:latin typeface="+mn-lt"/>
                <a:ea typeface="Century Schoolbook"/>
                <a:cs typeface="Century Schoolbook"/>
                <a:sym typeface="Century Schoolbook"/>
              </a:rPr>
              <a:t> can be computed as just A minus Y because it's going to be equal to a</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 – y</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 </a:t>
            </a:r>
            <a:r>
              <a:rPr lang="en-US" sz="2400" dirty="0">
                <a:solidFill>
                  <a:schemeClr val="dk1"/>
                </a:solidFill>
                <a:ea typeface="Century Schoolbook"/>
                <a:cs typeface="Century Schoolbook"/>
                <a:sym typeface="Century Schoolbook"/>
              </a:rPr>
              <a:t>a</a:t>
            </a:r>
            <a:r>
              <a:rPr lang="en-US" sz="2400" baseline="30000" dirty="0">
                <a:solidFill>
                  <a:schemeClr val="dk1"/>
                </a:solidFill>
                <a:ea typeface="Century Schoolbook"/>
                <a:cs typeface="Century Schoolbook"/>
                <a:sym typeface="Century Schoolbook"/>
              </a:rPr>
              <a:t>(2)</a:t>
            </a:r>
            <a:r>
              <a:rPr lang="en-US" sz="2400" dirty="0">
                <a:solidFill>
                  <a:schemeClr val="dk1"/>
                </a:solidFill>
                <a:ea typeface="Century Schoolbook"/>
                <a:cs typeface="Century Schoolbook"/>
                <a:sym typeface="Century Schoolbook"/>
              </a:rPr>
              <a:t> – y</a:t>
            </a:r>
            <a:r>
              <a:rPr lang="en-US" sz="2400" baseline="30000" dirty="0">
                <a:solidFill>
                  <a:schemeClr val="dk1"/>
                </a:solidFill>
                <a:ea typeface="Century Schoolbook"/>
                <a:cs typeface="Century Schoolbook"/>
                <a:sym typeface="Century Schoolbook"/>
              </a:rPr>
              <a:t>(2)</a:t>
            </a:r>
            <a:r>
              <a:rPr lang="en-US" sz="2400" dirty="0">
                <a:solidFill>
                  <a:schemeClr val="dk1"/>
                </a:solidFill>
                <a:latin typeface="+mn-lt"/>
                <a:ea typeface="Century Schoolbook"/>
                <a:cs typeface="Century Schoolbook"/>
                <a:sym typeface="Century Schoolbook"/>
              </a:rPr>
              <a:t>, and so on.</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So, with just one line of code , you can compute all of this at the same time. By a simple matrix subtraction as shown below.</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extLst>
      <p:ext uri="{BB962C8B-B14F-4D97-AF65-F5344CB8AC3E}">
        <p14:creationId xmlns:p14="http://schemas.microsoft.com/office/powerpoint/2010/main" val="41962718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entury Schoolbook"/>
                <a:cs typeface="Century Schoolbook"/>
                <a:sym typeface="Century Schoolbook"/>
              </a:rPr>
              <a:t>Vectorizing</a:t>
            </a:r>
            <a:r>
              <a:rPr lang="en-US" sz="4400" dirty="0">
                <a:latin typeface="+mj-lt"/>
                <a:ea typeface="Century Schoolbook"/>
                <a:cs typeface="Century Schoolbook"/>
                <a:sym typeface="Century Schoolbook"/>
              </a:rPr>
              <a:t> Logistic Regression</a:t>
            </a: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 name="Google Shape;316;p36"/>
          <p:cNvSpPr txBox="1"/>
          <p:nvPr/>
        </p:nvSpPr>
        <p:spPr>
          <a:xfrm>
            <a:off x="342900" y="1245233"/>
            <a:ext cx="11614637" cy="1135873"/>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To compute </a:t>
            </a:r>
            <a:r>
              <a:rPr lang="en-US" sz="2400" dirty="0" err="1">
                <a:solidFill>
                  <a:schemeClr val="dk1"/>
                </a:solidFill>
                <a:latin typeface="+mn-lt"/>
                <a:ea typeface="Century Schoolbook"/>
                <a:cs typeface="Century Schoolbook"/>
                <a:sym typeface="Century Schoolbook"/>
              </a:rPr>
              <a:t>dw</a:t>
            </a:r>
            <a:r>
              <a:rPr lang="en-US" sz="2400" dirty="0">
                <a:solidFill>
                  <a:schemeClr val="dk1"/>
                </a:solidFill>
                <a:latin typeface="+mn-lt"/>
                <a:ea typeface="Century Schoolbook"/>
                <a:cs typeface="Century Schoolbook"/>
                <a:sym typeface="Century Schoolbook"/>
              </a:rPr>
              <a:t> , we initialize </a:t>
            </a:r>
            <a:r>
              <a:rPr lang="en-US" sz="2400" dirty="0" err="1">
                <a:solidFill>
                  <a:schemeClr val="dk1"/>
                </a:solidFill>
                <a:latin typeface="+mn-lt"/>
                <a:ea typeface="Century Schoolbook"/>
                <a:cs typeface="Century Schoolbook"/>
                <a:sym typeface="Century Schoolbook"/>
              </a:rPr>
              <a:t>dw</a:t>
            </a:r>
            <a:r>
              <a:rPr lang="en-US" sz="2400" dirty="0">
                <a:solidFill>
                  <a:schemeClr val="dk1"/>
                </a:solidFill>
                <a:latin typeface="+mn-lt"/>
                <a:ea typeface="Century Schoolbook"/>
                <a:cs typeface="Century Schoolbook"/>
                <a:sym typeface="Century Schoolbook"/>
              </a:rPr>
              <a:t> to zero to a vector of zeroes. Then we still have to loop over examples where we have </a:t>
            </a:r>
            <a:r>
              <a:rPr lang="en-US" sz="2400" dirty="0" err="1">
                <a:solidFill>
                  <a:schemeClr val="dk1"/>
                </a:solidFill>
                <a:latin typeface="+mn-lt"/>
                <a:ea typeface="Century Schoolbook"/>
                <a:cs typeface="Century Schoolbook"/>
                <a:sym typeface="Century Schoolbook"/>
              </a:rPr>
              <a:t>dw</a:t>
            </a:r>
            <a:r>
              <a:rPr lang="en-US" sz="2400" dirty="0">
                <a:solidFill>
                  <a:schemeClr val="dk1"/>
                </a:solidFill>
                <a:latin typeface="+mn-lt"/>
                <a:ea typeface="Century Schoolbook"/>
                <a:cs typeface="Century Schoolbook"/>
                <a:sym typeface="Century Schoolbook"/>
              </a:rPr>
              <a:t> + = x</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 * </a:t>
            </a:r>
            <a:r>
              <a:rPr lang="en-US" sz="2400" dirty="0" err="1">
                <a:solidFill>
                  <a:schemeClr val="dk1"/>
                </a:solidFill>
                <a:latin typeface="+mn-lt"/>
                <a:ea typeface="Century Schoolbook"/>
                <a:cs typeface="Century Schoolbook"/>
                <a:sym typeface="Century Schoolbook"/>
              </a:rPr>
              <a:t>dz</a:t>
            </a:r>
            <a:r>
              <a:rPr lang="en-US" sz="2400" baseline="30000" dirty="0">
                <a:solidFill>
                  <a:schemeClr val="dk1"/>
                </a:solidFill>
                <a:latin typeface="+mn-lt"/>
                <a:ea typeface="Century Schoolbook"/>
                <a:cs typeface="Century Schoolbook"/>
                <a:sym typeface="Century Schoolbook"/>
              </a:rPr>
              <a:t>(1)</a:t>
            </a:r>
            <a:r>
              <a:rPr lang="en-US" sz="2400" dirty="0">
                <a:solidFill>
                  <a:schemeClr val="dk1"/>
                </a:solidFill>
                <a:latin typeface="+mn-lt"/>
                <a:ea typeface="Century Schoolbook"/>
                <a:cs typeface="Century Schoolbook"/>
                <a:sym typeface="Century Schoolbook"/>
              </a:rPr>
              <a:t>, for the first training example and so on.</a:t>
            </a:r>
          </a:p>
        </p:txBody>
      </p:sp>
      <p:pic>
        <p:nvPicPr>
          <p:cNvPr id="4098" name="Picture 2" descr="logistic-regression-non-vector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657" y="2636081"/>
            <a:ext cx="10644949" cy="334268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extLst>
      <p:ext uri="{BB962C8B-B14F-4D97-AF65-F5344CB8AC3E}">
        <p14:creationId xmlns:p14="http://schemas.microsoft.com/office/powerpoint/2010/main" val="6717087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entury Schoolbook"/>
                <a:cs typeface="Century Schoolbook"/>
                <a:sym typeface="Century Schoolbook"/>
              </a:rPr>
              <a:t>Vectorizing</a:t>
            </a:r>
            <a:r>
              <a:rPr lang="en-US" sz="4400" dirty="0">
                <a:latin typeface="+mj-lt"/>
                <a:ea typeface="Century Schoolbook"/>
                <a:cs typeface="Century Schoolbook"/>
                <a:sym typeface="Century Schoolbook"/>
              </a:rPr>
              <a:t> Logistic Regression</a:t>
            </a: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 name="Google Shape;316;p36"/>
          <p:cNvSpPr txBox="1"/>
          <p:nvPr/>
        </p:nvSpPr>
        <p:spPr>
          <a:xfrm>
            <a:off x="342900" y="1245233"/>
            <a:ext cx="11614637" cy="5656341"/>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Similarly for the </a:t>
            </a:r>
            <a:r>
              <a:rPr lang="en-US" sz="2400" dirty="0" err="1">
                <a:solidFill>
                  <a:schemeClr val="dk1"/>
                </a:solidFill>
                <a:latin typeface="+mn-lt"/>
                <a:ea typeface="Century Schoolbook"/>
                <a:cs typeface="Century Schoolbook"/>
                <a:sym typeface="Century Schoolbook"/>
              </a:rPr>
              <a:t>vectorize</a:t>
            </a:r>
            <a:r>
              <a:rPr lang="en-US" sz="2400" dirty="0">
                <a:solidFill>
                  <a:schemeClr val="dk1"/>
                </a:solidFill>
                <a:latin typeface="+mn-lt"/>
                <a:ea typeface="Century Schoolbook"/>
                <a:cs typeface="Century Schoolbook"/>
                <a:sym typeface="Century Schoolbook"/>
              </a:rPr>
              <a:t> implementation of </a:t>
            </a:r>
            <a:r>
              <a:rPr lang="en-US" sz="2400" dirty="0" err="1">
                <a:solidFill>
                  <a:schemeClr val="dk1"/>
                </a:solidFill>
                <a:latin typeface="+mn-lt"/>
                <a:ea typeface="Century Schoolbook"/>
                <a:cs typeface="Century Schoolbook"/>
                <a:sym typeface="Century Schoolbook"/>
              </a:rPr>
              <a:t>db</a:t>
            </a:r>
            <a:r>
              <a:rPr lang="en-US" sz="2400" dirty="0">
                <a:solidFill>
                  <a:schemeClr val="dk1"/>
                </a:solidFill>
                <a:latin typeface="+mn-lt"/>
                <a:ea typeface="Century Schoolbook"/>
                <a:cs typeface="Century Schoolbook"/>
                <a:sym typeface="Century Schoolbook"/>
              </a:rPr>
              <a:t> was doing is basically summing up, all of these </a:t>
            </a:r>
            <a:r>
              <a:rPr lang="en-US" sz="2400" dirty="0" err="1">
                <a:solidFill>
                  <a:schemeClr val="dk1"/>
                </a:solidFill>
                <a:latin typeface="+mn-lt"/>
                <a:ea typeface="Century Schoolbook"/>
                <a:cs typeface="Century Schoolbook"/>
                <a:sym typeface="Century Schoolbook"/>
              </a:rPr>
              <a:t>dzs</a:t>
            </a:r>
            <a:r>
              <a:rPr lang="en-US" sz="2400" dirty="0">
                <a:solidFill>
                  <a:schemeClr val="dk1"/>
                </a:solidFill>
                <a:latin typeface="+mn-lt"/>
                <a:ea typeface="Century Schoolbook"/>
                <a:cs typeface="Century Schoolbook"/>
                <a:sym typeface="Century Schoolbook"/>
              </a:rPr>
              <a:t> and then dividing by m. This can be done using just one line in python as: </a:t>
            </a:r>
            <a:r>
              <a:rPr lang="en-US" sz="2400" b="1" dirty="0" err="1">
                <a:solidFill>
                  <a:schemeClr val="dk1"/>
                </a:solidFill>
                <a:latin typeface="+mn-lt"/>
                <a:ea typeface="Century Schoolbook"/>
                <a:cs typeface="Century Schoolbook"/>
                <a:sym typeface="Century Schoolbook"/>
              </a:rPr>
              <a:t>db</a:t>
            </a:r>
            <a:r>
              <a:rPr lang="en-US" sz="2400" b="1" dirty="0">
                <a:solidFill>
                  <a:schemeClr val="dk1"/>
                </a:solidFill>
                <a:latin typeface="+mn-lt"/>
                <a:ea typeface="Century Schoolbook"/>
                <a:cs typeface="Century Schoolbook"/>
                <a:sym typeface="Century Schoolbook"/>
              </a:rPr>
              <a:t> = 1/m * </a:t>
            </a:r>
            <a:r>
              <a:rPr lang="en-US" sz="2400" b="1" dirty="0" err="1">
                <a:solidFill>
                  <a:schemeClr val="dk1"/>
                </a:solidFill>
                <a:latin typeface="+mn-lt"/>
                <a:ea typeface="Century Schoolbook"/>
                <a:cs typeface="Century Schoolbook"/>
                <a:sym typeface="Century Schoolbook"/>
              </a:rPr>
              <a:t>np.sum</a:t>
            </a:r>
            <a:r>
              <a:rPr lang="en-US" sz="2400" b="1" dirty="0">
                <a:solidFill>
                  <a:schemeClr val="dk1"/>
                </a:solidFill>
                <a:latin typeface="+mn-lt"/>
                <a:ea typeface="Century Schoolbook"/>
                <a:cs typeface="Century Schoolbook"/>
                <a:sym typeface="Century Schoolbook"/>
              </a:rPr>
              <a:t>(</a:t>
            </a:r>
            <a:r>
              <a:rPr lang="en-US" sz="2400" b="1" dirty="0" err="1">
                <a:solidFill>
                  <a:schemeClr val="dk1"/>
                </a:solidFill>
                <a:latin typeface="+mn-lt"/>
                <a:ea typeface="Century Schoolbook"/>
                <a:cs typeface="Century Schoolbook"/>
                <a:sym typeface="Century Schoolbook"/>
              </a:rPr>
              <a:t>dz</a:t>
            </a:r>
            <a:r>
              <a:rPr lang="en-US" sz="2400" b="1" dirty="0">
                <a:solidFill>
                  <a:schemeClr val="dk1"/>
                </a:solidFill>
                <a:latin typeface="+mn-lt"/>
                <a:ea typeface="Century Schoolbook"/>
                <a:cs typeface="Century Schoolbook"/>
                <a:sym typeface="Century Schoolbook"/>
              </a:rPr>
              <a:t>)</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And so the gradient descent update then would be you know W gets updated as w minus the learning rate times </a:t>
            </a:r>
            <a:r>
              <a:rPr lang="en-US" sz="2400" dirty="0" err="1">
                <a:solidFill>
                  <a:schemeClr val="dk1"/>
                </a:solidFill>
                <a:latin typeface="+mn-lt"/>
                <a:ea typeface="Century Schoolbook"/>
                <a:cs typeface="Century Schoolbook"/>
                <a:sym typeface="Century Schoolbook"/>
              </a:rPr>
              <a:t>dw</a:t>
            </a:r>
            <a:r>
              <a:rPr lang="en-US" sz="2400" dirty="0">
                <a:solidFill>
                  <a:schemeClr val="dk1"/>
                </a:solidFill>
                <a:latin typeface="+mn-lt"/>
                <a:ea typeface="Century Schoolbook"/>
                <a:cs typeface="Century Schoolbook"/>
                <a:sym typeface="Century Schoolbook"/>
              </a:rPr>
              <a:t> which was just computed above and B is update as B minus the learning rate times db.</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We should get rid of explicit full loops whenever you can but if you want to implement multiple adjuration as a gradient descent then you still need a full loop over the number of iterations. So, if you want to have a thousand deliberations of gradient descent, you might still need a full loop over the iteration number.</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There is an outermost full loop like that then I don't think there is any way to get rid of that full loop.</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A technique in python which makes our code easy for implementation is called broadcasting.</a:t>
            </a:r>
          </a:p>
          <a:p>
            <a:pPr marL="355600" marR="5080" lvl="0" indent="-342900">
              <a:lnSpc>
                <a:spcPct val="101800"/>
              </a:lnSpc>
              <a:buSzPts val="2400"/>
              <a:buFont typeface="Arial" panose="020B0604020202020204" pitchFamily="34" charset="0"/>
              <a:buChar char="•"/>
            </a:pPr>
            <a:endParaRPr lang="en-US" sz="2400" dirty="0">
              <a:solidFill>
                <a:schemeClr val="dk1"/>
              </a:solidFill>
              <a:latin typeface="+mn-lt"/>
              <a:ea typeface="Century Schoolbook"/>
              <a:cs typeface="Century Schoolbook"/>
              <a:sym typeface="Century Schoolboo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extLst>
      <p:ext uri="{BB962C8B-B14F-4D97-AF65-F5344CB8AC3E}">
        <p14:creationId xmlns:p14="http://schemas.microsoft.com/office/powerpoint/2010/main" val="546433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365"/>
        <p:cNvGrpSpPr/>
        <p:nvPr/>
      </p:nvGrpSpPr>
      <p:grpSpPr>
        <a:xfrm>
          <a:off x="0" y="0"/>
          <a:ext cx="0" cy="0"/>
          <a:chOff x="0" y="0"/>
          <a:chExt cx="0" cy="0"/>
        </a:xfrm>
      </p:grpSpPr>
      <p:sp>
        <p:nvSpPr>
          <p:cNvPr id="366" name="Google Shape;366;p43"/>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7" name="Google Shape;367;p43"/>
          <p:cNvSpPr txBox="1">
            <a:spLocks noGrp="1"/>
          </p:cNvSpPr>
          <p:nvPr>
            <p:ph type="body" idx="1"/>
          </p:nvPr>
        </p:nvSpPr>
        <p:spPr>
          <a:xfrm>
            <a:off x="458279" y="1121824"/>
            <a:ext cx="11464432" cy="1887643"/>
          </a:xfrm>
          <a:prstGeom prst="rect">
            <a:avLst/>
          </a:prstGeom>
          <a:noFill/>
          <a:ln>
            <a:noFill/>
          </a:ln>
        </p:spPr>
        <p:txBody>
          <a:bodyPr spcFirstLastPara="1" wrap="square" lIns="0" tIns="12700" rIns="0" bIns="0" anchor="t" anchorCtr="0">
            <a:spAutoFit/>
          </a:bodyPr>
          <a:lstStyle/>
          <a:p>
            <a:pPr marL="4348480" marR="5080" lvl="0" indent="1032510" algn="l" rtl="0">
              <a:lnSpc>
                <a:spcPct val="100000"/>
              </a:lnSpc>
              <a:spcBef>
                <a:spcPts val="0"/>
              </a:spcBef>
              <a:spcAft>
                <a:spcPts val="0"/>
              </a:spcAft>
              <a:buSzPts val="1400"/>
              <a:buNone/>
            </a:pPr>
            <a:r>
              <a:rPr lang="en-US"/>
              <a:t>Basics of Neural  Network Programming</a:t>
            </a:r>
            <a:endParaRPr/>
          </a:p>
        </p:txBody>
      </p:sp>
      <p:sp>
        <p:nvSpPr>
          <p:cNvPr id="368" name="Google Shape;368;p43"/>
          <p:cNvSpPr txBox="1"/>
          <p:nvPr/>
        </p:nvSpPr>
        <p:spPr>
          <a:xfrm>
            <a:off x="4544009" y="3831166"/>
            <a:ext cx="7442200" cy="1904997"/>
          </a:xfrm>
          <a:prstGeom prst="rect">
            <a:avLst/>
          </a:prstGeom>
          <a:noFill/>
          <a:ln>
            <a:noFill/>
          </a:ln>
        </p:spPr>
        <p:txBody>
          <a:bodyPr spcFirstLastPara="1" wrap="square" lIns="0" tIns="12700" rIns="0" bIns="0" anchor="t" anchorCtr="0">
            <a:spAutoFit/>
          </a:bodyPr>
          <a:lstStyle/>
          <a:p>
            <a:pPr marL="1281430" marR="5080" lvl="0" indent="-1269365" algn="ctr" rtl="0">
              <a:lnSpc>
                <a:spcPct val="100000"/>
              </a:lnSpc>
              <a:spcBef>
                <a:spcPts val="0"/>
              </a:spcBef>
              <a:spcAft>
                <a:spcPts val="0"/>
              </a:spcAft>
              <a:buClr>
                <a:srgbClr val="000000"/>
              </a:buClr>
              <a:buSzPts val="6000"/>
              <a:buFont typeface="Arial"/>
              <a:buNone/>
            </a:pPr>
            <a:r>
              <a:rPr lang="en-US" sz="6000" b="0" i="0" u="none" strike="noStrike" cap="none" dirty="0">
                <a:solidFill>
                  <a:schemeClr val="dk1"/>
                </a:solidFill>
                <a:latin typeface="+mj-lt"/>
                <a:ea typeface="Calibri"/>
                <a:cs typeface="Calibri"/>
                <a:sym typeface="Calibri"/>
              </a:rPr>
              <a:t>Broadcasting in  Python</a:t>
            </a:r>
            <a:endParaRPr sz="6000" b="0" i="0" u="none" strike="noStrike" cap="none" dirty="0">
              <a:solidFill>
                <a:schemeClr val="dk1"/>
              </a:solidFill>
              <a:latin typeface="+mj-lt"/>
              <a:ea typeface="Calibri"/>
              <a:cs typeface="Calibri"/>
              <a:sym typeface="Calibri"/>
            </a:endParaRPr>
          </a:p>
        </p:txBody>
      </p:sp>
      <p:pic>
        <p:nvPicPr>
          <p:cNvPr id="369" name="Google Shape;369;p43"/>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Broadcasting in  Python</a:t>
            </a: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 name="Google Shape;316;p36"/>
          <p:cNvSpPr txBox="1"/>
          <p:nvPr/>
        </p:nvSpPr>
        <p:spPr>
          <a:xfrm>
            <a:off x="342900" y="1245233"/>
            <a:ext cx="11614637" cy="4149519"/>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Broadcasting in Python is a technique that allows you to perform mathematical operations between arrays or matrices of different sizes without explicitly iterating over them using a for-loop. </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 principle of broadcasting is that when you perform an operation between arrays or matrices of different sizes, </a:t>
            </a:r>
            <a:r>
              <a:rPr lang="en-US" sz="2400" dirty="0" err="1">
                <a:solidFill>
                  <a:schemeClr val="dk1"/>
                </a:solidFill>
                <a:latin typeface="+mn-lt"/>
                <a:ea typeface="Century Schoolbook"/>
                <a:cs typeface="Century Schoolbook"/>
                <a:sym typeface="Century Schoolbook"/>
              </a:rPr>
              <a:t>NumPy</a:t>
            </a:r>
            <a:r>
              <a:rPr lang="en-US" sz="2400" dirty="0">
                <a:solidFill>
                  <a:schemeClr val="dk1"/>
                </a:solidFill>
                <a:latin typeface="+mn-lt"/>
                <a:ea typeface="Century Schoolbook"/>
                <a:cs typeface="Century Schoolbook"/>
                <a:sym typeface="Century Schoolbook"/>
              </a:rPr>
              <a:t> will automatically copy the smaller array or matrix to match the size of the larger one, and then perform the operation element-wise.</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In the example in the next slide, a three by four matrix representing the number of calories from carbohydrates, proteins, and fats in 100 grams of four different foods was used. The goal was to calculate the percentage of calories from carbs, proteins, and fats for each of the four foods. </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extLst>
      <p:ext uri="{BB962C8B-B14F-4D97-AF65-F5344CB8AC3E}">
        <p14:creationId xmlns:p14="http://schemas.microsoft.com/office/powerpoint/2010/main" val="964309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373"/>
        <p:cNvGrpSpPr/>
        <p:nvPr/>
      </p:nvGrpSpPr>
      <p:grpSpPr>
        <a:xfrm>
          <a:off x="0" y="0"/>
          <a:ext cx="0" cy="0"/>
          <a:chOff x="0" y="0"/>
          <a:chExt cx="0" cy="0"/>
        </a:xfrm>
      </p:grpSpPr>
      <p:sp>
        <p:nvSpPr>
          <p:cNvPr id="374" name="Google Shape;374;p44"/>
          <p:cNvSpPr txBox="1">
            <a:spLocks noGrp="1"/>
          </p:cNvSpPr>
          <p:nvPr>
            <p:ph type="title"/>
          </p:nvPr>
        </p:nvSpPr>
        <p:spPr>
          <a:xfrm>
            <a:off x="114838" y="63496"/>
            <a:ext cx="57594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Broadcasting example</a:t>
            </a:r>
            <a:endParaRPr sz="4400" dirty="0">
              <a:latin typeface="+mj-lt"/>
              <a:ea typeface="Century Schoolbook"/>
              <a:cs typeface="Century Schoolbook"/>
              <a:sym typeface="Century Schoolbook"/>
            </a:endParaRPr>
          </a:p>
        </p:txBody>
      </p:sp>
      <p:sp>
        <p:nvSpPr>
          <p:cNvPr id="375" name="Google Shape;375;p44"/>
          <p:cNvSpPr txBox="1"/>
          <p:nvPr/>
        </p:nvSpPr>
        <p:spPr>
          <a:xfrm>
            <a:off x="496413" y="4122226"/>
            <a:ext cx="7896225" cy="875665"/>
          </a:xfrm>
          <a:prstGeom prst="rect">
            <a:avLst/>
          </a:prstGeom>
          <a:noFill/>
          <a:ln>
            <a:noFill/>
          </a:ln>
        </p:spPr>
        <p:txBody>
          <a:bodyPr spcFirstLastPara="1" wrap="square" lIns="0" tIns="12700" rIns="0" bIns="0" anchor="t" anchorCtr="0">
            <a:spAutoFit/>
          </a:bodyPr>
          <a:lstStyle/>
          <a:p>
            <a:pPr marL="12700" marR="0" lvl="0" indent="0" algn="l" rtl="0">
              <a:lnSpc>
                <a:spcPct val="119464"/>
              </a:lnSpc>
              <a:spcBef>
                <a:spcPts val="0"/>
              </a:spcBef>
              <a:spcAft>
                <a:spcPts val="0"/>
              </a:spcAft>
              <a:buClr>
                <a:srgbClr val="000000"/>
              </a:buClr>
              <a:buSzPts val="2800"/>
              <a:buFont typeface="Arial"/>
              <a:buNone/>
            </a:pPr>
            <a:r>
              <a:rPr lang="en-US" sz="2800" b="0" i="0" u="none" strike="noStrike" cap="none" dirty="0" err="1">
                <a:solidFill>
                  <a:srgbClr val="0070C0"/>
                </a:solidFill>
                <a:latin typeface="Courier New"/>
                <a:ea typeface="Courier New"/>
                <a:cs typeface="Courier New"/>
                <a:sym typeface="Courier New"/>
              </a:rPr>
              <a:t>cal</a:t>
            </a:r>
            <a:r>
              <a:rPr lang="en-US" sz="2800" b="0" i="0" u="none" strike="noStrike" cap="none" dirty="0">
                <a:solidFill>
                  <a:srgbClr val="0070C0"/>
                </a:solidFill>
                <a:latin typeface="Courier New"/>
                <a:ea typeface="Courier New"/>
                <a:cs typeface="Courier New"/>
                <a:sym typeface="Courier New"/>
              </a:rPr>
              <a:t> = </a:t>
            </a:r>
            <a:r>
              <a:rPr lang="en-US" sz="2800" b="0" i="0" u="none" strike="noStrike" cap="none" dirty="0" err="1">
                <a:solidFill>
                  <a:srgbClr val="0070C0"/>
                </a:solidFill>
                <a:latin typeface="Courier New"/>
                <a:ea typeface="Courier New"/>
                <a:cs typeface="Courier New"/>
                <a:sym typeface="Courier New"/>
              </a:rPr>
              <a:t>A.sum</a:t>
            </a:r>
            <a:r>
              <a:rPr lang="en-US" sz="2800" b="0" i="0" u="none" strike="noStrike" cap="none" dirty="0">
                <a:solidFill>
                  <a:srgbClr val="0070C0"/>
                </a:solidFill>
                <a:latin typeface="Courier New"/>
                <a:ea typeface="Courier New"/>
                <a:cs typeface="Courier New"/>
                <a:sym typeface="Courier New"/>
              </a:rPr>
              <a:t>(axis = 0)</a:t>
            </a:r>
            <a:endParaRPr sz="2800" b="0" i="0" u="none" strike="noStrike" cap="none" dirty="0">
              <a:solidFill>
                <a:schemeClr val="dk1"/>
              </a:solidFill>
              <a:latin typeface="Courier New"/>
              <a:ea typeface="Courier New"/>
              <a:cs typeface="Courier New"/>
              <a:sym typeface="Courier New"/>
            </a:endParaRPr>
          </a:p>
          <a:p>
            <a:pPr marL="12700" marR="0" lvl="0" indent="0" algn="l" rtl="0">
              <a:lnSpc>
                <a:spcPct val="119464"/>
              </a:lnSpc>
              <a:spcBef>
                <a:spcPts val="0"/>
              </a:spcBef>
              <a:spcAft>
                <a:spcPts val="0"/>
              </a:spcAft>
              <a:buClr>
                <a:srgbClr val="000000"/>
              </a:buClr>
              <a:buSzPts val="2800"/>
              <a:buFont typeface="Arial"/>
              <a:buNone/>
            </a:pPr>
            <a:r>
              <a:rPr lang="en-US" sz="2800" b="0" i="0" u="none" strike="noStrike" cap="none" dirty="0">
                <a:solidFill>
                  <a:srgbClr val="0070C0"/>
                </a:solidFill>
                <a:latin typeface="Courier New"/>
                <a:ea typeface="Courier New"/>
                <a:cs typeface="Courier New"/>
                <a:sym typeface="Courier New"/>
              </a:rPr>
              <a:t>percentage = 100*A/(</a:t>
            </a:r>
            <a:r>
              <a:rPr lang="en-US" sz="2800" b="0" i="0" u="none" strike="noStrike" cap="none" dirty="0" err="1">
                <a:solidFill>
                  <a:srgbClr val="0070C0"/>
                </a:solidFill>
                <a:latin typeface="Courier New"/>
                <a:ea typeface="Courier New"/>
                <a:cs typeface="Courier New"/>
                <a:sym typeface="Courier New"/>
              </a:rPr>
              <a:t>cal.reshape</a:t>
            </a:r>
            <a:r>
              <a:rPr lang="en-US" sz="2800" b="0" i="0" u="none" strike="noStrike" cap="none" dirty="0">
                <a:solidFill>
                  <a:srgbClr val="0070C0"/>
                </a:solidFill>
                <a:latin typeface="Courier New"/>
                <a:ea typeface="Courier New"/>
                <a:cs typeface="Courier New"/>
                <a:sym typeface="Courier New"/>
              </a:rPr>
              <a:t>(1,4))</a:t>
            </a:r>
            <a:endParaRPr sz="2800" b="0" i="0" u="none" strike="noStrike" cap="none" dirty="0">
              <a:solidFill>
                <a:schemeClr val="dk1"/>
              </a:solidFill>
              <a:latin typeface="Courier New"/>
              <a:ea typeface="Courier New"/>
              <a:cs typeface="Courier New"/>
              <a:sym typeface="Courier New"/>
            </a:endParaRPr>
          </a:p>
        </p:txBody>
      </p:sp>
      <p:sp>
        <p:nvSpPr>
          <p:cNvPr id="376" name="Google Shape;376;p44"/>
          <p:cNvSpPr txBox="1"/>
          <p:nvPr/>
        </p:nvSpPr>
        <p:spPr>
          <a:xfrm>
            <a:off x="1950110" y="1799166"/>
            <a:ext cx="98425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entury Schoolbook"/>
                <a:ea typeface="Century Schoolbook"/>
                <a:cs typeface="Century Schoolbook"/>
                <a:sym typeface="Century Schoolbook"/>
              </a:rPr>
              <a:t>Apples</a:t>
            </a:r>
            <a:endParaRPr sz="2400" b="0" i="0" u="none" strike="noStrike" cap="none">
              <a:solidFill>
                <a:schemeClr val="dk1"/>
              </a:solidFill>
              <a:latin typeface="Century Schoolbook"/>
              <a:ea typeface="Century Schoolbook"/>
              <a:cs typeface="Century Schoolbook"/>
              <a:sym typeface="Century Schoolbook"/>
            </a:endParaRPr>
          </a:p>
        </p:txBody>
      </p:sp>
      <p:sp>
        <p:nvSpPr>
          <p:cNvPr id="377" name="Google Shape;377;p44"/>
          <p:cNvSpPr txBox="1"/>
          <p:nvPr/>
        </p:nvSpPr>
        <p:spPr>
          <a:xfrm>
            <a:off x="5423344" y="1842315"/>
            <a:ext cx="123507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entury Schoolbook"/>
                <a:ea typeface="Century Schoolbook"/>
                <a:cs typeface="Century Schoolbook"/>
                <a:sym typeface="Century Schoolbook"/>
              </a:rPr>
              <a:t>Potatoes</a:t>
            </a:r>
            <a:endParaRPr sz="2400" b="0" i="0" u="none" strike="noStrike" cap="none">
              <a:solidFill>
                <a:schemeClr val="dk1"/>
              </a:solidFill>
              <a:latin typeface="Century Schoolbook"/>
              <a:ea typeface="Century Schoolbook"/>
              <a:cs typeface="Century Schoolbook"/>
              <a:sym typeface="Century Schoolbook"/>
            </a:endParaRPr>
          </a:p>
        </p:txBody>
      </p:sp>
      <p:sp>
        <p:nvSpPr>
          <p:cNvPr id="378" name="Google Shape;378;p44"/>
          <p:cNvSpPr/>
          <p:nvPr/>
        </p:nvSpPr>
        <p:spPr>
          <a:xfrm>
            <a:off x="6524574" y="2322855"/>
            <a:ext cx="107950" cy="1205230"/>
          </a:xfrm>
          <a:custGeom>
            <a:avLst/>
            <a:gdLst/>
            <a:ahLst/>
            <a:cxnLst/>
            <a:rect l="l" t="t" r="r" b="b"/>
            <a:pathLst>
              <a:path w="107950" h="1205229" extrusionOk="0">
                <a:moveTo>
                  <a:pt x="107950" y="0"/>
                </a:moveTo>
                <a:lnTo>
                  <a:pt x="0" y="0"/>
                </a:lnTo>
                <a:lnTo>
                  <a:pt x="0" y="19050"/>
                </a:lnTo>
                <a:lnTo>
                  <a:pt x="67081" y="19050"/>
                </a:lnTo>
                <a:lnTo>
                  <a:pt x="67081" y="1186180"/>
                </a:lnTo>
                <a:lnTo>
                  <a:pt x="0" y="1186180"/>
                </a:lnTo>
                <a:lnTo>
                  <a:pt x="0" y="1205230"/>
                </a:lnTo>
                <a:lnTo>
                  <a:pt x="107950" y="1205230"/>
                </a:lnTo>
                <a:lnTo>
                  <a:pt x="107950" y="1186180"/>
                </a:lnTo>
                <a:lnTo>
                  <a:pt x="107950" y="19050"/>
                </a:lnTo>
                <a:lnTo>
                  <a:pt x="10795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9" name="Google Shape;379;p44"/>
          <p:cNvSpPr/>
          <p:nvPr/>
        </p:nvSpPr>
        <p:spPr>
          <a:xfrm>
            <a:off x="1966480" y="2322855"/>
            <a:ext cx="107950" cy="1186180"/>
          </a:xfrm>
          <a:custGeom>
            <a:avLst/>
            <a:gdLst/>
            <a:ahLst/>
            <a:cxnLst/>
            <a:rect l="l" t="t" r="r" b="b"/>
            <a:pathLst>
              <a:path w="107950" h="1186179" extrusionOk="0">
                <a:moveTo>
                  <a:pt x="107950" y="0"/>
                </a:moveTo>
                <a:lnTo>
                  <a:pt x="0" y="0"/>
                </a:lnTo>
                <a:lnTo>
                  <a:pt x="0" y="19050"/>
                </a:lnTo>
                <a:lnTo>
                  <a:pt x="0" y="1186180"/>
                </a:lnTo>
                <a:lnTo>
                  <a:pt x="40881" y="1186180"/>
                </a:lnTo>
                <a:lnTo>
                  <a:pt x="40881" y="19050"/>
                </a:lnTo>
                <a:lnTo>
                  <a:pt x="107950" y="19050"/>
                </a:lnTo>
                <a:lnTo>
                  <a:pt x="10795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0" name="Google Shape;380;p44"/>
          <p:cNvSpPr txBox="1"/>
          <p:nvPr/>
        </p:nvSpPr>
        <p:spPr>
          <a:xfrm>
            <a:off x="2070691" y="2155904"/>
            <a:ext cx="984250" cy="1029769"/>
          </a:xfrm>
          <a:prstGeom prst="rect">
            <a:avLst/>
          </a:prstGeom>
          <a:noFill/>
          <a:ln>
            <a:noFill/>
          </a:ln>
        </p:spPr>
        <p:txBody>
          <a:bodyPr spcFirstLastPara="1" wrap="square" lIns="0" tIns="12700" rIns="0" bIns="0" anchor="t" anchorCtr="0">
            <a:spAutoFit/>
          </a:bodyPr>
          <a:lstStyle/>
          <a:p>
            <a:pPr marL="12700" marR="0" lvl="0" indent="0" algn="l" rtl="0">
              <a:lnSpc>
                <a:spcPct val="118281"/>
              </a:lnSpc>
              <a:spcBef>
                <a:spcPts val="0"/>
              </a:spcBef>
              <a:spcAft>
                <a:spcPts val="0"/>
              </a:spcAft>
              <a:buClr>
                <a:srgbClr val="000000"/>
              </a:buClr>
              <a:buSzPts val="2800"/>
              <a:buFont typeface="Arial"/>
              <a:buNone/>
            </a:pPr>
            <a:r>
              <a:rPr lang="en-US" sz="2800" b="0" i="0" u="none" strike="noStrike" cap="none">
                <a:solidFill>
                  <a:schemeClr val="dk1"/>
                </a:solidFill>
                <a:latin typeface="Cambria Math"/>
                <a:ea typeface="Cambria Math"/>
                <a:cs typeface="Cambria Math"/>
                <a:sym typeface="Cambria Math"/>
              </a:rPr>
              <a:t>56.0</a:t>
            </a:r>
            <a:endParaRPr sz="2800" b="0" i="0" u="none" strike="noStrike" cap="none">
              <a:solidFill>
                <a:schemeClr val="dk1"/>
              </a:solidFill>
              <a:latin typeface="Cambria Math"/>
              <a:ea typeface="Cambria Math"/>
              <a:cs typeface="Cambria Math"/>
              <a:sym typeface="Cambria Math"/>
            </a:endParaRPr>
          </a:p>
          <a:p>
            <a:pPr marL="125095" marR="0" lvl="0" indent="0" algn="l" rtl="0">
              <a:lnSpc>
                <a:spcPct val="118281"/>
              </a:lnSpc>
              <a:spcBef>
                <a:spcPts val="0"/>
              </a:spcBef>
              <a:spcAft>
                <a:spcPts val="0"/>
              </a:spcAft>
              <a:buClr>
                <a:srgbClr val="000000"/>
              </a:buClr>
              <a:buSzPts val="2800"/>
              <a:buFont typeface="Arial"/>
              <a:buNone/>
            </a:pPr>
            <a:r>
              <a:rPr lang="en-US" sz="2800" b="0" i="0" u="none" strike="noStrike" cap="none">
                <a:solidFill>
                  <a:schemeClr val="dk1"/>
                </a:solidFill>
                <a:latin typeface="Cambria Math"/>
                <a:ea typeface="Cambria Math"/>
                <a:cs typeface="Cambria Math"/>
                <a:sym typeface="Cambria Math"/>
              </a:rPr>
              <a:t>1.2</a:t>
            </a:r>
            <a:endParaRPr sz="2800" b="0" i="0" u="none" strike="noStrike" cap="none">
              <a:solidFill>
                <a:schemeClr val="dk1"/>
              </a:solidFill>
              <a:latin typeface="Cambria Math"/>
              <a:ea typeface="Cambria Math"/>
              <a:cs typeface="Cambria Math"/>
              <a:sym typeface="Cambria Math"/>
            </a:endParaRPr>
          </a:p>
        </p:txBody>
      </p:sp>
      <p:sp>
        <p:nvSpPr>
          <p:cNvPr id="381" name="Google Shape;381;p44"/>
          <p:cNvSpPr txBox="1"/>
          <p:nvPr/>
        </p:nvSpPr>
        <p:spPr>
          <a:xfrm>
            <a:off x="1298846" y="3126879"/>
            <a:ext cx="1481455" cy="382156"/>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entury Schoolbook"/>
                <a:ea typeface="Century Schoolbook"/>
                <a:cs typeface="Century Schoolbook"/>
                <a:sym typeface="Century Schoolbook"/>
              </a:rPr>
              <a:t>Fat	1.8</a:t>
            </a:r>
            <a:endParaRPr sz="4800" b="0" i="0" u="none" strike="noStrike" cap="none" baseline="-25000">
              <a:solidFill>
                <a:schemeClr val="dk1"/>
              </a:solidFill>
              <a:latin typeface="Cambria Math"/>
              <a:ea typeface="Cambria Math"/>
              <a:cs typeface="Cambria Math"/>
              <a:sym typeface="Cambria Math"/>
            </a:endParaRPr>
          </a:p>
        </p:txBody>
      </p:sp>
      <p:sp>
        <p:nvSpPr>
          <p:cNvPr id="382" name="Google Shape;382;p44"/>
          <p:cNvSpPr txBox="1"/>
          <p:nvPr/>
        </p:nvSpPr>
        <p:spPr>
          <a:xfrm>
            <a:off x="749139" y="2139870"/>
            <a:ext cx="1069340" cy="956944"/>
          </a:xfrm>
          <a:prstGeom prst="rect">
            <a:avLst/>
          </a:prstGeom>
          <a:noFill/>
          <a:ln>
            <a:noFill/>
          </a:ln>
        </p:spPr>
        <p:txBody>
          <a:bodyPr spcFirstLastPara="1" wrap="square" lIns="0" tIns="12700" rIns="0" bIns="0" anchor="t" anchorCtr="0">
            <a:spAutoFit/>
          </a:bodyPr>
          <a:lstStyle/>
          <a:p>
            <a:pPr marL="12700" marR="5080" lvl="0" indent="321945" algn="l" rtl="0">
              <a:lnSpc>
                <a:spcPct val="127299"/>
              </a:lnSpc>
              <a:spcBef>
                <a:spcPts val="0"/>
              </a:spcBef>
              <a:spcAft>
                <a:spcPts val="0"/>
              </a:spcAft>
              <a:buClr>
                <a:srgbClr val="000000"/>
              </a:buClr>
              <a:buSzPts val="2400"/>
              <a:buFont typeface="Arial"/>
              <a:buNone/>
            </a:pPr>
            <a:r>
              <a:rPr lang="en-US" sz="2400" b="0" i="0" u="none" strike="noStrike" cap="none">
                <a:solidFill>
                  <a:schemeClr val="dk1"/>
                </a:solidFill>
                <a:latin typeface="Century Schoolbook"/>
                <a:ea typeface="Century Schoolbook"/>
                <a:cs typeface="Century Schoolbook"/>
                <a:sym typeface="Century Schoolbook"/>
              </a:rPr>
              <a:t>Carb  Protein</a:t>
            </a:r>
            <a:endParaRPr sz="2400" b="0" i="0" u="none" strike="noStrike" cap="none">
              <a:solidFill>
                <a:schemeClr val="dk1"/>
              </a:solidFill>
              <a:latin typeface="Century Schoolbook"/>
              <a:ea typeface="Century Schoolbook"/>
              <a:cs typeface="Century Schoolbook"/>
              <a:sym typeface="Century Schoolbook"/>
            </a:endParaRPr>
          </a:p>
        </p:txBody>
      </p:sp>
      <p:sp>
        <p:nvSpPr>
          <p:cNvPr id="383" name="Google Shape;383;p44"/>
          <p:cNvSpPr txBox="1"/>
          <p:nvPr/>
        </p:nvSpPr>
        <p:spPr>
          <a:xfrm>
            <a:off x="3145107" y="1832645"/>
            <a:ext cx="3289300" cy="985911"/>
          </a:xfrm>
          <a:prstGeom prst="rect">
            <a:avLst/>
          </a:prstGeom>
          <a:noFill/>
          <a:ln>
            <a:noFill/>
          </a:ln>
        </p:spPr>
        <p:txBody>
          <a:bodyPr spcFirstLastPara="1" wrap="square" lIns="0" tIns="12700" rIns="0" bIns="0" anchor="t" anchorCtr="0">
            <a:spAutoFit/>
          </a:bodyPr>
          <a:lstStyle/>
          <a:p>
            <a:pPr marL="213359"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entury Schoolbook"/>
                <a:ea typeface="Century Schoolbook"/>
                <a:cs typeface="Century Schoolbook"/>
                <a:sym typeface="Century Schoolbook"/>
              </a:rPr>
              <a:t>Beef	    Eggs</a:t>
            </a:r>
            <a:endParaRPr sz="1400" b="0" i="0" u="none" strike="noStrike" cap="none">
              <a:solidFill>
                <a:srgbClr val="000000"/>
              </a:solidFill>
              <a:latin typeface="Arial"/>
              <a:ea typeface="Arial"/>
              <a:cs typeface="Arial"/>
              <a:sym typeface="Arial"/>
            </a:endParaRPr>
          </a:p>
          <a:p>
            <a:pPr marL="0" marR="74930" lvl="0" indent="0" algn="r" rtl="0">
              <a:lnSpc>
                <a:spcPct val="79583"/>
              </a:lnSpc>
              <a:spcBef>
                <a:spcPts val="50"/>
              </a:spcBef>
              <a:spcAft>
                <a:spcPts val="0"/>
              </a:spcAft>
              <a:buClr>
                <a:srgbClr val="000000"/>
              </a:buClr>
              <a:buSzPts val="4800"/>
              <a:buFont typeface="Arial"/>
              <a:buNone/>
            </a:pPr>
            <a:r>
              <a:rPr lang="en-US" sz="4800" b="0" i="0" u="none" strike="noStrike" cap="none" baseline="30000">
                <a:solidFill>
                  <a:schemeClr val="dk1"/>
                </a:solidFill>
                <a:latin typeface="Cambria Math"/>
                <a:ea typeface="Cambria Math"/>
                <a:cs typeface="Cambria Math"/>
                <a:sym typeface="Cambria Math"/>
              </a:rPr>
              <a:t>	</a:t>
            </a:r>
            <a:endParaRPr sz="3200" b="0" i="0" u="none" strike="noStrike" cap="none">
              <a:solidFill>
                <a:schemeClr val="dk1"/>
              </a:solidFill>
              <a:latin typeface="Cambria Math"/>
              <a:ea typeface="Cambria Math"/>
              <a:cs typeface="Cambria Math"/>
              <a:sym typeface="Cambria Math"/>
            </a:endParaRPr>
          </a:p>
        </p:txBody>
      </p:sp>
      <p:sp>
        <p:nvSpPr>
          <p:cNvPr id="384" name="Google Shape;384;p44"/>
          <p:cNvSpPr txBox="1"/>
          <p:nvPr/>
        </p:nvSpPr>
        <p:spPr>
          <a:xfrm>
            <a:off x="408406" y="1020229"/>
            <a:ext cx="10069195"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Calibri"/>
                <a:ea typeface="Calibri"/>
                <a:cs typeface="Calibri"/>
                <a:sym typeface="Calibri"/>
              </a:rPr>
              <a:t>Calories from Carbs, Proteins, Fats in 100g of different foods:</a:t>
            </a:r>
            <a:endParaRPr sz="3200" b="0" i="0" u="none" strike="noStrike" cap="none">
              <a:solidFill>
                <a:schemeClr val="dk1"/>
              </a:solidFill>
              <a:latin typeface="Calibri"/>
              <a:ea typeface="Calibri"/>
              <a:cs typeface="Calibri"/>
              <a:sym typeface="Calibri"/>
            </a:endParaRPr>
          </a:p>
        </p:txBody>
      </p:sp>
      <p:pic>
        <p:nvPicPr>
          <p:cNvPr id="385" name="Google Shape;385;p44"/>
          <p:cNvPicPr preferRelativeResize="0"/>
          <p:nvPr/>
        </p:nvPicPr>
        <p:blipFill rotWithShape="1">
          <a:blip r:embed="rId3">
            <a:alphaModFix/>
          </a:blip>
          <a:srcRect/>
          <a:stretch/>
        </p:blipFill>
        <p:spPr>
          <a:xfrm>
            <a:off x="9359064" y="1292357"/>
            <a:ext cx="113055" cy="119710"/>
          </a:xfrm>
          <a:prstGeom prst="rect">
            <a:avLst/>
          </a:prstGeom>
          <a:noFill/>
          <a:ln>
            <a:noFill/>
          </a:ln>
        </p:spPr>
      </p:pic>
      <p:sp>
        <p:nvSpPr>
          <p:cNvPr id="386" name="Google Shape;386;p44"/>
          <p:cNvSpPr txBox="1"/>
          <p:nvPr/>
        </p:nvSpPr>
        <p:spPr>
          <a:xfrm>
            <a:off x="3117176" y="2170594"/>
            <a:ext cx="6201052" cy="21544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mbria Math"/>
                <a:ea typeface="Cambria Math"/>
                <a:cs typeface="Cambria Math"/>
                <a:sym typeface="Cambria Math"/>
              </a:rPr>
              <a:t>0.0          4.4        6.8</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mbria Math"/>
                <a:ea typeface="Cambria Math"/>
                <a:cs typeface="Cambria Math"/>
                <a:sym typeface="Cambria Math"/>
              </a:rPr>
              <a:t>104.0     52.0     8.0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mbria Math"/>
                <a:ea typeface="Cambria Math"/>
                <a:cs typeface="Cambria Math"/>
                <a:sym typeface="Cambria Math"/>
              </a:rPr>
              <a:t>135.0     99.0      0.9</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Cambria Math"/>
              <a:ea typeface="Cambria Math"/>
              <a:cs typeface="Cambria Math"/>
              <a:sym typeface="Cambria Math"/>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7" name="Google Shape;387;p4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Broadcasting in  Python</a:t>
            </a: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 name="Google Shape;316;p36"/>
          <p:cNvSpPr txBox="1"/>
          <p:nvPr/>
        </p:nvSpPr>
        <p:spPr>
          <a:xfrm>
            <a:off x="342900" y="1245233"/>
            <a:ext cx="11614637" cy="1512578"/>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 code used to achieve this involved two lines. The first line used the sum function to sum down the columns of the matrix, and the second line divided each element of the matrix by its corresponding sum. The reshape function was used to ensure that the dimensions of the arrays were compatible for the division operation.</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extLst>
      <p:ext uri="{BB962C8B-B14F-4D97-AF65-F5344CB8AC3E}">
        <p14:creationId xmlns:p14="http://schemas.microsoft.com/office/powerpoint/2010/main" val="6863582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391"/>
        <p:cNvGrpSpPr/>
        <p:nvPr/>
      </p:nvGrpSpPr>
      <p:grpSpPr>
        <a:xfrm>
          <a:off x="0" y="0"/>
          <a:ext cx="0" cy="0"/>
          <a:chOff x="0" y="0"/>
          <a:chExt cx="0" cy="0"/>
        </a:xfrm>
      </p:grpSpPr>
      <p:sp>
        <p:nvSpPr>
          <p:cNvPr id="392" name="Google Shape;392;p45"/>
          <p:cNvSpPr txBox="1"/>
          <p:nvPr/>
        </p:nvSpPr>
        <p:spPr>
          <a:xfrm>
            <a:off x="8560765" y="4770036"/>
            <a:ext cx="2841625" cy="951230"/>
          </a:xfrm>
          <a:prstGeom prst="rect">
            <a:avLst/>
          </a:prstGeom>
          <a:noFill/>
          <a:ln>
            <a:noFill/>
          </a:ln>
        </p:spPr>
        <p:txBody>
          <a:bodyPr spcFirstLastPara="1" wrap="square" lIns="0" tIns="0" rIns="0" bIns="0" anchor="t" anchorCtr="0">
            <a:spAutoFit/>
          </a:bodyPr>
          <a:lstStyle/>
          <a:p>
            <a:pPr marL="0" marR="0" lvl="0" indent="0" algn="l" rtl="0">
              <a:lnSpc>
                <a:spcPct val="113406"/>
              </a:lnSpc>
              <a:spcBef>
                <a:spcPts val="0"/>
              </a:spcBef>
              <a:spcAft>
                <a:spcPts val="0"/>
              </a:spcAft>
              <a:buClr>
                <a:srgbClr val="000000"/>
              </a:buClr>
              <a:buSzPts val="3200"/>
              <a:buFont typeface="Arial"/>
              <a:buNone/>
            </a:pPr>
            <a:r>
              <a:rPr lang="en-US" sz="3200" b="0" i="0" u="none" strike="noStrike" cap="none">
                <a:solidFill>
                  <a:schemeClr val="dk1"/>
                </a:solidFill>
                <a:latin typeface="Cambria Math"/>
                <a:ea typeface="Cambria Math"/>
                <a:cs typeface="Cambria Math"/>
                <a:sym typeface="Cambria Math"/>
              </a:rPr>
              <a:t>101	102	103</a:t>
            </a:r>
            <a:endParaRPr sz="3200" b="0" i="0" u="none" strike="noStrike" cap="none">
              <a:solidFill>
                <a:schemeClr val="dk1"/>
              </a:solidFill>
              <a:latin typeface="Cambria Math"/>
              <a:ea typeface="Cambria Math"/>
              <a:cs typeface="Cambria Math"/>
              <a:sym typeface="Cambria Math"/>
            </a:endParaRPr>
          </a:p>
          <a:p>
            <a:pPr marL="0" marR="0" lvl="0" indent="0" algn="l" rtl="0">
              <a:lnSpc>
                <a:spcPct val="118281"/>
              </a:lnSpc>
              <a:spcBef>
                <a:spcPts val="0"/>
              </a:spcBef>
              <a:spcAft>
                <a:spcPts val="0"/>
              </a:spcAft>
              <a:buClr>
                <a:srgbClr val="000000"/>
              </a:buClr>
              <a:buSzPts val="3200"/>
              <a:buFont typeface="Arial"/>
              <a:buNone/>
            </a:pPr>
            <a:r>
              <a:rPr lang="en-US" sz="3200" b="0" i="0" u="none" strike="noStrike" cap="none">
                <a:solidFill>
                  <a:schemeClr val="dk1"/>
                </a:solidFill>
                <a:latin typeface="Cambria Math"/>
                <a:ea typeface="Cambria Math"/>
                <a:cs typeface="Cambria Math"/>
                <a:sym typeface="Cambria Math"/>
              </a:rPr>
              <a:t>204	205	206</a:t>
            </a:r>
            <a:endParaRPr sz="3200" b="0" i="0" u="none" strike="noStrike" cap="none">
              <a:solidFill>
                <a:schemeClr val="dk1"/>
              </a:solidFill>
              <a:latin typeface="Cambria Math"/>
              <a:ea typeface="Cambria Math"/>
              <a:cs typeface="Cambria Math"/>
              <a:sym typeface="Cambria Math"/>
            </a:endParaRPr>
          </a:p>
        </p:txBody>
      </p:sp>
      <p:grpSp>
        <p:nvGrpSpPr>
          <p:cNvPr id="11" name="Group 10"/>
          <p:cNvGrpSpPr/>
          <p:nvPr/>
        </p:nvGrpSpPr>
        <p:grpSpPr>
          <a:xfrm>
            <a:off x="543694" y="4595444"/>
            <a:ext cx="4026035" cy="1165091"/>
            <a:chOff x="543694" y="4595444"/>
            <a:chExt cx="4026035" cy="1165091"/>
          </a:xfrm>
        </p:grpSpPr>
        <p:grpSp>
          <p:nvGrpSpPr>
            <p:cNvPr id="8" name="Group 7"/>
            <p:cNvGrpSpPr/>
            <p:nvPr/>
          </p:nvGrpSpPr>
          <p:grpSpPr>
            <a:xfrm>
              <a:off x="543694" y="4730766"/>
              <a:ext cx="2424519" cy="1029769"/>
              <a:chOff x="597997" y="5474788"/>
              <a:chExt cx="2424519" cy="1029769"/>
            </a:xfrm>
          </p:grpSpPr>
          <p:sp>
            <p:nvSpPr>
              <p:cNvPr id="393" name="Google Shape;393;p45"/>
              <p:cNvSpPr/>
              <p:nvPr/>
            </p:nvSpPr>
            <p:spPr>
              <a:xfrm>
                <a:off x="2889798" y="5502883"/>
                <a:ext cx="78415" cy="1001673"/>
              </a:xfrm>
              <a:custGeom>
                <a:avLst/>
                <a:gdLst/>
                <a:ahLst/>
                <a:cxnLst/>
                <a:rect l="l" t="t" r="r" b="b"/>
                <a:pathLst>
                  <a:path w="94614" h="666750" extrusionOk="0">
                    <a:moveTo>
                      <a:pt x="94462" y="0"/>
                    </a:moveTo>
                    <a:lnTo>
                      <a:pt x="0" y="0"/>
                    </a:lnTo>
                    <a:lnTo>
                      <a:pt x="0" y="17780"/>
                    </a:lnTo>
                    <a:lnTo>
                      <a:pt x="57746" y="17780"/>
                    </a:lnTo>
                    <a:lnTo>
                      <a:pt x="57746" y="648970"/>
                    </a:lnTo>
                    <a:lnTo>
                      <a:pt x="0" y="648970"/>
                    </a:lnTo>
                    <a:lnTo>
                      <a:pt x="0" y="666750"/>
                    </a:lnTo>
                    <a:lnTo>
                      <a:pt x="94462" y="666750"/>
                    </a:lnTo>
                    <a:lnTo>
                      <a:pt x="94462" y="648970"/>
                    </a:lnTo>
                    <a:lnTo>
                      <a:pt x="94462" y="17780"/>
                    </a:lnTo>
                    <a:lnTo>
                      <a:pt x="9446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4" name="Google Shape;394;p45"/>
              <p:cNvSpPr/>
              <p:nvPr/>
            </p:nvSpPr>
            <p:spPr>
              <a:xfrm>
                <a:off x="597997" y="5591746"/>
                <a:ext cx="92289" cy="912810"/>
              </a:xfrm>
              <a:custGeom>
                <a:avLst/>
                <a:gdLst/>
                <a:ahLst/>
                <a:cxnLst/>
                <a:rect l="l" t="t" r="r" b="b"/>
                <a:pathLst>
                  <a:path w="94615" h="666750" extrusionOk="0">
                    <a:moveTo>
                      <a:pt x="94449" y="0"/>
                    </a:moveTo>
                    <a:lnTo>
                      <a:pt x="0" y="0"/>
                    </a:lnTo>
                    <a:lnTo>
                      <a:pt x="0" y="17780"/>
                    </a:lnTo>
                    <a:lnTo>
                      <a:pt x="0" y="648970"/>
                    </a:lnTo>
                    <a:lnTo>
                      <a:pt x="0" y="666750"/>
                    </a:lnTo>
                    <a:lnTo>
                      <a:pt x="94449" y="666750"/>
                    </a:lnTo>
                    <a:lnTo>
                      <a:pt x="94449" y="648970"/>
                    </a:lnTo>
                    <a:lnTo>
                      <a:pt x="36715" y="648970"/>
                    </a:lnTo>
                    <a:lnTo>
                      <a:pt x="36715" y="17780"/>
                    </a:lnTo>
                    <a:lnTo>
                      <a:pt x="94449" y="17780"/>
                    </a:lnTo>
                    <a:lnTo>
                      <a:pt x="9444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5" name="Google Shape;395;p45"/>
              <p:cNvSpPr txBox="1"/>
              <p:nvPr/>
            </p:nvSpPr>
            <p:spPr>
              <a:xfrm>
                <a:off x="759476" y="5474788"/>
                <a:ext cx="2263040" cy="1029769"/>
              </a:xfrm>
              <a:prstGeom prst="rect">
                <a:avLst/>
              </a:prstGeom>
              <a:noFill/>
              <a:ln>
                <a:noFill/>
              </a:ln>
            </p:spPr>
            <p:txBody>
              <a:bodyPr spcFirstLastPara="1" wrap="square" lIns="0" tIns="12700" rIns="0" bIns="0" anchor="t" anchorCtr="0">
                <a:spAutoFit/>
              </a:bodyPr>
              <a:lstStyle/>
              <a:p>
                <a:pPr marL="12700" marR="0" lvl="0" indent="0" algn="l" rtl="0">
                  <a:lnSpc>
                    <a:spcPct val="118281"/>
                  </a:lnSpc>
                  <a:spcBef>
                    <a:spcPts val="0"/>
                  </a:spcBef>
                  <a:spcAft>
                    <a:spcPts val="0"/>
                  </a:spcAft>
                  <a:buClr>
                    <a:srgbClr val="000000"/>
                  </a:buClr>
                  <a:buSzPts val="3200"/>
                  <a:buFont typeface="Arial"/>
                  <a:buNone/>
                </a:pPr>
                <a:r>
                  <a:rPr lang="en-US" sz="2800" b="0" i="0" u="none" strike="noStrike" cap="none" dirty="0">
                    <a:solidFill>
                      <a:schemeClr val="dk1"/>
                    </a:solidFill>
                    <a:latin typeface="Cambria Math"/>
                    <a:ea typeface="Cambria Math"/>
                    <a:cs typeface="Cambria Math"/>
                    <a:sym typeface="Cambria Math"/>
                  </a:rPr>
                  <a:t>1	2	3</a:t>
                </a:r>
                <a:endParaRPr sz="2800" b="0" i="0" u="none" strike="noStrike" cap="none" dirty="0">
                  <a:solidFill>
                    <a:schemeClr val="dk1"/>
                  </a:solidFill>
                  <a:latin typeface="Cambria Math"/>
                  <a:ea typeface="Cambria Math"/>
                  <a:cs typeface="Cambria Math"/>
                  <a:sym typeface="Cambria Math"/>
                </a:endParaRPr>
              </a:p>
              <a:p>
                <a:pPr marL="12700" marR="0" lvl="0" indent="0" algn="l" rtl="0">
                  <a:lnSpc>
                    <a:spcPct val="118281"/>
                  </a:lnSpc>
                  <a:spcBef>
                    <a:spcPts val="0"/>
                  </a:spcBef>
                  <a:spcAft>
                    <a:spcPts val="0"/>
                  </a:spcAft>
                  <a:buClr>
                    <a:srgbClr val="000000"/>
                  </a:buClr>
                  <a:buSzPts val="3200"/>
                  <a:buFont typeface="Arial"/>
                  <a:buNone/>
                </a:pPr>
                <a:r>
                  <a:rPr lang="en-US" sz="2800" b="0" i="0" u="none" strike="noStrike" cap="none" dirty="0">
                    <a:solidFill>
                      <a:schemeClr val="dk1"/>
                    </a:solidFill>
                    <a:latin typeface="Cambria Math"/>
                    <a:ea typeface="Cambria Math"/>
                    <a:cs typeface="Cambria Math"/>
                    <a:sym typeface="Cambria Math"/>
                  </a:rPr>
                  <a:t>4	5	6</a:t>
                </a:r>
                <a:endParaRPr sz="2800" b="0" i="0" u="none" strike="noStrike" cap="none" dirty="0">
                  <a:solidFill>
                    <a:schemeClr val="dk1"/>
                  </a:solidFill>
                  <a:latin typeface="Cambria Math"/>
                  <a:ea typeface="Cambria Math"/>
                  <a:cs typeface="Cambria Math"/>
                  <a:sym typeface="Cambria Math"/>
                </a:endParaRPr>
              </a:p>
            </p:txBody>
          </p:sp>
        </p:grpSp>
        <p:grpSp>
          <p:nvGrpSpPr>
            <p:cNvPr id="9" name="Group 8"/>
            <p:cNvGrpSpPr/>
            <p:nvPr/>
          </p:nvGrpSpPr>
          <p:grpSpPr>
            <a:xfrm>
              <a:off x="3685988" y="4595444"/>
              <a:ext cx="883741" cy="1125822"/>
              <a:chOff x="5054029" y="4737096"/>
              <a:chExt cx="883741" cy="1125822"/>
            </a:xfrm>
          </p:grpSpPr>
          <p:sp>
            <p:nvSpPr>
              <p:cNvPr id="396" name="Google Shape;396;p45"/>
              <p:cNvSpPr/>
              <p:nvPr/>
            </p:nvSpPr>
            <p:spPr>
              <a:xfrm>
                <a:off x="5842660" y="4924996"/>
                <a:ext cx="95110" cy="937922"/>
              </a:xfrm>
              <a:custGeom>
                <a:avLst/>
                <a:gdLst/>
                <a:ahLst/>
                <a:cxnLst/>
                <a:rect l="l" t="t" r="r" b="b"/>
                <a:pathLst>
                  <a:path w="94614" h="666750" extrusionOk="0">
                    <a:moveTo>
                      <a:pt x="94449" y="0"/>
                    </a:moveTo>
                    <a:lnTo>
                      <a:pt x="0" y="0"/>
                    </a:lnTo>
                    <a:lnTo>
                      <a:pt x="0" y="17780"/>
                    </a:lnTo>
                    <a:lnTo>
                      <a:pt x="57734" y="17780"/>
                    </a:lnTo>
                    <a:lnTo>
                      <a:pt x="57734" y="648970"/>
                    </a:lnTo>
                    <a:lnTo>
                      <a:pt x="0" y="648970"/>
                    </a:lnTo>
                    <a:lnTo>
                      <a:pt x="0" y="666750"/>
                    </a:lnTo>
                    <a:lnTo>
                      <a:pt x="94449" y="666750"/>
                    </a:lnTo>
                    <a:lnTo>
                      <a:pt x="94449" y="648970"/>
                    </a:lnTo>
                    <a:lnTo>
                      <a:pt x="94449" y="17780"/>
                    </a:lnTo>
                    <a:lnTo>
                      <a:pt x="9444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7" name="Google Shape;397;p45"/>
              <p:cNvSpPr/>
              <p:nvPr/>
            </p:nvSpPr>
            <p:spPr>
              <a:xfrm>
                <a:off x="5054029" y="4924996"/>
                <a:ext cx="90716" cy="937922"/>
              </a:xfrm>
              <a:custGeom>
                <a:avLst/>
                <a:gdLst/>
                <a:ahLst/>
                <a:cxnLst/>
                <a:rect l="l" t="t" r="r" b="b"/>
                <a:pathLst>
                  <a:path w="94614" h="666750" extrusionOk="0">
                    <a:moveTo>
                      <a:pt x="94462" y="0"/>
                    </a:moveTo>
                    <a:lnTo>
                      <a:pt x="0" y="0"/>
                    </a:lnTo>
                    <a:lnTo>
                      <a:pt x="0" y="17780"/>
                    </a:lnTo>
                    <a:lnTo>
                      <a:pt x="0" y="648970"/>
                    </a:lnTo>
                    <a:lnTo>
                      <a:pt x="0" y="666750"/>
                    </a:lnTo>
                    <a:lnTo>
                      <a:pt x="94462" y="666750"/>
                    </a:lnTo>
                    <a:lnTo>
                      <a:pt x="94462" y="648970"/>
                    </a:lnTo>
                    <a:lnTo>
                      <a:pt x="36715" y="648970"/>
                    </a:lnTo>
                    <a:lnTo>
                      <a:pt x="36715" y="17780"/>
                    </a:lnTo>
                    <a:lnTo>
                      <a:pt x="94462" y="17780"/>
                    </a:lnTo>
                    <a:lnTo>
                      <a:pt x="9446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8" name="Google Shape;398;p45"/>
              <p:cNvSpPr txBox="1"/>
              <p:nvPr/>
            </p:nvSpPr>
            <p:spPr>
              <a:xfrm>
                <a:off x="5144744" y="4737096"/>
                <a:ext cx="702310" cy="987425"/>
              </a:xfrm>
              <a:prstGeom prst="rect">
                <a:avLst/>
              </a:prstGeom>
              <a:noFill/>
              <a:ln>
                <a:noFill/>
              </a:ln>
            </p:spPr>
            <p:txBody>
              <a:bodyPr spcFirstLastPara="1" wrap="square" lIns="0" tIns="12700" rIns="0" bIns="0" anchor="t" anchorCtr="0">
                <a:spAutoFit/>
              </a:bodyPr>
              <a:lstStyle/>
              <a:p>
                <a:pPr marL="12700" marR="0" lvl="0" indent="0" algn="l" rtl="0">
                  <a:lnSpc>
                    <a:spcPct val="118281"/>
                  </a:lnSpc>
                  <a:spcBef>
                    <a:spcPts val="0"/>
                  </a:spcBef>
                  <a:spcAft>
                    <a:spcPts val="0"/>
                  </a:spcAft>
                  <a:buClr>
                    <a:srgbClr val="000000"/>
                  </a:buClr>
                  <a:buSzPts val="3200"/>
                  <a:buFont typeface="Arial"/>
                  <a:buNone/>
                </a:pPr>
                <a:r>
                  <a:rPr lang="en-US" sz="3200" b="0" i="0" u="none" strike="noStrike" cap="none" dirty="0">
                    <a:solidFill>
                      <a:schemeClr val="dk1"/>
                    </a:solidFill>
                    <a:latin typeface="Cambria Math"/>
                    <a:ea typeface="Cambria Math"/>
                    <a:cs typeface="Cambria Math"/>
                    <a:sym typeface="Cambria Math"/>
                  </a:rPr>
                  <a:t>100</a:t>
                </a:r>
                <a:endParaRPr sz="3200" b="0" i="0" u="none" strike="noStrike" cap="none" dirty="0">
                  <a:solidFill>
                    <a:schemeClr val="dk1"/>
                  </a:solidFill>
                  <a:latin typeface="Cambria Math"/>
                  <a:ea typeface="Cambria Math"/>
                  <a:cs typeface="Cambria Math"/>
                  <a:sym typeface="Cambria Math"/>
                </a:endParaRPr>
              </a:p>
              <a:p>
                <a:pPr marL="12700" marR="0" lvl="0" indent="0" algn="l" rtl="0">
                  <a:lnSpc>
                    <a:spcPct val="118281"/>
                  </a:lnSpc>
                  <a:spcBef>
                    <a:spcPts val="0"/>
                  </a:spcBef>
                  <a:spcAft>
                    <a:spcPts val="0"/>
                  </a:spcAft>
                  <a:buClr>
                    <a:srgbClr val="000000"/>
                  </a:buClr>
                  <a:buSzPts val="3200"/>
                  <a:buFont typeface="Arial"/>
                  <a:buNone/>
                </a:pPr>
                <a:r>
                  <a:rPr lang="en-US" sz="3200" b="0" i="0" u="none" strike="noStrike" cap="none" dirty="0">
                    <a:solidFill>
                      <a:schemeClr val="dk1"/>
                    </a:solidFill>
                    <a:latin typeface="Cambria Math"/>
                    <a:ea typeface="Cambria Math"/>
                    <a:cs typeface="Cambria Math"/>
                    <a:sym typeface="Cambria Math"/>
                  </a:rPr>
                  <a:t>200</a:t>
                </a:r>
                <a:endParaRPr sz="3200" b="0" i="0" u="none" strike="noStrike" cap="none" dirty="0">
                  <a:solidFill>
                    <a:schemeClr val="dk1"/>
                  </a:solidFill>
                  <a:latin typeface="Cambria Math"/>
                  <a:ea typeface="Cambria Math"/>
                  <a:cs typeface="Cambria Math"/>
                  <a:sym typeface="Cambria Math"/>
                </a:endParaRPr>
              </a:p>
            </p:txBody>
          </p:sp>
        </p:grpSp>
        <p:sp>
          <p:nvSpPr>
            <p:cNvPr id="399" name="Google Shape;399;p45"/>
            <p:cNvSpPr txBox="1"/>
            <p:nvPr/>
          </p:nvSpPr>
          <p:spPr>
            <a:xfrm>
              <a:off x="3150171" y="4999566"/>
              <a:ext cx="24130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entury Schoolbook"/>
                  <a:ea typeface="Century Schoolbook"/>
                  <a:cs typeface="Century Schoolbook"/>
                  <a:sym typeface="Century Schoolbook"/>
                </a:rPr>
                <a:t>+</a:t>
              </a:r>
              <a:endParaRPr sz="2800" b="0" i="0" u="none" strike="noStrike" cap="none">
                <a:solidFill>
                  <a:schemeClr val="dk1"/>
                </a:solidFill>
                <a:latin typeface="Century Schoolbook"/>
                <a:ea typeface="Century Schoolbook"/>
                <a:cs typeface="Century Schoolbook"/>
                <a:sym typeface="Century Schoolbook"/>
              </a:endParaRPr>
            </a:p>
          </p:txBody>
        </p:sp>
      </p:grpSp>
      <p:sp>
        <p:nvSpPr>
          <p:cNvPr id="400" name="Google Shape;400;p45"/>
          <p:cNvSpPr txBox="1"/>
          <p:nvPr/>
        </p:nvSpPr>
        <p:spPr>
          <a:xfrm>
            <a:off x="7760372" y="3220636"/>
            <a:ext cx="3642360" cy="951230"/>
          </a:xfrm>
          <a:prstGeom prst="rect">
            <a:avLst/>
          </a:prstGeom>
          <a:noFill/>
          <a:ln>
            <a:noFill/>
          </a:ln>
        </p:spPr>
        <p:txBody>
          <a:bodyPr spcFirstLastPara="1" wrap="square" lIns="0" tIns="0" rIns="0" bIns="0" anchor="t" anchorCtr="0">
            <a:spAutoFit/>
          </a:bodyPr>
          <a:lstStyle/>
          <a:p>
            <a:pPr marL="800100" marR="0" lvl="0" indent="0" algn="ctr" rtl="0">
              <a:lnSpc>
                <a:spcPct val="113406"/>
              </a:lnSpc>
              <a:spcBef>
                <a:spcPts val="0"/>
              </a:spcBef>
              <a:spcAft>
                <a:spcPts val="0"/>
              </a:spcAft>
              <a:buClr>
                <a:srgbClr val="000000"/>
              </a:buClr>
              <a:buSzPts val="3200"/>
              <a:buFont typeface="Arial"/>
              <a:buNone/>
            </a:pPr>
            <a:r>
              <a:rPr lang="en-US" sz="3200" b="0" i="0" u="none" strike="noStrike" cap="none">
                <a:solidFill>
                  <a:schemeClr val="dk1"/>
                </a:solidFill>
                <a:latin typeface="Cambria Math"/>
                <a:ea typeface="Cambria Math"/>
                <a:cs typeface="Cambria Math"/>
                <a:sym typeface="Cambria Math"/>
              </a:rPr>
              <a:t>101	202	303</a:t>
            </a:r>
            <a:endParaRPr sz="3200" b="0" i="0" u="none" strike="noStrike" cap="none">
              <a:solidFill>
                <a:schemeClr val="dk1"/>
              </a:solidFill>
              <a:latin typeface="Cambria Math"/>
              <a:ea typeface="Cambria Math"/>
              <a:cs typeface="Cambria Math"/>
              <a:sym typeface="Cambria Math"/>
            </a:endParaRPr>
          </a:p>
          <a:p>
            <a:pPr marL="0" marR="0" lvl="0" indent="0" algn="l" rtl="0">
              <a:lnSpc>
                <a:spcPct val="78854"/>
              </a:lnSpc>
              <a:spcBef>
                <a:spcPts val="0"/>
              </a:spcBef>
              <a:spcAft>
                <a:spcPts val="0"/>
              </a:spcAft>
              <a:buClr>
                <a:srgbClr val="000000"/>
              </a:buClr>
              <a:buSzPts val="4800"/>
              <a:buFont typeface="Arial"/>
              <a:buNone/>
            </a:pPr>
            <a:r>
              <a:rPr lang="en-US" sz="4800" b="0" i="0" u="none" strike="noStrike" cap="none" baseline="30000">
                <a:solidFill>
                  <a:schemeClr val="dk1"/>
                </a:solidFill>
                <a:latin typeface="Century Schoolbook"/>
                <a:ea typeface="Century Schoolbook"/>
                <a:cs typeface="Century Schoolbook"/>
                <a:sym typeface="Century Schoolbook"/>
              </a:rPr>
              <a:t>=	</a:t>
            </a:r>
            <a:r>
              <a:rPr lang="en-US" sz="3200" b="0" i="0" u="none" strike="noStrike" cap="none">
                <a:solidFill>
                  <a:schemeClr val="dk1"/>
                </a:solidFill>
                <a:latin typeface="Cambria Math"/>
                <a:ea typeface="Cambria Math"/>
                <a:cs typeface="Cambria Math"/>
                <a:sym typeface="Cambria Math"/>
              </a:rPr>
              <a:t>104	205	306</a:t>
            </a:r>
            <a:endParaRPr sz="3200" b="0" i="0" u="none" strike="noStrike" cap="none">
              <a:solidFill>
                <a:schemeClr val="dk1"/>
              </a:solidFill>
              <a:latin typeface="Cambria Math"/>
              <a:ea typeface="Cambria Math"/>
              <a:cs typeface="Cambria Math"/>
              <a:sym typeface="Cambria Math"/>
            </a:endParaRPr>
          </a:p>
        </p:txBody>
      </p:sp>
      <p:grpSp>
        <p:nvGrpSpPr>
          <p:cNvPr id="10" name="Group 9"/>
          <p:cNvGrpSpPr/>
          <p:nvPr/>
        </p:nvGrpSpPr>
        <p:grpSpPr>
          <a:xfrm>
            <a:off x="1561203" y="937742"/>
            <a:ext cx="420459" cy="1891543"/>
            <a:chOff x="1472887" y="910166"/>
            <a:chExt cx="420459" cy="1891543"/>
          </a:xfrm>
        </p:grpSpPr>
        <p:grpSp>
          <p:nvGrpSpPr>
            <p:cNvPr id="6" name="Group 5"/>
            <p:cNvGrpSpPr/>
            <p:nvPr/>
          </p:nvGrpSpPr>
          <p:grpSpPr>
            <a:xfrm>
              <a:off x="1472887" y="1004450"/>
              <a:ext cx="420459" cy="1683503"/>
              <a:chOff x="1472888" y="1084994"/>
              <a:chExt cx="420459" cy="1683503"/>
            </a:xfrm>
          </p:grpSpPr>
          <p:sp>
            <p:nvSpPr>
              <p:cNvPr id="408" name="Google Shape;408;p45"/>
              <p:cNvSpPr/>
              <p:nvPr/>
            </p:nvSpPr>
            <p:spPr>
              <a:xfrm>
                <a:off x="1795021" y="1084994"/>
                <a:ext cx="98326" cy="1683503"/>
              </a:xfrm>
              <a:custGeom>
                <a:avLst/>
                <a:gdLst/>
                <a:ahLst/>
                <a:cxnLst/>
                <a:rect l="l" t="t" r="r" b="b"/>
                <a:pathLst>
                  <a:path w="112394" h="1490980" extrusionOk="0">
                    <a:moveTo>
                      <a:pt x="111912" y="0"/>
                    </a:moveTo>
                    <a:lnTo>
                      <a:pt x="0" y="0"/>
                    </a:lnTo>
                    <a:lnTo>
                      <a:pt x="0" y="21590"/>
                    </a:lnTo>
                    <a:lnTo>
                      <a:pt x="70637" y="21590"/>
                    </a:lnTo>
                    <a:lnTo>
                      <a:pt x="70637" y="1469390"/>
                    </a:lnTo>
                    <a:lnTo>
                      <a:pt x="0" y="1469390"/>
                    </a:lnTo>
                    <a:lnTo>
                      <a:pt x="0" y="1490980"/>
                    </a:lnTo>
                    <a:lnTo>
                      <a:pt x="111912" y="1490980"/>
                    </a:lnTo>
                    <a:lnTo>
                      <a:pt x="111912" y="1469390"/>
                    </a:lnTo>
                    <a:lnTo>
                      <a:pt x="111912" y="21590"/>
                    </a:lnTo>
                    <a:lnTo>
                      <a:pt x="11191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9" name="Google Shape;409;p45"/>
              <p:cNvSpPr/>
              <p:nvPr/>
            </p:nvSpPr>
            <p:spPr>
              <a:xfrm>
                <a:off x="1472888" y="1084995"/>
                <a:ext cx="79282" cy="1683502"/>
              </a:xfrm>
              <a:custGeom>
                <a:avLst/>
                <a:gdLst/>
                <a:ahLst/>
                <a:cxnLst/>
                <a:rect l="l" t="t" r="r" b="b"/>
                <a:pathLst>
                  <a:path w="112394" h="1490980" extrusionOk="0">
                    <a:moveTo>
                      <a:pt x="111925" y="0"/>
                    </a:moveTo>
                    <a:lnTo>
                      <a:pt x="0" y="0"/>
                    </a:lnTo>
                    <a:lnTo>
                      <a:pt x="0" y="21590"/>
                    </a:lnTo>
                    <a:lnTo>
                      <a:pt x="0" y="1469390"/>
                    </a:lnTo>
                    <a:lnTo>
                      <a:pt x="0" y="1490980"/>
                    </a:lnTo>
                    <a:lnTo>
                      <a:pt x="111925" y="1490980"/>
                    </a:lnTo>
                    <a:lnTo>
                      <a:pt x="111925" y="1469390"/>
                    </a:lnTo>
                    <a:lnTo>
                      <a:pt x="41275" y="1469390"/>
                    </a:lnTo>
                    <a:lnTo>
                      <a:pt x="41275" y="21590"/>
                    </a:lnTo>
                    <a:lnTo>
                      <a:pt x="111925" y="21590"/>
                    </a:lnTo>
                    <a:lnTo>
                      <a:pt x="1119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410" name="Google Shape;410;p45"/>
            <p:cNvSpPr txBox="1"/>
            <p:nvPr/>
          </p:nvSpPr>
          <p:spPr>
            <a:xfrm>
              <a:off x="1557705" y="910166"/>
              <a:ext cx="250825" cy="1891543"/>
            </a:xfrm>
            <a:prstGeom prst="rect">
              <a:avLst/>
            </a:prstGeom>
            <a:noFill/>
            <a:ln>
              <a:noFill/>
            </a:ln>
          </p:spPr>
          <p:txBody>
            <a:bodyPr spcFirstLastPara="1" wrap="square" lIns="0" tIns="12700" rIns="0" bIns="0" anchor="t" anchorCtr="0">
              <a:spAutoFit/>
            </a:bodyPr>
            <a:lstStyle/>
            <a:p>
              <a:pPr marL="12700" marR="0" lvl="0" indent="0" algn="l" rtl="0">
                <a:lnSpc>
                  <a:spcPct val="110000"/>
                </a:lnSpc>
                <a:spcBef>
                  <a:spcPts val="0"/>
                </a:spcBef>
                <a:spcAft>
                  <a:spcPts val="0"/>
                </a:spcAft>
                <a:buClr>
                  <a:srgbClr val="000000"/>
                </a:buClr>
                <a:buSzPts val="3200"/>
                <a:buFont typeface="Arial"/>
                <a:buNone/>
              </a:pPr>
              <a:r>
                <a:rPr lang="en-US" sz="2800" b="0" i="0" u="none" strike="noStrike" cap="none" dirty="0">
                  <a:solidFill>
                    <a:schemeClr val="dk1"/>
                  </a:solidFill>
                  <a:latin typeface="Cambria Math"/>
                  <a:ea typeface="Cambria Math"/>
                  <a:cs typeface="Cambria Math"/>
                  <a:sym typeface="Cambria Math"/>
                </a:rPr>
                <a:t>1</a:t>
              </a:r>
              <a:endParaRPr sz="2800" b="0" i="0" u="none" strike="noStrike" cap="none" dirty="0">
                <a:solidFill>
                  <a:schemeClr val="dk1"/>
                </a:solidFill>
                <a:latin typeface="Cambria Math"/>
                <a:ea typeface="Cambria Math"/>
                <a:cs typeface="Cambria Math"/>
                <a:sym typeface="Cambria Math"/>
              </a:endParaRPr>
            </a:p>
            <a:p>
              <a:pPr marL="12700" marR="0" lvl="0" indent="0" algn="l" rtl="0">
                <a:lnSpc>
                  <a:spcPct val="108281"/>
                </a:lnSpc>
                <a:spcBef>
                  <a:spcPts val="0"/>
                </a:spcBef>
                <a:spcAft>
                  <a:spcPts val="0"/>
                </a:spcAft>
                <a:buClr>
                  <a:srgbClr val="000000"/>
                </a:buClr>
                <a:buSzPts val="3200"/>
                <a:buFont typeface="Arial"/>
                <a:buNone/>
              </a:pPr>
              <a:r>
                <a:rPr lang="en-US" sz="2800" b="0" i="0" u="none" strike="noStrike" cap="none" dirty="0">
                  <a:solidFill>
                    <a:schemeClr val="dk1"/>
                  </a:solidFill>
                  <a:latin typeface="Cambria Math"/>
                  <a:ea typeface="Cambria Math"/>
                  <a:cs typeface="Cambria Math"/>
                  <a:sym typeface="Cambria Math"/>
                </a:rPr>
                <a:t>2</a:t>
              </a:r>
              <a:endParaRPr sz="2800" b="0" i="0" u="none" strike="noStrike" cap="none" dirty="0">
                <a:solidFill>
                  <a:schemeClr val="dk1"/>
                </a:solidFill>
                <a:latin typeface="Cambria Math"/>
                <a:ea typeface="Cambria Math"/>
                <a:cs typeface="Cambria Math"/>
                <a:sym typeface="Cambria Math"/>
              </a:endParaRPr>
            </a:p>
            <a:p>
              <a:pPr marL="12700" marR="0" lvl="0" indent="0" algn="l" rtl="0">
                <a:lnSpc>
                  <a:spcPct val="108281"/>
                </a:lnSpc>
                <a:spcBef>
                  <a:spcPts val="0"/>
                </a:spcBef>
                <a:spcAft>
                  <a:spcPts val="0"/>
                </a:spcAft>
                <a:buClr>
                  <a:srgbClr val="000000"/>
                </a:buClr>
                <a:buSzPts val="3200"/>
                <a:buFont typeface="Arial"/>
                <a:buNone/>
              </a:pPr>
              <a:r>
                <a:rPr lang="en-US" sz="2800" b="0" i="0" u="none" strike="noStrike" cap="none" dirty="0">
                  <a:solidFill>
                    <a:schemeClr val="dk1"/>
                  </a:solidFill>
                  <a:latin typeface="Cambria Math"/>
                  <a:ea typeface="Cambria Math"/>
                  <a:cs typeface="Cambria Math"/>
                  <a:sym typeface="Cambria Math"/>
                </a:rPr>
                <a:t>3</a:t>
              </a:r>
              <a:endParaRPr sz="2800" b="0" i="0" u="none" strike="noStrike" cap="none" dirty="0">
                <a:solidFill>
                  <a:schemeClr val="dk1"/>
                </a:solidFill>
                <a:latin typeface="Cambria Math"/>
                <a:ea typeface="Cambria Math"/>
                <a:cs typeface="Cambria Math"/>
                <a:sym typeface="Cambria Math"/>
              </a:endParaRPr>
            </a:p>
            <a:p>
              <a:pPr marL="12700" marR="0" lvl="0" indent="0" algn="l" rtl="0">
                <a:lnSpc>
                  <a:spcPct val="110000"/>
                </a:lnSpc>
                <a:spcBef>
                  <a:spcPts val="0"/>
                </a:spcBef>
                <a:spcAft>
                  <a:spcPts val="0"/>
                </a:spcAft>
                <a:buClr>
                  <a:srgbClr val="000000"/>
                </a:buClr>
                <a:buSzPts val="3200"/>
                <a:buFont typeface="Arial"/>
                <a:buNone/>
              </a:pPr>
              <a:r>
                <a:rPr lang="en-US" sz="2800" b="0" i="0" u="none" strike="noStrike" cap="none" dirty="0">
                  <a:solidFill>
                    <a:schemeClr val="dk1"/>
                  </a:solidFill>
                  <a:latin typeface="Cambria Math"/>
                  <a:ea typeface="Cambria Math"/>
                  <a:cs typeface="Cambria Math"/>
                  <a:sym typeface="Cambria Math"/>
                </a:rPr>
                <a:t>4</a:t>
              </a:r>
              <a:endParaRPr sz="2800" b="0" i="0" u="none" strike="noStrike" cap="none" dirty="0">
                <a:solidFill>
                  <a:schemeClr val="dk1"/>
                </a:solidFill>
                <a:latin typeface="Cambria Math"/>
                <a:ea typeface="Cambria Math"/>
                <a:cs typeface="Cambria Math"/>
                <a:sym typeface="Cambria Math"/>
              </a:endParaRPr>
            </a:p>
          </p:txBody>
        </p:sp>
      </p:grpSp>
      <p:sp>
        <p:nvSpPr>
          <p:cNvPr id="411" name="Google Shape;411;p45"/>
          <p:cNvSpPr txBox="1"/>
          <p:nvPr/>
        </p:nvSpPr>
        <p:spPr>
          <a:xfrm>
            <a:off x="3150171" y="1604425"/>
            <a:ext cx="24130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Century Schoolbook"/>
                <a:ea typeface="Century Schoolbook"/>
                <a:cs typeface="Century Schoolbook"/>
                <a:sym typeface="Century Schoolbook"/>
              </a:rPr>
              <a:t>+</a:t>
            </a:r>
            <a:endParaRPr sz="2800" b="0" i="0" u="none" strike="noStrike" cap="none" dirty="0">
              <a:solidFill>
                <a:schemeClr val="dk1"/>
              </a:solidFill>
              <a:latin typeface="Century Schoolbook"/>
              <a:ea typeface="Century Schoolbook"/>
              <a:cs typeface="Century Schoolbook"/>
              <a:sym typeface="Century Schoolbook"/>
            </a:endParaRPr>
          </a:p>
        </p:txBody>
      </p:sp>
      <p:grpSp>
        <p:nvGrpSpPr>
          <p:cNvPr id="412" name="Google Shape;412;p45"/>
          <p:cNvGrpSpPr/>
          <p:nvPr/>
        </p:nvGrpSpPr>
        <p:grpSpPr>
          <a:xfrm>
            <a:off x="7320356" y="42921"/>
            <a:ext cx="4543907" cy="6538003"/>
            <a:chOff x="7320356" y="42921"/>
            <a:chExt cx="4543907" cy="6538003"/>
          </a:xfrm>
        </p:grpSpPr>
        <p:sp>
          <p:nvSpPr>
            <p:cNvPr id="413" name="Google Shape;413;p45"/>
            <p:cNvSpPr/>
            <p:nvPr/>
          </p:nvSpPr>
          <p:spPr>
            <a:xfrm>
              <a:off x="7457998" y="2768498"/>
              <a:ext cx="4406265" cy="1749425"/>
            </a:xfrm>
            <a:custGeom>
              <a:avLst/>
              <a:gdLst/>
              <a:ahLst/>
              <a:cxnLst/>
              <a:rect l="l" t="t" r="r" b="b"/>
              <a:pathLst>
                <a:path w="4406265" h="1749425" extrusionOk="0">
                  <a:moveTo>
                    <a:pt x="4406087" y="0"/>
                  </a:moveTo>
                  <a:lnTo>
                    <a:pt x="0" y="0"/>
                  </a:lnTo>
                  <a:lnTo>
                    <a:pt x="0" y="1749399"/>
                  </a:lnTo>
                  <a:lnTo>
                    <a:pt x="4406087" y="1749399"/>
                  </a:lnTo>
                  <a:lnTo>
                    <a:pt x="440608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414" name="Google Shape;414;p45"/>
            <p:cNvPicPr preferRelativeResize="0"/>
            <p:nvPr/>
          </p:nvPicPr>
          <p:blipFill rotWithShape="1">
            <a:blip r:embed="rId3">
              <a:alphaModFix/>
            </a:blip>
            <a:srcRect/>
            <a:stretch/>
          </p:blipFill>
          <p:spPr>
            <a:xfrm>
              <a:off x="7985780" y="42921"/>
              <a:ext cx="2709974" cy="2786364"/>
            </a:xfrm>
            <a:prstGeom prst="rect">
              <a:avLst/>
            </a:prstGeom>
            <a:noFill/>
            <a:ln>
              <a:noFill/>
            </a:ln>
          </p:spPr>
        </p:pic>
        <p:sp>
          <p:nvSpPr>
            <p:cNvPr id="415" name="Google Shape;415;p45"/>
            <p:cNvSpPr/>
            <p:nvPr/>
          </p:nvSpPr>
          <p:spPr>
            <a:xfrm>
              <a:off x="7320356" y="4739792"/>
              <a:ext cx="4406265" cy="1363980"/>
            </a:xfrm>
            <a:custGeom>
              <a:avLst/>
              <a:gdLst/>
              <a:ahLst/>
              <a:cxnLst/>
              <a:rect l="l" t="t" r="r" b="b"/>
              <a:pathLst>
                <a:path w="4406265" h="1363979" extrusionOk="0">
                  <a:moveTo>
                    <a:pt x="4406087" y="0"/>
                  </a:moveTo>
                  <a:lnTo>
                    <a:pt x="0" y="0"/>
                  </a:lnTo>
                  <a:lnTo>
                    <a:pt x="0" y="1363713"/>
                  </a:lnTo>
                  <a:lnTo>
                    <a:pt x="4406087" y="1363713"/>
                  </a:lnTo>
                  <a:lnTo>
                    <a:pt x="440608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416" name="Google Shape;416;p45"/>
            <p:cNvPicPr preferRelativeResize="0"/>
            <p:nvPr/>
          </p:nvPicPr>
          <p:blipFill rotWithShape="1">
            <a:blip r:embed="rId4">
              <a:alphaModFix/>
            </a:blip>
            <a:srcRect/>
            <a:stretch/>
          </p:blipFill>
          <p:spPr>
            <a:xfrm>
              <a:off x="7978844" y="2890043"/>
              <a:ext cx="2286000" cy="3690881"/>
            </a:xfrm>
            <a:prstGeom prst="rect">
              <a:avLst/>
            </a:prstGeom>
            <a:noFill/>
            <a:ln>
              <a:noFill/>
            </a:ln>
          </p:spPr>
        </p:pic>
      </p:grpSp>
      <p:sp>
        <p:nvSpPr>
          <p:cNvPr id="417" name="Google Shape;417;p45"/>
          <p:cNvSpPr txBox="1">
            <a:spLocks noGrp="1"/>
          </p:cNvSpPr>
          <p:nvPr>
            <p:ph type="title"/>
          </p:nvPr>
        </p:nvSpPr>
        <p:spPr>
          <a:xfrm>
            <a:off x="114838" y="63496"/>
            <a:ext cx="57594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Broadcasting example</a:t>
            </a:r>
            <a:endParaRPr sz="4400" dirty="0">
              <a:latin typeface="+mj-lt"/>
              <a:ea typeface="Century Schoolbook"/>
              <a:cs typeface="Century Schoolbook"/>
              <a:sym typeface="Century Schoolbook"/>
            </a:endParaRPr>
          </a:p>
        </p:txBody>
      </p:sp>
      <p:sp>
        <p:nvSpPr>
          <p:cNvPr id="418" name="Google Shape;418;p45"/>
          <p:cNvSpPr txBox="1"/>
          <p:nvPr/>
        </p:nvSpPr>
        <p:spPr>
          <a:xfrm>
            <a:off x="3941325" y="1608629"/>
            <a:ext cx="957580" cy="44371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2800" b="0" i="0" u="none" strike="noStrike" cap="none" dirty="0">
                <a:solidFill>
                  <a:schemeClr val="dk1"/>
                </a:solidFill>
                <a:latin typeface="Century Schoolbook"/>
                <a:ea typeface="Century Schoolbook"/>
                <a:cs typeface="Century Schoolbook"/>
                <a:sym typeface="Century Schoolbook"/>
              </a:rPr>
              <a:t>100</a:t>
            </a:r>
            <a:endParaRPr sz="2800" b="0" i="0" u="none" strike="noStrike" cap="none" dirty="0">
              <a:solidFill>
                <a:schemeClr val="dk1"/>
              </a:solidFill>
              <a:latin typeface="Century Schoolbook"/>
              <a:ea typeface="Century Schoolbook"/>
              <a:cs typeface="Century Schoolbook"/>
              <a:sym typeface="Century Schoolbook"/>
            </a:endParaRPr>
          </a:p>
        </p:txBody>
      </p:sp>
      <p:pic>
        <p:nvPicPr>
          <p:cNvPr id="419" name="Google Shape;419;p45"/>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grpSp>
        <p:nvGrpSpPr>
          <p:cNvPr id="7" name="Group 6"/>
          <p:cNvGrpSpPr/>
          <p:nvPr/>
        </p:nvGrpSpPr>
        <p:grpSpPr>
          <a:xfrm>
            <a:off x="597997" y="3042616"/>
            <a:ext cx="5931801" cy="1116847"/>
            <a:chOff x="595326" y="2861546"/>
            <a:chExt cx="5931801" cy="1116847"/>
          </a:xfrm>
        </p:grpSpPr>
        <p:grpSp>
          <p:nvGrpSpPr>
            <p:cNvPr id="4" name="Group 3"/>
            <p:cNvGrpSpPr/>
            <p:nvPr/>
          </p:nvGrpSpPr>
          <p:grpSpPr>
            <a:xfrm>
              <a:off x="3804843" y="3046492"/>
              <a:ext cx="2722284" cy="513080"/>
              <a:chOff x="4053357" y="3323166"/>
              <a:chExt cx="2722284" cy="513080"/>
            </a:xfrm>
          </p:grpSpPr>
          <p:sp>
            <p:nvSpPr>
              <p:cNvPr id="401" name="Google Shape;401;p45"/>
              <p:cNvSpPr/>
              <p:nvPr/>
            </p:nvSpPr>
            <p:spPr>
              <a:xfrm>
                <a:off x="6668451" y="3419970"/>
                <a:ext cx="88900" cy="378460"/>
              </a:xfrm>
              <a:custGeom>
                <a:avLst/>
                <a:gdLst/>
                <a:ahLst/>
                <a:cxnLst/>
                <a:rect l="l" t="t" r="r" b="b"/>
                <a:pathLst>
                  <a:path w="88900" h="378460" extrusionOk="0">
                    <a:moveTo>
                      <a:pt x="88506" y="0"/>
                    </a:moveTo>
                    <a:lnTo>
                      <a:pt x="0" y="0"/>
                    </a:lnTo>
                    <a:lnTo>
                      <a:pt x="0" y="15240"/>
                    </a:lnTo>
                    <a:lnTo>
                      <a:pt x="55562" y="15240"/>
                    </a:lnTo>
                    <a:lnTo>
                      <a:pt x="55562" y="363220"/>
                    </a:lnTo>
                    <a:lnTo>
                      <a:pt x="0" y="363220"/>
                    </a:lnTo>
                    <a:lnTo>
                      <a:pt x="0" y="378460"/>
                    </a:lnTo>
                    <a:lnTo>
                      <a:pt x="88506" y="378460"/>
                    </a:lnTo>
                    <a:lnTo>
                      <a:pt x="88506" y="363220"/>
                    </a:lnTo>
                    <a:lnTo>
                      <a:pt x="88506" y="15240"/>
                    </a:lnTo>
                    <a:lnTo>
                      <a:pt x="88506"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2" name="Google Shape;402;p45"/>
              <p:cNvSpPr/>
              <p:nvPr/>
            </p:nvSpPr>
            <p:spPr>
              <a:xfrm>
                <a:off x="4053357" y="3419970"/>
                <a:ext cx="88900" cy="378460"/>
              </a:xfrm>
              <a:custGeom>
                <a:avLst/>
                <a:gdLst/>
                <a:ahLst/>
                <a:cxnLst/>
                <a:rect l="l" t="t" r="r" b="b"/>
                <a:pathLst>
                  <a:path w="88900" h="378460" extrusionOk="0">
                    <a:moveTo>
                      <a:pt x="88506" y="0"/>
                    </a:moveTo>
                    <a:lnTo>
                      <a:pt x="0" y="0"/>
                    </a:lnTo>
                    <a:lnTo>
                      <a:pt x="0" y="15240"/>
                    </a:lnTo>
                    <a:lnTo>
                      <a:pt x="0" y="363220"/>
                    </a:lnTo>
                    <a:lnTo>
                      <a:pt x="0" y="378460"/>
                    </a:lnTo>
                    <a:lnTo>
                      <a:pt x="88506" y="378460"/>
                    </a:lnTo>
                    <a:lnTo>
                      <a:pt x="88506" y="363220"/>
                    </a:lnTo>
                    <a:lnTo>
                      <a:pt x="32943" y="363220"/>
                    </a:lnTo>
                    <a:lnTo>
                      <a:pt x="32943" y="15240"/>
                    </a:lnTo>
                    <a:lnTo>
                      <a:pt x="88506" y="15240"/>
                    </a:lnTo>
                    <a:lnTo>
                      <a:pt x="88506"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3" name="Google Shape;403;p45"/>
              <p:cNvSpPr txBox="1"/>
              <p:nvPr/>
            </p:nvSpPr>
            <p:spPr>
              <a:xfrm>
                <a:off x="4137711" y="3323166"/>
                <a:ext cx="2637930"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dirty="0">
                    <a:solidFill>
                      <a:schemeClr val="dk1"/>
                    </a:solidFill>
                    <a:latin typeface="Cambria Math"/>
                    <a:ea typeface="Cambria Math"/>
                    <a:cs typeface="Cambria Math"/>
                    <a:sym typeface="Cambria Math"/>
                  </a:rPr>
                  <a:t>100	200	300</a:t>
                </a:r>
                <a:endParaRPr sz="3200" b="0" i="0" u="none" strike="noStrike" cap="none" dirty="0">
                  <a:solidFill>
                    <a:schemeClr val="dk1"/>
                  </a:solidFill>
                  <a:latin typeface="Cambria Math"/>
                  <a:ea typeface="Cambria Math"/>
                  <a:cs typeface="Cambria Math"/>
                  <a:sym typeface="Cambria Math"/>
                </a:endParaRPr>
              </a:p>
            </p:txBody>
          </p:sp>
        </p:grpSp>
        <p:sp>
          <p:nvSpPr>
            <p:cNvPr id="407" name="Google Shape;407;p45"/>
            <p:cNvSpPr txBox="1"/>
            <p:nvPr/>
          </p:nvSpPr>
          <p:spPr>
            <a:xfrm>
              <a:off x="3232566" y="3117809"/>
              <a:ext cx="24130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Century Schoolbook"/>
                  <a:ea typeface="Century Schoolbook"/>
                  <a:cs typeface="Century Schoolbook"/>
                  <a:sym typeface="Century Schoolbook"/>
                </a:rPr>
                <a:t>+</a:t>
              </a:r>
              <a:endParaRPr sz="2800" b="0" i="0" u="none" strike="noStrike" cap="none" dirty="0">
                <a:solidFill>
                  <a:schemeClr val="dk1"/>
                </a:solidFill>
                <a:latin typeface="Century Schoolbook"/>
                <a:ea typeface="Century Schoolbook"/>
                <a:cs typeface="Century Schoolbook"/>
                <a:sym typeface="Century Schoolbook"/>
              </a:endParaRPr>
            </a:p>
          </p:txBody>
        </p:sp>
        <p:grpSp>
          <p:nvGrpSpPr>
            <p:cNvPr id="3" name="Group 2"/>
            <p:cNvGrpSpPr/>
            <p:nvPr/>
          </p:nvGrpSpPr>
          <p:grpSpPr>
            <a:xfrm>
              <a:off x="595326" y="2861546"/>
              <a:ext cx="2531259" cy="1116847"/>
              <a:chOff x="598985" y="2768498"/>
              <a:chExt cx="2531259" cy="1116847"/>
            </a:xfrm>
          </p:grpSpPr>
          <p:sp>
            <p:nvSpPr>
              <p:cNvPr id="406" name="Google Shape;406;p45"/>
              <p:cNvSpPr txBox="1"/>
              <p:nvPr/>
            </p:nvSpPr>
            <p:spPr>
              <a:xfrm>
                <a:off x="752714" y="2774018"/>
                <a:ext cx="2377530" cy="1038361"/>
              </a:xfrm>
              <a:prstGeom prst="rect">
                <a:avLst/>
              </a:prstGeom>
              <a:noFill/>
              <a:ln>
                <a:noFill/>
              </a:ln>
            </p:spPr>
            <p:txBody>
              <a:bodyPr spcFirstLastPara="1" wrap="square" lIns="0" tIns="12700" rIns="0" bIns="0" anchor="t" anchorCtr="0">
                <a:spAutoFit/>
              </a:bodyPr>
              <a:lstStyle/>
              <a:p>
                <a:pPr marL="12700" marR="0" lvl="0" indent="0" algn="l" rtl="0">
                  <a:lnSpc>
                    <a:spcPct val="119375"/>
                  </a:lnSpc>
                  <a:spcBef>
                    <a:spcPts val="0"/>
                  </a:spcBef>
                  <a:spcAft>
                    <a:spcPts val="0"/>
                  </a:spcAft>
                  <a:buClr>
                    <a:srgbClr val="000000"/>
                  </a:buClr>
                  <a:buSzPts val="3200"/>
                  <a:buFont typeface="Arial"/>
                  <a:buNone/>
                </a:pPr>
                <a:r>
                  <a:rPr lang="en-US" sz="2800" b="0" i="0" u="none" strike="noStrike" cap="none" dirty="0">
                    <a:solidFill>
                      <a:schemeClr val="dk1"/>
                    </a:solidFill>
                    <a:latin typeface="Cambria Math"/>
                    <a:ea typeface="Cambria Math"/>
                    <a:cs typeface="Cambria Math"/>
                    <a:sym typeface="Cambria Math"/>
                  </a:rPr>
                  <a:t>1	2	3</a:t>
                </a:r>
                <a:endParaRPr sz="2800" b="0" i="0" u="none" strike="noStrike" cap="none" dirty="0">
                  <a:solidFill>
                    <a:schemeClr val="dk1"/>
                  </a:solidFill>
                  <a:latin typeface="Cambria Math"/>
                  <a:ea typeface="Cambria Math"/>
                  <a:cs typeface="Cambria Math"/>
                  <a:sym typeface="Cambria Math"/>
                </a:endParaRPr>
              </a:p>
              <a:p>
                <a:pPr marL="12700" marR="0" lvl="0" indent="0" algn="l" rtl="0">
                  <a:lnSpc>
                    <a:spcPct val="119375"/>
                  </a:lnSpc>
                  <a:spcBef>
                    <a:spcPts val="0"/>
                  </a:spcBef>
                  <a:spcAft>
                    <a:spcPts val="0"/>
                  </a:spcAft>
                  <a:buClr>
                    <a:srgbClr val="000000"/>
                  </a:buClr>
                  <a:buSzPts val="3200"/>
                  <a:buFont typeface="Arial"/>
                  <a:buNone/>
                </a:pPr>
                <a:r>
                  <a:rPr lang="en-US" sz="2800" b="0" i="0" u="none" strike="noStrike" cap="none" dirty="0">
                    <a:solidFill>
                      <a:schemeClr val="dk1"/>
                    </a:solidFill>
                    <a:latin typeface="Cambria Math"/>
                    <a:ea typeface="Cambria Math"/>
                    <a:cs typeface="Cambria Math"/>
                    <a:sym typeface="Cambria Math"/>
                  </a:rPr>
                  <a:t>4	5	6</a:t>
                </a:r>
                <a:endParaRPr sz="2800" b="0" i="0" u="none" strike="noStrike" cap="none" dirty="0">
                  <a:solidFill>
                    <a:schemeClr val="dk1"/>
                  </a:solidFill>
                  <a:latin typeface="Cambria Math"/>
                  <a:ea typeface="Cambria Math"/>
                  <a:cs typeface="Cambria Math"/>
                  <a:sym typeface="Cambria Math"/>
                </a:endParaRPr>
              </a:p>
            </p:txBody>
          </p:sp>
          <p:sp>
            <p:nvSpPr>
              <p:cNvPr id="31" name="Google Shape;409;p45"/>
              <p:cNvSpPr/>
              <p:nvPr/>
            </p:nvSpPr>
            <p:spPr>
              <a:xfrm>
                <a:off x="598985" y="2841464"/>
                <a:ext cx="127415" cy="1043881"/>
              </a:xfrm>
              <a:custGeom>
                <a:avLst/>
                <a:gdLst/>
                <a:ahLst/>
                <a:cxnLst/>
                <a:rect l="l" t="t" r="r" b="b"/>
                <a:pathLst>
                  <a:path w="112394" h="1490980" extrusionOk="0">
                    <a:moveTo>
                      <a:pt x="111925" y="0"/>
                    </a:moveTo>
                    <a:lnTo>
                      <a:pt x="0" y="0"/>
                    </a:lnTo>
                    <a:lnTo>
                      <a:pt x="0" y="21590"/>
                    </a:lnTo>
                    <a:lnTo>
                      <a:pt x="0" y="1469390"/>
                    </a:lnTo>
                    <a:lnTo>
                      <a:pt x="0" y="1490980"/>
                    </a:lnTo>
                    <a:lnTo>
                      <a:pt x="111925" y="1490980"/>
                    </a:lnTo>
                    <a:lnTo>
                      <a:pt x="111925" y="1469390"/>
                    </a:lnTo>
                    <a:lnTo>
                      <a:pt x="41275" y="1469390"/>
                    </a:lnTo>
                    <a:lnTo>
                      <a:pt x="41275" y="21590"/>
                    </a:lnTo>
                    <a:lnTo>
                      <a:pt x="111925" y="21590"/>
                    </a:lnTo>
                    <a:lnTo>
                      <a:pt x="1119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 name="Google Shape;408;p45"/>
              <p:cNvSpPr/>
              <p:nvPr/>
            </p:nvSpPr>
            <p:spPr>
              <a:xfrm>
                <a:off x="2851081" y="2768498"/>
                <a:ext cx="118120" cy="1116847"/>
              </a:xfrm>
              <a:custGeom>
                <a:avLst/>
                <a:gdLst/>
                <a:ahLst/>
                <a:cxnLst/>
                <a:rect l="l" t="t" r="r" b="b"/>
                <a:pathLst>
                  <a:path w="112394" h="1490980" extrusionOk="0">
                    <a:moveTo>
                      <a:pt x="111912" y="0"/>
                    </a:moveTo>
                    <a:lnTo>
                      <a:pt x="0" y="0"/>
                    </a:lnTo>
                    <a:lnTo>
                      <a:pt x="0" y="21590"/>
                    </a:lnTo>
                    <a:lnTo>
                      <a:pt x="70637" y="21590"/>
                    </a:lnTo>
                    <a:lnTo>
                      <a:pt x="70637" y="1469390"/>
                    </a:lnTo>
                    <a:lnTo>
                      <a:pt x="0" y="1469390"/>
                    </a:lnTo>
                    <a:lnTo>
                      <a:pt x="0" y="1490980"/>
                    </a:lnTo>
                    <a:lnTo>
                      <a:pt x="111912" y="1490980"/>
                    </a:lnTo>
                    <a:lnTo>
                      <a:pt x="111912" y="1469390"/>
                    </a:lnTo>
                    <a:lnTo>
                      <a:pt x="111912" y="21590"/>
                    </a:lnTo>
                    <a:lnTo>
                      <a:pt x="11191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36"/>
          <p:cNvSpPr txBox="1">
            <a:spLocks noGrp="1"/>
          </p:cNvSpPr>
          <p:nvPr>
            <p:ph type="title"/>
          </p:nvPr>
        </p:nvSpPr>
        <p:spPr>
          <a:xfrm>
            <a:off x="41759" y="100454"/>
            <a:ext cx="10692714"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Broadcasting in  Python</a:t>
            </a:r>
          </a:p>
        </p:txBody>
      </p:sp>
      <p:pic>
        <p:nvPicPr>
          <p:cNvPr id="320" name="Google Shape;320;p3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 name="Google Shape;316;p36"/>
          <p:cNvSpPr txBox="1"/>
          <p:nvPr/>
        </p:nvSpPr>
        <p:spPr>
          <a:xfrm>
            <a:off x="342900" y="1245233"/>
            <a:ext cx="11614637" cy="3019401"/>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Broadcasting in Python is a powerful tool that can greatly simplify your code and make it run faster. It can be used for a wide range of operations, including addition, subtraction, multiplication, and division. </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There are some tips and tricks that can help reduce the number of bugs in your Python code. These include using descriptive variable names, writing modular code, commenting your code, testing your code frequently, and using version control. These tips can help you write cleaner, more efficient code that is easier to debug and maintain.</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extLst>
      <p:ext uri="{BB962C8B-B14F-4D97-AF65-F5344CB8AC3E}">
        <p14:creationId xmlns:p14="http://schemas.microsoft.com/office/powerpoint/2010/main" val="16917596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423"/>
        <p:cNvGrpSpPr/>
        <p:nvPr/>
      </p:nvGrpSpPr>
      <p:grpSpPr>
        <a:xfrm>
          <a:off x="0" y="0"/>
          <a:ext cx="0" cy="0"/>
          <a:chOff x="0" y="0"/>
          <a:chExt cx="0" cy="0"/>
        </a:xfrm>
      </p:grpSpPr>
      <p:sp>
        <p:nvSpPr>
          <p:cNvPr id="424" name="Google Shape;424;p46"/>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5" name="Google Shape;425;p46"/>
          <p:cNvSpPr txBox="1">
            <a:spLocks noGrp="1"/>
          </p:cNvSpPr>
          <p:nvPr>
            <p:ph type="body" idx="1"/>
          </p:nvPr>
        </p:nvSpPr>
        <p:spPr>
          <a:xfrm>
            <a:off x="458279" y="1121824"/>
            <a:ext cx="11420100" cy="1859400"/>
          </a:xfrm>
          <a:prstGeom prst="rect">
            <a:avLst/>
          </a:prstGeom>
          <a:noFill/>
          <a:ln>
            <a:noFill/>
          </a:ln>
        </p:spPr>
        <p:txBody>
          <a:bodyPr spcFirstLastPara="1" wrap="square" lIns="0" tIns="12700" rIns="0" bIns="0" anchor="t" anchorCtr="0">
            <a:spAutoFit/>
          </a:bodyPr>
          <a:lstStyle/>
          <a:p>
            <a:pPr marL="4347210" marR="5080" lvl="0" indent="1033143" algn="l" rtl="0">
              <a:lnSpc>
                <a:spcPct val="100000"/>
              </a:lnSpc>
              <a:spcBef>
                <a:spcPts val="0"/>
              </a:spcBef>
              <a:spcAft>
                <a:spcPts val="0"/>
              </a:spcAft>
              <a:buSzPts val="1400"/>
              <a:buNone/>
            </a:pPr>
            <a:r>
              <a:rPr lang="en-US"/>
              <a:t>Basics of Neural  Network Programming</a:t>
            </a:r>
            <a:endParaRPr/>
          </a:p>
        </p:txBody>
      </p:sp>
      <p:sp>
        <p:nvSpPr>
          <p:cNvPr id="426" name="Google Shape;426;p46"/>
          <p:cNvSpPr txBox="1"/>
          <p:nvPr/>
        </p:nvSpPr>
        <p:spPr>
          <a:xfrm>
            <a:off x="4544009" y="3595797"/>
            <a:ext cx="7334370" cy="2217420"/>
          </a:xfrm>
          <a:prstGeom prst="rect">
            <a:avLst/>
          </a:prstGeom>
          <a:noFill/>
          <a:ln>
            <a:noFill/>
          </a:ln>
        </p:spPr>
        <p:txBody>
          <a:bodyPr spcFirstLastPara="1" wrap="square" lIns="0" tIns="13950" rIns="0" bIns="0" anchor="t" anchorCtr="0">
            <a:spAutoFit/>
          </a:bodyPr>
          <a:lstStyle/>
          <a:p>
            <a:pPr marL="12700" marR="5080" lvl="0" indent="-635" algn="ctr" rtl="0">
              <a:lnSpc>
                <a:spcPct val="99800"/>
              </a:lnSpc>
              <a:spcBef>
                <a:spcPts val="0"/>
              </a:spcBef>
              <a:spcAft>
                <a:spcPts val="0"/>
              </a:spcAft>
              <a:buClr>
                <a:srgbClr val="000000"/>
              </a:buClr>
              <a:buSzPts val="4800"/>
              <a:buFont typeface="Arial"/>
              <a:buNone/>
            </a:pPr>
            <a:r>
              <a:rPr lang="en-US" sz="4800" b="0" i="0" u="none" strike="noStrike" cap="none" dirty="0">
                <a:solidFill>
                  <a:schemeClr val="dk1"/>
                </a:solidFill>
                <a:latin typeface="+mj-lt"/>
                <a:ea typeface="Calibri"/>
                <a:cs typeface="Calibri"/>
                <a:sym typeface="Calibri"/>
              </a:rPr>
              <a:t>Explanation of logistic  regression cost function  (Optional)</a:t>
            </a:r>
            <a:endParaRPr sz="4800" b="0" i="0" u="none" strike="noStrike" cap="none" dirty="0">
              <a:solidFill>
                <a:schemeClr val="dk1"/>
              </a:solidFill>
              <a:latin typeface="+mj-lt"/>
              <a:ea typeface="Calibri"/>
              <a:cs typeface="Calibri"/>
              <a:sym typeface="Calibri"/>
            </a:endParaRPr>
          </a:p>
        </p:txBody>
      </p:sp>
      <p:pic>
        <p:nvPicPr>
          <p:cNvPr id="427" name="Google Shape;427;p46"/>
          <p:cNvPicPr preferRelativeResize="0"/>
          <p:nvPr/>
        </p:nvPicPr>
        <p:blipFill rotWithShape="1">
          <a:blip r:embed="rId3">
            <a:alphaModFix/>
          </a:blip>
          <a:srcRect/>
          <a:stretch/>
        </p:blipFill>
        <p:spPr>
          <a:xfrm>
            <a:off x="417325" y="2156850"/>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431"/>
        <p:cNvGrpSpPr/>
        <p:nvPr/>
      </p:nvGrpSpPr>
      <p:grpSpPr>
        <a:xfrm>
          <a:off x="0" y="0"/>
          <a:ext cx="0" cy="0"/>
          <a:chOff x="0" y="0"/>
          <a:chExt cx="0" cy="0"/>
        </a:xfrm>
      </p:grpSpPr>
      <p:sp>
        <p:nvSpPr>
          <p:cNvPr id="432" name="Google Shape;432;p47"/>
          <p:cNvSpPr txBox="1">
            <a:spLocks noGrp="1"/>
          </p:cNvSpPr>
          <p:nvPr>
            <p:ph type="title"/>
          </p:nvPr>
        </p:nvSpPr>
        <p:spPr>
          <a:xfrm>
            <a:off x="78739" y="81788"/>
            <a:ext cx="832167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Logistic regression cost function</a:t>
            </a:r>
            <a:endParaRPr sz="4400" dirty="0">
              <a:latin typeface="+mj-lt"/>
              <a:ea typeface="Century Schoolbook"/>
              <a:cs typeface="Century Schoolbook"/>
              <a:sym typeface="Century Schoolbook"/>
            </a:endParaRPr>
          </a:p>
        </p:txBody>
      </p:sp>
      <p:pic>
        <p:nvPicPr>
          <p:cNvPr id="433" name="Google Shape;433;p47"/>
          <p:cNvPicPr preferRelativeResize="0"/>
          <p:nvPr/>
        </p:nvPicPr>
        <p:blipFill rotWithShape="1">
          <a:blip r:embed="rId3">
            <a:alphaModFix/>
          </a:blip>
          <a:srcRect/>
          <a:stretch/>
        </p:blipFill>
        <p:spPr>
          <a:xfrm>
            <a:off x="349998" y="1193800"/>
            <a:ext cx="9029700" cy="4470400"/>
          </a:xfrm>
          <a:prstGeom prst="rect">
            <a:avLst/>
          </a:prstGeom>
          <a:noFill/>
          <a:ln>
            <a:noFill/>
          </a:ln>
        </p:spPr>
      </p:pic>
      <p:pic>
        <p:nvPicPr>
          <p:cNvPr id="434" name="Google Shape;434;p47"/>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438"/>
        <p:cNvGrpSpPr/>
        <p:nvPr/>
      </p:nvGrpSpPr>
      <p:grpSpPr>
        <a:xfrm>
          <a:off x="0" y="0"/>
          <a:ext cx="0" cy="0"/>
          <a:chOff x="0" y="0"/>
          <a:chExt cx="0" cy="0"/>
        </a:xfrm>
      </p:grpSpPr>
      <p:sp>
        <p:nvSpPr>
          <p:cNvPr id="439" name="Google Shape;439;p48"/>
          <p:cNvSpPr txBox="1">
            <a:spLocks noGrp="1"/>
          </p:cNvSpPr>
          <p:nvPr>
            <p:ph type="title"/>
          </p:nvPr>
        </p:nvSpPr>
        <p:spPr>
          <a:xfrm>
            <a:off x="78739" y="81788"/>
            <a:ext cx="832167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Logistic regression cost function</a:t>
            </a:r>
            <a:endParaRPr sz="4400" dirty="0">
              <a:latin typeface="+mj-lt"/>
              <a:ea typeface="Century Schoolbook"/>
              <a:cs typeface="Century Schoolbook"/>
              <a:sym typeface="Century Schoolbook"/>
            </a:endParaRPr>
          </a:p>
        </p:txBody>
      </p:sp>
      <p:pic>
        <p:nvPicPr>
          <p:cNvPr id="440" name="Google Shape;440;p48"/>
          <p:cNvPicPr preferRelativeResize="0"/>
          <p:nvPr/>
        </p:nvPicPr>
        <p:blipFill rotWithShape="1">
          <a:blip r:embed="rId3">
            <a:alphaModFix/>
          </a:blip>
          <a:srcRect/>
          <a:stretch/>
        </p:blipFill>
        <p:spPr>
          <a:xfrm>
            <a:off x="454150" y="1211964"/>
            <a:ext cx="9303404" cy="4188391"/>
          </a:xfrm>
          <a:prstGeom prst="rect">
            <a:avLst/>
          </a:prstGeom>
          <a:noFill/>
          <a:ln>
            <a:noFill/>
          </a:ln>
        </p:spPr>
      </p:pic>
      <p:pic>
        <p:nvPicPr>
          <p:cNvPr id="441" name="Google Shape;441;p48"/>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446"/>
        <p:cNvGrpSpPr/>
        <p:nvPr/>
      </p:nvGrpSpPr>
      <p:grpSpPr>
        <a:xfrm>
          <a:off x="0" y="0"/>
          <a:ext cx="0" cy="0"/>
          <a:chOff x="0" y="0"/>
          <a:chExt cx="0" cy="0"/>
        </a:xfrm>
      </p:grpSpPr>
      <p:sp>
        <p:nvSpPr>
          <p:cNvPr id="447" name="Google Shape;447;p49"/>
          <p:cNvSpPr txBox="1">
            <a:spLocks noGrp="1"/>
          </p:cNvSpPr>
          <p:nvPr>
            <p:ph type="title"/>
          </p:nvPr>
        </p:nvSpPr>
        <p:spPr>
          <a:xfrm>
            <a:off x="78739" y="81788"/>
            <a:ext cx="519112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Cost on </a:t>
            </a:r>
            <a:r>
              <a:rPr lang="en-US" sz="4400" b="0" i="1" dirty="0">
                <a:latin typeface="+mj-lt"/>
                <a:ea typeface="Century Schoolbook"/>
                <a:cs typeface="Century Schoolbook"/>
                <a:sym typeface="Century Schoolbook"/>
              </a:rPr>
              <a:t>m </a:t>
            </a:r>
            <a:r>
              <a:rPr lang="en-US" sz="4400" b="0" dirty="0">
                <a:latin typeface="+mj-lt"/>
                <a:ea typeface="Century Schoolbook"/>
                <a:cs typeface="Century Schoolbook"/>
                <a:sym typeface="Century Schoolbook"/>
              </a:rPr>
              <a:t>examples</a:t>
            </a:r>
            <a:endParaRPr sz="4400" dirty="0">
              <a:latin typeface="+mj-lt"/>
              <a:ea typeface="Century Schoolbook"/>
              <a:cs typeface="Century Schoolbook"/>
              <a:sym typeface="Century Schoolbook"/>
            </a:endParaRPr>
          </a:p>
        </p:txBody>
      </p:sp>
      <p:pic>
        <p:nvPicPr>
          <p:cNvPr id="448" name="Google Shape;448;p49"/>
          <p:cNvPicPr preferRelativeResize="0"/>
          <p:nvPr/>
        </p:nvPicPr>
        <p:blipFill rotWithShape="1">
          <a:blip r:embed="rId3">
            <a:alphaModFix/>
          </a:blip>
          <a:srcRect/>
          <a:stretch/>
        </p:blipFill>
        <p:spPr>
          <a:xfrm>
            <a:off x="611210" y="872933"/>
            <a:ext cx="5017327" cy="5572257"/>
          </a:xfrm>
          <a:prstGeom prst="rect">
            <a:avLst/>
          </a:prstGeom>
          <a:noFill/>
          <a:ln>
            <a:noFill/>
          </a:ln>
        </p:spPr>
      </p:pic>
      <p:pic>
        <p:nvPicPr>
          <p:cNvPr id="449" name="Google Shape;449;p4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 name="Google Shape;49;g2019cdaf7c5_1_4"/>
          <p:cNvSpPr txBox="1">
            <a:spLocks/>
          </p:cNvSpPr>
          <p:nvPr/>
        </p:nvSpPr>
        <p:spPr>
          <a:xfrm>
            <a:off x="1055570" y="1340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indent="-97155" algn="ctr">
              <a:lnSpc>
                <a:spcPct val="108333"/>
              </a:lnSpc>
              <a:buClr>
                <a:schemeClr val="dk1"/>
              </a:buClr>
            </a:pPr>
            <a:r>
              <a:rPr lang="en-US" sz="4400" dirty="0">
                <a:latin typeface="+mj-lt"/>
                <a:sym typeface="Trebuchet MS"/>
              </a:rPr>
              <a:t>Summarization</a:t>
            </a:r>
            <a:endParaRPr lang="en-US" sz="4400" dirty="0">
              <a:latin typeface="+mj-lt"/>
            </a:endParaRPr>
          </a:p>
        </p:txBody>
      </p:sp>
      <p:sp>
        <p:nvSpPr>
          <p:cNvPr id="8" name="Google Shape;316;p36"/>
          <p:cNvSpPr txBox="1"/>
          <p:nvPr/>
        </p:nvSpPr>
        <p:spPr>
          <a:xfrm>
            <a:off x="342900" y="1245233"/>
            <a:ext cx="11614637" cy="3772813"/>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Logistic regression, a binary classification algorithm, can be viewed as a single-layer neural network, employing input features, weights, a bias term, and a sigmoid activation for predictions. </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For efficiency, use matrix operations and </a:t>
            </a:r>
            <a:r>
              <a:rPr lang="en-US" sz="2400" dirty="0" err="1">
                <a:solidFill>
                  <a:schemeClr val="dk1"/>
                </a:solidFill>
                <a:latin typeface="+mn-lt"/>
                <a:ea typeface="Century Schoolbook"/>
                <a:cs typeface="Century Schoolbook"/>
                <a:sym typeface="Century Schoolbook"/>
              </a:rPr>
              <a:t>vectorized</a:t>
            </a:r>
            <a:r>
              <a:rPr lang="en-US" sz="2400" dirty="0">
                <a:solidFill>
                  <a:schemeClr val="dk1"/>
                </a:solidFill>
                <a:latin typeface="+mn-lt"/>
                <a:ea typeface="Century Schoolbook"/>
                <a:cs typeface="Century Schoolbook"/>
                <a:sym typeface="Century Schoolbook"/>
              </a:rPr>
              <a:t> computations, minimizing loops and leveraging library functions. </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Derivatives are calculated for gradient descent. </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Vectorization processes multiple training examples concurrently, using matrices for parallel operations. </a:t>
            </a:r>
          </a:p>
          <a:p>
            <a:pPr marL="355600" marR="5080" lvl="0" indent="-342900">
              <a:lnSpc>
                <a:spcPct val="101800"/>
              </a:lnSpc>
              <a:buSzPts val="24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Broadcasting, facilitating element-wise operations between arrays of different shapes, is employed in libraries like </a:t>
            </a:r>
            <a:r>
              <a:rPr lang="en-US" sz="2400" dirty="0" err="1">
                <a:solidFill>
                  <a:schemeClr val="dk1"/>
                </a:solidFill>
                <a:latin typeface="+mn-lt"/>
                <a:ea typeface="Century Schoolbook"/>
                <a:cs typeface="Century Schoolbook"/>
                <a:sym typeface="Century Schoolbook"/>
              </a:rPr>
              <a:t>NumPy</a:t>
            </a:r>
            <a:r>
              <a:rPr lang="en-US" sz="2400" dirty="0">
                <a:solidFill>
                  <a:schemeClr val="dk1"/>
                </a:solidFill>
                <a:latin typeface="+mn-lt"/>
                <a:ea typeface="Century Schoolbook"/>
                <a:cs typeface="Century Schoolbook"/>
                <a:sym typeface="Century Schoolbook"/>
              </a:rPr>
              <a:t>.</a:t>
            </a:r>
            <a:endParaRPr lang="en-US" sz="2000" dirty="0">
              <a:solidFill>
                <a:schemeClr val="dk1"/>
              </a:solidFill>
              <a:latin typeface="+mn-lt"/>
              <a:ea typeface="Century Schoolbook"/>
              <a:cs typeface="Century Schoolbook"/>
              <a:sym typeface="Century Schoolboo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Tree>
    <p:extLst>
      <p:ext uri="{BB962C8B-B14F-4D97-AF65-F5344CB8AC3E}">
        <p14:creationId xmlns:p14="http://schemas.microsoft.com/office/powerpoint/2010/main" val="180395973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777</TotalTime>
  <Words>5473</Words>
  <Application>Microsoft Office PowerPoint</Application>
  <PresentationFormat>Widescreen</PresentationFormat>
  <Paragraphs>383</Paragraphs>
  <Slides>63</Slides>
  <Notes>63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Cambria Math</vt:lpstr>
      <vt:lpstr>Courier New</vt:lpstr>
      <vt:lpstr>Century Schoolbook</vt:lpstr>
      <vt:lpstr>Arial</vt:lpstr>
      <vt:lpstr>Calibri</vt:lpstr>
      <vt:lpstr>Office Theme</vt:lpstr>
      <vt:lpstr>Basic Neural Network</vt:lpstr>
      <vt:lpstr>Basic Neural Network</vt:lpstr>
      <vt:lpstr>PowerPoint Presentation</vt:lpstr>
      <vt:lpstr>PowerPoint Presentation</vt:lpstr>
      <vt:lpstr>PowerPoint Presentation</vt:lpstr>
      <vt:lpstr>Notation</vt:lpstr>
      <vt:lpstr>PowerPoint Presentation</vt:lpstr>
      <vt:lpstr>Logistic Regression</vt:lpstr>
      <vt:lpstr>PowerPoint Presentation</vt:lpstr>
      <vt:lpstr>Logistic Regression cost function</vt:lpstr>
      <vt:lpstr>PowerPoint Presentation</vt:lpstr>
      <vt:lpstr>PowerPoint Presentation</vt:lpstr>
      <vt:lpstr>PowerPoint Presentation</vt:lpstr>
      <vt:lpstr>Gradient Descent</vt:lpstr>
      <vt:lpstr>PowerPoint Presentation</vt:lpstr>
      <vt:lpstr>PowerPoint Presentation</vt:lpstr>
      <vt:lpstr>PowerPoint Presentation</vt:lpstr>
      <vt:lpstr>PowerPoint Presentation</vt:lpstr>
      <vt:lpstr>Intuition about derivatives</vt:lpstr>
      <vt:lpstr>PowerPoint Presentation</vt:lpstr>
      <vt:lpstr>PowerPoint Presentation</vt:lpstr>
      <vt:lpstr>Intuition about derivatives</vt:lpstr>
      <vt:lpstr>PowerPoint Presentation</vt:lpstr>
      <vt:lpstr>More derivative examples</vt:lpstr>
      <vt:lpstr>PowerPoint Presentation</vt:lpstr>
      <vt:lpstr>PowerPoint Presentation</vt:lpstr>
      <vt:lpstr>Computation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Logistic regression on m examples</vt:lpstr>
      <vt:lpstr>PowerPoint Presentation</vt:lpstr>
      <vt:lpstr>PowerPoint Presentation</vt:lpstr>
      <vt:lpstr>PowerPoint Presentation</vt:lpstr>
      <vt:lpstr>PowerPoint Presentation</vt:lpstr>
      <vt:lpstr>PowerPoint Presentation</vt:lpstr>
      <vt:lpstr>Vectors and matrix valued functions</vt:lpstr>
      <vt:lpstr>PowerPoint Presentation</vt:lpstr>
      <vt:lpstr>Vectorizing Logistic Regression</vt:lpstr>
      <vt:lpstr>Vectorizing Logistic  Regression</vt:lpstr>
      <vt:lpstr>PowerPoint Presentation</vt:lpstr>
      <vt:lpstr>Vectorizing Logistic regression</vt:lpstr>
      <vt:lpstr>Vectorizing Logistic  Regression</vt:lpstr>
      <vt:lpstr>Vectorizing Logistic Regression</vt:lpstr>
      <vt:lpstr>Vectorizing Logistic Regression</vt:lpstr>
      <vt:lpstr>Vectorizing Logistic Regression</vt:lpstr>
      <vt:lpstr>PowerPoint Presentation</vt:lpstr>
      <vt:lpstr>Broadcasting in  Python</vt:lpstr>
      <vt:lpstr>Broadcasting example</vt:lpstr>
      <vt:lpstr>Broadcasting in  Python</vt:lpstr>
      <vt:lpstr>Broadcasting example</vt:lpstr>
      <vt:lpstr>Broadcasting in  Python</vt:lpstr>
      <vt:lpstr>PowerPoint Presentation</vt:lpstr>
      <vt:lpstr>Logistic regression cost function</vt:lpstr>
      <vt:lpstr>Logistic regression cost function</vt:lpstr>
      <vt:lpstr>Cost on m examples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Neural Network</dc:title>
  <cp:lastModifiedBy>Chi Nguyen Dinh</cp:lastModifiedBy>
  <cp:revision>100</cp:revision>
  <dcterms:modified xsi:type="dcterms:W3CDTF">2023-12-18T02:21:57Z</dcterms:modified>
</cp:coreProperties>
</file>